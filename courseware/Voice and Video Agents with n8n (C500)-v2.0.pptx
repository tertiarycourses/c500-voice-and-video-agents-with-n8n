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8" r:id="rId9"/>
    <p:sldId id="259" r:id="rId10"/>
    <p:sldId id="260" r:id="rId11"/>
    <p:sldId id="261" r:id="rId12"/>
    <p:sldId id="263" r:id="rId14"/>
    <p:sldId id="264" r:id="rId15"/>
    <p:sldId id="265" r:id="rId16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70" r:id="rId121"/>
    <p:sldId id="371" r:id="rId1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slide" Target="slides/slide10.xml"/><Relationship Id="rId22" Type="http://schemas.openxmlformats.org/officeDocument/2006/relationships/slide" Target="slides/slide11.xml"/><Relationship Id="rId23" Type="http://schemas.openxmlformats.org/officeDocument/2006/relationships/slide" Target="slides/slide12.xml"/><Relationship Id="rId24" Type="http://schemas.openxmlformats.org/officeDocument/2006/relationships/slide" Target="slides/slide13.xml"/><Relationship Id="rId25" Type="http://schemas.openxmlformats.org/officeDocument/2006/relationships/slide" Target="slides/slide14.xml"/><Relationship Id="rId26" Type="http://schemas.openxmlformats.org/officeDocument/2006/relationships/slide" Target="slides/slide15.xml"/><Relationship Id="rId27" Type="http://schemas.openxmlformats.org/officeDocument/2006/relationships/slide" Target="slides/slide16.xml"/><Relationship Id="rId28" Type="http://schemas.openxmlformats.org/officeDocument/2006/relationships/slide" Target="slides/slide17.xml"/><Relationship Id="rId29" Type="http://schemas.openxmlformats.org/officeDocument/2006/relationships/slide" Target="slides/slide18.xml"/><Relationship Id="rId30" Type="http://schemas.openxmlformats.org/officeDocument/2006/relationships/slide" Target="slides/slide19.xml"/><Relationship Id="rId31" Type="http://schemas.openxmlformats.org/officeDocument/2006/relationships/slide" Target="slides/slide20.xml"/><Relationship Id="rId32" Type="http://schemas.openxmlformats.org/officeDocument/2006/relationships/slide" Target="slides/slide21.xml"/><Relationship Id="rId33" Type="http://schemas.openxmlformats.org/officeDocument/2006/relationships/slide" Target="slides/slide22.xml"/><Relationship Id="rId34" Type="http://schemas.openxmlformats.org/officeDocument/2006/relationships/slide" Target="slides/slide23.xml"/><Relationship Id="rId35" Type="http://schemas.openxmlformats.org/officeDocument/2006/relationships/slide" Target="slides/slide24.xml"/><Relationship Id="rId36" Type="http://schemas.openxmlformats.org/officeDocument/2006/relationships/slide" Target="slides/slide25.xml"/><Relationship Id="rId37" Type="http://schemas.openxmlformats.org/officeDocument/2006/relationships/slide" Target="slides/slide26.xml"/><Relationship Id="rId38" Type="http://schemas.openxmlformats.org/officeDocument/2006/relationships/slide" Target="slides/slide27.xml"/><Relationship Id="rId39" Type="http://schemas.openxmlformats.org/officeDocument/2006/relationships/slide" Target="slides/slide28.xml"/><Relationship Id="rId40" Type="http://schemas.openxmlformats.org/officeDocument/2006/relationships/slide" Target="slides/slide29.xml"/><Relationship Id="rId41" Type="http://schemas.openxmlformats.org/officeDocument/2006/relationships/slide" Target="slides/slide30.xml"/><Relationship Id="rId42" Type="http://schemas.openxmlformats.org/officeDocument/2006/relationships/slide" Target="slides/slide31.xml"/><Relationship Id="rId43" Type="http://schemas.openxmlformats.org/officeDocument/2006/relationships/slide" Target="slides/slide32.xml"/><Relationship Id="rId44" Type="http://schemas.openxmlformats.org/officeDocument/2006/relationships/slide" Target="slides/slide33.xml"/><Relationship Id="rId45" Type="http://schemas.openxmlformats.org/officeDocument/2006/relationships/slide" Target="slides/slide34.xml"/><Relationship Id="rId46" Type="http://schemas.openxmlformats.org/officeDocument/2006/relationships/slide" Target="slides/slide35.xml"/><Relationship Id="rId47" Type="http://schemas.openxmlformats.org/officeDocument/2006/relationships/slide" Target="slides/slide36.xml"/><Relationship Id="rId48" Type="http://schemas.openxmlformats.org/officeDocument/2006/relationships/slide" Target="slides/slide37.xml"/><Relationship Id="rId49" Type="http://schemas.openxmlformats.org/officeDocument/2006/relationships/slide" Target="slides/slide38.xml"/><Relationship Id="rId50" Type="http://schemas.openxmlformats.org/officeDocument/2006/relationships/slide" Target="slides/slide39.xml"/><Relationship Id="rId51" Type="http://schemas.openxmlformats.org/officeDocument/2006/relationships/slide" Target="slides/slide40.xml"/><Relationship Id="rId52" Type="http://schemas.openxmlformats.org/officeDocument/2006/relationships/slide" Target="slides/slide41.xml"/><Relationship Id="rId53" Type="http://schemas.openxmlformats.org/officeDocument/2006/relationships/slide" Target="slides/slide42.xml"/><Relationship Id="rId54" Type="http://schemas.openxmlformats.org/officeDocument/2006/relationships/slide" Target="slides/slide43.xml"/><Relationship Id="rId55" Type="http://schemas.openxmlformats.org/officeDocument/2006/relationships/slide" Target="slides/slide44.xml"/><Relationship Id="rId56" Type="http://schemas.openxmlformats.org/officeDocument/2006/relationships/slide" Target="slides/slide45.xml"/><Relationship Id="rId57" Type="http://schemas.openxmlformats.org/officeDocument/2006/relationships/slide" Target="slides/slide46.xml"/><Relationship Id="rId58" Type="http://schemas.openxmlformats.org/officeDocument/2006/relationships/slide" Target="slides/slide47.xml"/><Relationship Id="rId59" Type="http://schemas.openxmlformats.org/officeDocument/2006/relationships/slide" Target="slides/slide48.xml"/><Relationship Id="rId60" Type="http://schemas.openxmlformats.org/officeDocument/2006/relationships/slide" Target="slides/slide49.xml"/><Relationship Id="rId61" Type="http://schemas.openxmlformats.org/officeDocument/2006/relationships/slide" Target="slides/slide50.xml"/><Relationship Id="rId62" Type="http://schemas.openxmlformats.org/officeDocument/2006/relationships/slide" Target="slides/slide51.xml"/><Relationship Id="rId63" Type="http://schemas.openxmlformats.org/officeDocument/2006/relationships/slide" Target="slides/slide52.xml"/><Relationship Id="rId64" Type="http://schemas.openxmlformats.org/officeDocument/2006/relationships/slide" Target="slides/slide53.xml"/><Relationship Id="rId65" Type="http://schemas.openxmlformats.org/officeDocument/2006/relationships/slide" Target="slides/slide54.xml"/><Relationship Id="rId66" Type="http://schemas.openxmlformats.org/officeDocument/2006/relationships/slide" Target="slides/slide55.xml"/><Relationship Id="rId67" Type="http://schemas.openxmlformats.org/officeDocument/2006/relationships/slide" Target="slides/slide56.xml"/><Relationship Id="rId68" Type="http://schemas.openxmlformats.org/officeDocument/2006/relationships/slide" Target="slides/slide57.xml"/><Relationship Id="rId69" Type="http://schemas.openxmlformats.org/officeDocument/2006/relationships/slide" Target="slides/slide58.xml"/><Relationship Id="rId70" Type="http://schemas.openxmlformats.org/officeDocument/2006/relationships/slide" Target="slides/slide59.xml"/><Relationship Id="rId71" Type="http://schemas.openxmlformats.org/officeDocument/2006/relationships/slide" Target="slides/slide60.xml"/><Relationship Id="rId72" Type="http://schemas.openxmlformats.org/officeDocument/2006/relationships/slide" Target="slides/slide61.xml"/><Relationship Id="rId73" Type="http://schemas.openxmlformats.org/officeDocument/2006/relationships/slide" Target="slides/slide62.xml"/><Relationship Id="rId74" Type="http://schemas.openxmlformats.org/officeDocument/2006/relationships/slide" Target="slides/slide63.xml"/><Relationship Id="rId75" Type="http://schemas.openxmlformats.org/officeDocument/2006/relationships/slide" Target="slides/slide64.xml"/><Relationship Id="rId76" Type="http://schemas.openxmlformats.org/officeDocument/2006/relationships/slide" Target="slides/slide65.xml"/><Relationship Id="rId77" Type="http://schemas.openxmlformats.org/officeDocument/2006/relationships/slide" Target="slides/slide66.xml"/><Relationship Id="rId78" Type="http://schemas.openxmlformats.org/officeDocument/2006/relationships/slide" Target="slides/slide67.xml"/><Relationship Id="rId79" Type="http://schemas.openxmlformats.org/officeDocument/2006/relationships/slide" Target="slides/slide68.xml"/><Relationship Id="rId80" Type="http://schemas.openxmlformats.org/officeDocument/2006/relationships/slide" Target="slides/slide69.xml"/><Relationship Id="rId81" Type="http://schemas.openxmlformats.org/officeDocument/2006/relationships/slide" Target="slides/slide70.xml"/><Relationship Id="rId82" Type="http://schemas.openxmlformats.org/officeDocument/2006/relationships/slide" Target="slides/slide71.xml"/><Relationship Id="rId83" Type="http://schemas.openxmlformats.org/officeDocument/2006/relationships/slide" Target="slides/slide72.xml"/><Relationship Id="rId84" Type="http://schemas.openxmlformats.org/officeDocument/2006/relationships/slide" Target="slides/slide73.xml"/><Relationship Id="rId85" Type="http://schemas.openxmlformats.org/officeDocument/2006/relationships/slide" Target="slides/slide74.xml"/><Relationship Id="rId86" Type="http://schemas.openxmlformats.org/officeDocument/2006/relationships/slide" Target="slides/slide75.xml"/><Relationship Id="rId87" Type="http://schemas.openxmlformats.org/officeDocument/2006/relationships/slide" Target="slides/slide76.xml"/><Relationship Id="rId88" Type="http://schemas.openxmlformats.org/officeDocument/2006/relationships/slide" Target="slides/slide77.xml"/><Relationship Id="rId89" Type="http://schemas.openxmlformats.org/officeDocument/2006/relationships/slide" Target="slides/slide78.xml"/><Relationship Id="rId90" Type="http://schemas.openxmlformats.org/officeDocument/2006/relationships/slide" Target="slides/slide79.xml"/><Relationship Id="rId91" Type="http://schemas.openxmlformats.org/officeDocument/2006/relationships/slide" Target="slides/slide80.xml"/><Relationship Id="rId92" Type="http://schemas.openxmlformats.org/officeDocument/2006/relationships/slide" Target="slides/slide81.xml"/><Relationship Id="rId93" Type="http://schemas.openxmlformats.org/officeDocument/2006/relationships/slide" Target="slides/slide82.xml"/><Relationship Id="rId94" Type="http://schemas.openxmlformats.org/officeDocument/2006/relationships/slide" Target="slides/slide83.xml"/><Relationship Id="rId95" Type="http://schemas.openxmlformats.org/officeDocument/2006/relationships/slide" Target="slides/slide84.xml"/><Relationship Id="rId96" Type="http://schemas.openxmlformats.org/officeDocument/2006/relationships/slide" Target="slides/slide85.xml"/><Relationship Id="rId97" Type="http://schemas.openxmlformats.org/officeDocument/2006/relationships/slide" Target="slides/slide86.xml"/><Relationship Id="rId98" Type="http://schemas.openxmlformats.org/officeDocument/2006/relationships/slide" Target="slides/slide87.xml"/><Relationship Id="rId99" Type="http://schemas.openxmlformats.org/officeDocument/2006/relationships/slide" Target="slides/slide88.xml"/><Relationship Id="rId100" Type="http://schemas.openxmlformats.org/officeDocument/2006/relationships/slide" Target="slides/slide89.xml"/><Relationship Id="rId101" Type="http://schemas.openxmlformats.org/officeDocument/2006/relationships/slide" Target="slides/slide90.xml"/><Relationship Id="rId102" Type="http://schemas.openxmlformats.org/officeDocument/2006/relationships/slide" Target="slides/slide91.xml"/><Relationship Id="rId103" Type="http://schemas.openxmlformats.org/officeDocument/2006/relationships/slide" Target="slides/slide92.xml"/><Relationship Id="rId104" Type="http://schemas.openxmlformats.org/officeDocument/2006/relationships/slide" Target="slides/slide93.xml"/><Relationship Id="rId105" Type="http://schemas.openxmlformats.org/officeDocument/2006/relationships/slide" Target="slides/slide94.xml"/><Relationship Id="rId106" Type="http://schemas.openxmlformats.org/officeDocument/2006/relationships/slide" Target="slides/slide95.xml"/><Relationship Id="rId107" Type="http://schemas.openxmlformats.org/officeDocument/2006/relationships/slide" Target="slides/slide96.xml"/><Relationship Id="rId108" Type="http://schemas.openxmlformats.org/officeDocument/2006/relationships/slide" Target="slides/slide97.xml"/><Relationship Id="rId109" Type="http://schemas.openxmlformats.org/officeDocument/2006/relationships/slide" Target="slides/slide98.xml"/><Relationship Id="rId110" Type="http://schemas.openxmlformats.org/officeDocument/2006/relationships/slide" Target="slides/slide99.xml"/><Relationship Id="rId111" Type="http://schemas.openxmlformats.org/officeDocument/2006/relationships/slide" Target="slides/slide100.xml"/><Relationship Id="rId112" Type="http://schemas.openxmlformats.org/officeDocument/2006/relationships/slide" Target="slides/slide101.xml"/><Relationship Id="rId113" Type="http://schemas.openxmlformats.org/officeDocument/2006/relationships/slide" Target="slides/slide102.xml"/><Relationship Id="rId114" Type="http://schemas.openxmlformats.org/officeDocument/2006/relationships/slide" Target="slides/slide103.xml"/><Relationship Id="rId115" Type="http://schemas.openxmlformats.org/officeDocument/2006/relationships/slide" Target="slides/slide104.xml"/><Relationship Id="rId116" Type="http://schemas.openxmlformats.org/officeDocument/2006/relationships/slide" Target="slides/slide105.xml"/><Relationship Id="rId117" Type="http://schemas.openxmlformats.org/officeDocument/2006/relationships/slide" Target="slides/slide106.xml"/><Relationship Id="rId121" Type="http://schemas.openxmlformats.org/officeDocument/2006/relationships/slide" Target="slides/slide107.xml"/><Relationship Id="rId122" Type="http://schemas.openxmlformats.org/officeDocument/2006/relationships/slide" Target="slides/slide10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rtiary-infotech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384048"/>
            <a:ext cx="475488" cy="475488"/>
          </a:xfrm>
          <a:prstGeom prst="rect">
            <a:avLst/>
          </a:prstGeom>
        </p:spPr>
      </p:pic>
      <p:pic>
        <p:nvPicPr>
          <p:cNvPr id="3" name="Picture 2" descr="n8n-course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1328" y="402336"/>
            <a:ext cx="43891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58368" y="932688"/>
            <a:ext cx="41148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1">
                <a:solidFill>
                  <a:srgbClr val="1F6FEB"/>
                </a:solidFill>
                <a:latin typeface="Arial"/>
              </a:defRPr>
            </a:pPr>
            <a:r>
              <a:t>TERTIARY INFOTECH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81328"/>
            <a:ext cx="6720840" cy="17373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3800" b="1">
                <a:solidFill>
                  <a:srgbClr val="161B26"/>
                </a:solidFill>
                <a:latin typeface="Arial"/>
              </a:defRPr>
            </a:pPr>
            <a:r>
              <a:t>Voice and Video</a:t>
            </a:r>
            <a:br/>
            <a:r>
              <a:t>Agents with n8n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3401568"/>
            <a:ext cx="617220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000" b="0">
                <a:solidFill>
                  <a:srgbClr val="5B6372"/>
                </a:solidFill>
                <a:latin typeface="Arial"/>
              </a:defRPr>
            </a:pPr>
            <a:r>
              <a:t>Agentic AI loop engineering for adult workplace training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5074920"/>
            <a:ext cx="676656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1">
                <a:solidFill>
                  <a:srgbClr val="5B6372"/>
                </a:solidFill>
                <a:latin typeface="Arial"/>
              </a:defRPr>
            </a:pPr>
            <a:r>
              <a:t>C500  |  v2.0  ·  4 October 2026  |  UEN: 201200696W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16952" y="566928"/>
            <a:ext cx="3950208" cy="5440680"/>
          </a:xfrm>
          <a:prstGeom prst="round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8796528" y="1664207"/>
            <a:ext cx="1554479" cy="841249"/>
          </a:xfrm>
          <a:prstGeom prst="line">
            <a:avLst/>
          </a:prstGeom>
          <a:ln w="38100">
            <a:solidFill>
              <a:srgbClr val="DCE5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8229600" y="1097280"/>
            <a:ext cx="1115568" cy="111556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097280"/>
            <a:ext cx="1115568" cy="11155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VOICE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8686800" y="2505456"/>
            <a:ext cx="1664207" cy="1033272"/>
          </a:xfrm>
          <a:prstGeom prst="line">
            <a:avLst/>
          </a:prstGeom>
          <a:ln w="38100">
            <a:solidFill>
              <a:srgbClr val="DCE5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9784080" y="1938528"/>
            <a:ext cx="1115568" cy="111556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84080" y="1938528"/>
            <a:ext cx="1115568" cy="11155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n8n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686800" y="3538728"/>
            <a:ext cx="1737359" cy="960120"/>
          </a:xfrm>
          <a:prstGeom prst="line">
            <a:avLst/>
          </a:prstGeom>
          <a:ln w="38100">
            <a:solidFill>
              <a:srgbClr val="DCE5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8119872" y="2971800"/>
            <a:ext cx="1115568" cy="111556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19872" y="2971800"/>
            <a:ext cx="1115568" cy="11155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AI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8814815" y="4498848"/>
            <a:ext cx="1609344" cy="969264"/>
          </a:xfrm>
          <a:prstGeom prst="line">
            <a:avLst/>
          </a:prstGeom>
          <a:ln w="38100">
            <a:solidFill>
              <a:srgbClr val="DCE5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9857232" y="3931920"/>
            <a:ext cx="1115568" cy="111556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57232" y="3931920"/>
            <a:ext cx="1115568" cy="11155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VIDEO</a:t>
            </a:r>
          </a:p>
        </p:txBody>
      </p:sp>
      <p:sp>
        <p:nvSpPr>
          <p:cNvPr id="21" name="Oval 20"/>
          <p:cNvSpPr/>
          <p:nvPr/>
        </p:nvSpPr>
        <p:spPr>
          <a:xfrm>
            <a:off x="8247888" y="4901184"/>
            <a:ext cx="1115568" cy="1115568"/>
          </a:xfrm>
          <a:prstGeom prst="ellipse">
            <a:avLst/>
          </a:prstGeom>
          <a:solidFill>
            <a:srgbClr val="E2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47888" y="4901184"/>
            <a:ext cx="1115568" cy="11155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REVIEW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6428232"/>
            <a:ext cx="11183112" cy="13716"/>
          </a:xfrm>
          <a:prstGeom prst="rect">
            <a:avLst/>
          </a:prstGeom>
          <a:solidFill>
            <a:srgbClr val="DCE5F0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6483096"/>
            <a:ext cx="5212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00" b="0">
                <a:solidFill>
                  <a:srgbClr val="5B6372"/>
                </a:solidFill>
                <a:latin typeface="Arial"/>
              </a:defRPr>
            </a:pPr>
            <a:r>
              <a:t>C500 - Voice and Video Agents with n8n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51960" y="6483096"/>
            <a:ext cx="3749039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800" b="0">
                <a:solidFill>
                  <a:srgbClr val="5B6372"/>
                </a:solidFill>
                <a:latin typeface="Arial"/>
              </a:defRPr>
            </a:pPr>
            <a:r>
              <a:t>Copyright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09960" y="6483096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800" b="1">
                <a:solidFill>
                  <a:srgbClr val="5B6372"/>
                </a:solidFill>
                <a:latin typeface="Arial"/>
              </a:defRPr>
            </a:pPr>
            <a:r>
              <a:t>001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01752"/>
            <a:ext cx="10972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1">
                <a:solidFill>
                  <a:srgbClr val="1F6FEB"/>
                </a:solidFill>
                <a:latin typeface="Arial"/>
              </a:defRPr>
            </a:pPr>
            <a:r>
              <a:t>YOUR TRAINER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800" b="1">
                <a:solidFill>
                  <a:srgbClr val="161B26"/>
                </a:solidFill>
                <a:latin typeface="Arial"/>
              </a:defRPr>
            </a:pPr>
            <a:r>
              <a:t>About the Trainer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46120" y="1371600"/>
            <a:ext cx="5760720" cy="4617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532120" y="1783080"/>
            <a:ext cx="1554480" cy="1554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532120" y="1783080"/>
            <a:ext cx="1554480" cy="1554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Arial"/>
              </a:defRPr>
            </a:pPr>
            <a:r>
              <a:t>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29000" y="3566160"/>
            <a:ext cx="539496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2400" b="1">
                <a:solidFill>
                  <a:srgbClr val="161B26"/>
                </a:solidFill>
                <a:latin typeface="Arial"/>
              </a:defRPr>
            </a:pPr>
            <a:r>
              <a:t>&lt;&lt; Trainer Name &gt;&gt;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9000" y="4041648"/>
            <a:ext cx="53949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500" b="0">
                <a:solidFill>
                  <a:srgbClr val="5B6372"/>
                </a:solidFill>
                <a:latin typeface="Arial"/>
              </a:defRPr>
            </a:pPr>
            <a:r>
              <a:t>&lt;&lt; Qualification &gt;&gt;  ·  &lt;&lt; Years of experience &gt;&gt;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1880" y="4526280"/>
            <a:ext cx="5029200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500" b="0">
                <a:solidFill>
                  <a:srgbClr val="5B6372"/>
                </a:solidFill>
                <a:latin typeface="Arial"/>
              </a:defRPr>
            </a:pPr>
            <a:r>
              <a:t>&lt;&lt; Industry practice &gt;&gt;</a:t>
            </a:r>
            <a:br/>
            <a:r>
              <a:t>&lt;&lt; Teaching experience &gt;&gt;</a:t>
            </a:r>
            <a:br/>
            <a:r>
              <a:t>&lt;&lt; Specialisation &gt;&gt;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5623560"/>
            <a:ext cx="53949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200" b="1">
                <a:solidFill>
                  <a:srgbClr val="1F6FEB"/>
                </a:solidFill>
                <a:latin typeface="Arial"/>
              </a:defRPr>
            </a:pPr>
            <a:r>
              <a:t>General trainer template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6428232"/>
            <a:ext cx="11183112" cy="13716"/>
          </a:xfrm>
          <a:prstGeom prst="rect">
            <a:avLst/>
          </a:prstGeom>
          <a:solidFill>
            <a:srgbClr val="DCE5F0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483096"/>
            <a:ext cx="5212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00" b="0">
                <a:solidFill>
                  <a:srgbClr val="5B6372"/>
                </a:solidFill>
                <a:latin typeface="Arial"/>
              </a:defRPr>
            </a:pPr>
            <a:r>
              <a:t>C500 - Voice and Video Agents with n8n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60" y="6483096"/>
            <a:ext cx="3749039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800" b="0">
                <a:solidFill>
                  <a:srgbClr val="5B6372"/>
                </a:solidFill>
                <a:latin typeface="Arial"/>
              </a:defRPr>
            </a:pPr>
            <a:r>
              <a:t>Copyright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09960" y="6483096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800" b="1">
                <a:solidFill>
                  <a:srgbClr val="5B6372"/>
                </a:solidFill>
                <a:latin typeface="Arial"/>
              </a:defRPr>
            </a:pPr>
            <a:r>
              <a:t>002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01752"/>
            <a:ext cx="10972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1">
                <a:solidFill>
                  <a:srgbClr val="1F6FEB"/>
                </a:solidFill>
                <a:latin typeface="Arial"/>
              </a:defRPr>
            </a:pPr>
            <a:r>
              <a:t>YOUR TRAINER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800" b="1">
                <a:solidFill>
                  <a:srgbClr val="161B26"/>
                </a:solidFill>
                <a:latin typeface="Arial"/>
              </a:defRPr>
            </a:pPr>
            <a:r>
              <a:t>About the Trainer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46120" y="1371600"/>
            <a:ext cx="5760720" cy="4617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532120" y="1783080"/>
            <a:ext cx="1554480" cy="1554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532120" y="1783080"/>
            <a:ext cx="1554480" cy="1554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Arial"/>
              </a:defRPr>
            </a:pPr>
            <a:r>
              <a:t>AA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29000" y="3566160"/>
            <a:ext cx="539496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2400" b="1">
                <a:solidFill>
                  <a:srgbClr val="161B26"/>
                </a:solidFill>
                <a:latin typeface="Arial"/>
              </a:defRPr>
            </a:pPr>
            <a:r>
              <a:t>Dr Alfred Ang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9000" y="4041648"/>
            <a:ext cx="53949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500" b="0">
                <a:solidFill>
                  <a:srgbClr val="5B6372"/>
                </a:solidFill>
                <a:latin typeface="Arial"/>
              </a:defRPr>
            </a:pPr>
            <a:r>
              <a:t>PhD  ·  ACTA / ACLP certified adult educator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1880" y="4526280"/>
            <a:ext cx="5029200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500" b="0">
                <a:solidFill>
                  <a:srgbClr val="5B6372"/>
                </a:solidFill>
                <a:latin typeface="Arial"/>
              </a:defRPr>
            </a:pPr>
            <a:r>
              <a:t>Founder, Tertiary Infotech Academy</a:t>
            </a:r>
            <a:br/>
            <a:r>
              <a:t>AI automation, voice and video agents</a:t>
            </a:r>
            <a:br/>
            <a:r>
              <a:t>n8n, RAG, LLM systems in production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5623560"/>
            <a:ext cx="53949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200" b="1">
                <a:solidFill>
                  <a:srgbClr val="7C3AED"/>
                </a:solidFill>
                <a:latin typeface="Arial"/>
              </a:defRPr>
            </a:pPr>
            <a:r>
              <a:t>Your trainer today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6428232"/>
            <a:ext cx="11183112" cy="13716"/>
          </a:xfrm>
          <a:prstGeom prst="rect">
            <a:avLst/>
          </a:prstGeom>
          <a:solidFill>
            <a:srgbClr val="DCE5F0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483096"/>
            <a:ext cx="5212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00" b="0">
                <a:solidFill>
                  <a:srgbClr val="5B6372"/>
                </a:solidFill>
                <a:latin typeface="Arial"/>
              </a:defRPr>
            </a:pPr>
            <a:r>
              <a:t>C500 - Voice and Video Agents with n8n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60" y="6483096"/>
            <a:ext cx="3749039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800" b="0">
                <a:solidFill>
                  <a:srgbClr val="5B6372"/>
                </a:solidFill>
                <a:latin typeface="Arial"/>
              </a:defRPr>
            </a:pPr>
            <a:r>
              <a:t>Copyright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09960" y="6483096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800" b="1">
                <a:solidFill>
                  <a:srgbClr val="5B6372"/>
                </a:solidFill>
                <a:latin typeface="Arial"/>
              </a:defRPr>
            </a:pPr>
            <a:r>
              <a:t>003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01752"/>
            <a:ext cx="10972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1">
                <a:solidFill>
                  <a:srgbClr val="1F6FEB"/>
                </a:solidFill>
                <a:latin typeface="Arial"/>
              </a:defRPr>
            </a:pPr>
            <a:r>
              <a:t>NOW YOU - INTRODUCE YOURSELF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800" b="1">
                <a:solidFill>
                  <a:srgbClr val="161B26"/>
                </a:solidFill>
                <a:latin typeface="Arial"/>
              </a:defRPr>
            </a:pPr>
            <a:r>
              <a:t>Let's Get to Know Each Other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98448"/>
            <a:ext cx="108813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700" b="0">
                <a:solidFill>
                  <a:srgbClr val="5B6372"/>
                </a:solidFill>
                <a:latin typeface="Arial"/>
              </a:defRPr>
            </a:pPr>
            <a:r>
              <a:t>One minute each. The trainer just introduced himself - your turn.</a:t>
            </a:r>
          </a:p>
        </p:txBody>
      </p:sp>
      <p:sp>
        <p:nvSpPr>
          <p:cNvPr id="5" name="Oval 4"/>
          <p:cNvSpPr/>
          <p:nvPr/>
        </p:nvSpPr>
        <p:spPr>
          <a:xfrm>
            <a:off x="822960" y="182880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54864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847088"/>
            <a:ext cx="329184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700" b="1">
                <a:solidFill>
                  <a:srgbClr val="161B26"/>
                </a:solidFill>
                <a:latin typeface="Arial"/>
              </a:defRPr>
            </a:pPr>
            <a:r>
              <a:t>Your name and role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74920" y="1865376"/>
            <a:ext cx="640080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400" b="0">
                <a:solidFill>
                  <a:srgbClr val="5B6372"/>
                </a:solidFill>
                <a:latin typeface="Arial"/>
              </a:defRPr>
            </a:pPr>
            <a:r>
              <a:t>And the organisation or team you work with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276148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761488"/>
            <a:ext cx="54864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2779776"/>
            <a:ext cx="329184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700" b="1">
                <a:solidFill>
                  <a:srgbClr val="161B26"/>
                </a:solidFill>
                <a:latin typeface="Arial"/>
              </a:defRPr>
            </a:pPr>
            <a:r>
              <a:t>Your automation experience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74920" y="2798064"/>
            <a:ext cx="640080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400" b="0">
                <a:solidFill>
                  <a:srgbClr val="5B6372"/>
                </a:solidFill>
                <a:latin typeface="Arial"/>
              </a:defRPr>
            </a:pPr>
            <a:r>
              <a:t>n8n, chatbots, voice or video AI - or none at all, which is fine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694176"/>
            <a:ext cx="54864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3712463"/>
            <a:ext cx="329184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700" b="1">
                <a:solidFill>
                  <a:srgbClr val="161B26"/>
                </a:solidFill>
                <a:latin typeface="Arial"/>
              </a:defRPr>
            </a:pPr>
            <a:r>
              <a:t>Why you are here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74920" y="3730752"/>
            <a:ext cx="640080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400" b="0">
                <a:solidFill>
                  <a:srgbClr val="5B6372"/>
                </a:solidFill>
                <a:latin typeface="Arial"/>
              </a:defRPr>
            </a:pPr>
            <a:r>
              <a:t>The one thing you want to automate after these two days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" y="4626864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626864"/>
            <a:ext cx="54864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4645152"/>
            <a:ext cx="329184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700" b="1">
                <a:solidFill>
                  <a:srgbClr val="161B26"/>
                </a:solidFill>
                <a:latin typeface="Arial"/>
              </a:defRPr>
            </a:pPr>
            <a:r>
              <a:t>One fun fact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74920" y="4663440"/>
            <a:ext cx="640080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400" b="0">
                <a:solidFill>
                  <a:srgbClr val="5B6372"/>
                </a:solidFill>
                <a:latin typeface="Arial"/>
              </a:defRPr>
            </a:pPr>
            <a:r>
              <a:t>Optional - break the ice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5715000"/>
            <a:ext cx="10881360" cy="685800"/>
          </a:xfrm>
          <a:prstGeom prst="round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5824728"/>
            <a:ext cx="10332720" cy="4572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500" b="1">
                <a:solidFill>
                  <a:srgbClr val="7C3AED"/>
                </a:solidFill>
                <a:latin typeface="Arial"/>
              </a:defRPr>
            </a:pPr>
            <a:r>
              <a:t>You will be demoing your builds to each other for two days - start talking now.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6428232"/>
            <a:ext cx="11183112" cy="13716"/>
          </a:xfrm>
          <a:prstGeom prst="rect">
            <a:avLst/>
          </a:prstGeom>
          <a:solidFill>
            <a:srgbClr val="DCE5F0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6483096"/>
            <a:ext cx="5212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00" b="0">
                <a:solidFill>
                  <a:srgbClr val="5B6372"/>
                </a:solidFill>
                <a:latin typeface="Arial"/>
              </a:defRPr>
            </a:pPr>
            <a:r>
              <a:t>C500 - Voice and Video Agents with n8n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51960" y="6483096"/>
            <a:ext cx="3749039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800" b="0">
                <a:solidFill>
                  <a:srgbClr val="5B6372"/>
                </a:solidFill>
                <a:latin typeface="Arial"/>
              </a:defRPr>
            </a:pPr>
            <a:r>
              <a:t>Copyright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09960" y="6483096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800" b="1">
                <a:solidFill>
                  <a:srgbClr val="5B6372"/>
                </a:solidFill>
                <a:latin typeface="Arial"/>
              </a:defRPr>
            </a:pPr>
            <a:r>
              <a:t>004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01752"/>
            <a:ext cx="10972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1">
                <a:solidFill>
                  <a:srgbClr val="1F6FEB"/>
                </a:solidFill>
                <a:latin typeface="Arial"/>
              </a:defRPr>
            </a:pPr>
            <a:r>
              <a:t>HOUSEKEEPING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800" b="1">
                <a:solidFill>
                  <a:srgbClr val="161B26"/>
                </a:solidFill>
                <a:latin typeface="Arial"/>
              </a:defRPr>
            </a:pPr>
            <a:r>
              <a:t>Ground Rules</a:t>
            </a:r>
          </a:p>
        </p:txBody>
      </p:sp>
      <p:sp>
        <p:nvSpPr>
          <p:cNvPr id="4" name="Oval 3"/>
          <p:cNvSpPr/>
          <p:nvPr/>
        </p:nvSpPr>
        <p:spPr>
          <a:xfrm>
            <a:off x="777240" y="1463040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63040"/>
            <a:ext cx="53035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444752"/>
            <a:ext cx="29260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800" b="1">
                <a:solidFill>
                  <a:srgbClr val="161B26"/>
                </a:solidFill>
                <a:latin typeface="Arial"/>
              </a:defRPr>
            </a:pPr>
            <a:r>
              <a:t>Be on 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1444752"/>
            <a:ext cx="676656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500" b="0">
                <a:solidFill>
                  <a:srgbClr val="5B6372"/>
                </a:solidFill>
                <a:latin typeface="Arial"/>
              </a:defRPr>
            </a:pPr>
            <a:r>
              <a:t>Sessions start at 9:30am sharp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423160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423160"/>
            <a:ext cx="53035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2404872"/>
            <a:ext cx="29260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800" b="1">
                <a:solidFill>
                  <a:srgbClr val="161B26"/>
                </a:solidFill>
                <a:latin typeface="Arial"/>
              </a:defRPr>
            </a:pPr>
            <a:r>
              <a:t>Phones on silent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404872"/>
            <a:ext cx="676656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500" b="0">
                <a:solidFill>
                  <a:srgbClr val="5B6372"/>
                </a:solidFill>
                <a:latin typeface="Arial"/>
              </a:defRPr>
            </a:pPr>
            <a:r>
              <a:t>Take calls outside the room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3383280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383280"/>
            <a:ext cx="53035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3364992"/>
            <a:ext cx="29260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800" b="1">
                <a:solidFill>
                  <a:srgbClr val="161B26"/>
                </a:solidFill>
                <a:latin typeface="Arial"/>
              </a:defRPr>
            </a:pPr>
            <a:r>
              <a:t>Ask as you go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3364992"/>
            <a:ext cx="676656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500" b="0">
                <a:solidFill>
                  <a:srgbClr val="5B6372"/>
                </a:solidFill>
                <a:latin typeface="Arial"/>
              </a:defRPr>
            </a:pPr>
            <a:r>
              <a:t>A question now saves an hour later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" y="4343400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343400"/>
            <a:ext cx="53035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4325112"/>
            <a:ext cx="29260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800" b="1">
                <a:solidFill>
                  <a:srgbClr val="161B26"/>
                </a:solidFill>
                <a:latin typeface="Arial"/>
              </a:defRPr>
            </a:pPr>
            <a:r>
              <a:t>Work the labs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4325112"/>
            <a:ext cx="676656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500" b="0">
                <a:solidFill>
                  <a:srgbClr val="5B6372"/>
                </a:solidFill>
                <a:latin typeface="Arial"/>
              </a:defRPr>
            </a:pPr>
            <a:r>
              <a:t>70% of this course is hands-on</a:t>
            </a:r>
          </a:p>
        </p:txBody>
      </p:sp>
      <p:sp>
        <p:nvSpPr>
          <p:cNvPr id="20" name="Oval 19"/>
          <p:cNvSpPr/>
          <p:nvPr/>
        </p:nvSpPr>
        <p:spPr>
          <a:xfrm>
            <a:off x="777240" y="5303520"/>
            <a:ext cx="530352" cy="530352"/>
          </a:xfrm>
          <a:prstGeom prst="ellipse">
            <a:avLst/>
          </a:prstGeom>
          <a:solidFill>
            <a:srgbClr val="E2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303520"/>
            <a:ext cx="53035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5285232"/>
            <a:ext cx="29260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800" b="1">
                <a:solidFill>
                  <a:srgbClr val="161B26"/>
                </a:solidFill>
                <a:latin typeface="Arial"/>
              </a:defRPr>
            </a:pPr>
            <a:r>
              <a:t>Respect the room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5285232"/>
            <a:ext cx="676656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500" b="0">
                <a:solidFill>
                  <a:srgbClr val="5B6372"/>
                </a:solidFill>
                <a:latin typeface="Arial"/>
              </a:defRPr>
            </a:pPr>
            <a:r>
              <a:t>One conversation at a time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6428232"/>
            <a:ext cx="11183112" cy="13716"/>
          </a:xfrm>
          <a:prstGeom prst="rect">
            <a:avLst/>
          </a:prstGeom>
          <a:solidFill>
            <a:srgbClr val="DCE5F0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6483096"/>
            <a:ext cx="5212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00" b="0">
                <a:solidFill>
                  <a:srgbClr val="5B6372"/>
                </a:solidFill>
                <a:latin typeface="Arial"/>
              </a:defRPr>
            </a:pPr>
            <a:r>
              <a:t>C500 - Voice and Video Agents with n8n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60" y="6483096"/>
            <a:ext cx="3749039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800" b="0">
                <a:solidFill>
                  <a:srgbClr val="5B6372"/>
                </a:solidFill>
                <a:latin typeface="Arial"/>
              </a:defRPr>
            </a:pPr>
            <a:r>
              <a:t>Copyright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09960" y="6483096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800" b="1">
                <a:solidFill>
                  <a:srgbClr val="5B6372"/>
                </a:solidFill>
                <a:latin typeface="Arial"/>
              </a:defRPr>
            </a:pPr>
            <a:r>
              <a:t>005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01752"/>
            <a:ext cx="10972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1">
                <a:solidFill>
                  <a:srgbClr val="1F6FEB"/>
                </a:solidFill>
                <a:latin typeface="Arial"/>
              </a:defRPr>
            </a:pPr>
            <a:r>
              <a:t>HOW THE DAYS RUN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800" b="1">
                <a:solidFill>
                  <a:srgbClr val="161B26"/>
                </a:solidFill>
                <a:latin typeface="Arial"/>
              </a:defRPr>
            </a:pPr>
            <a:r>
              <a:t>Lesson Plan - 2 Days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98448"/>
            <a:ext cx="108813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600" b="0">
                <a:solidFill>
                  <a:srgbClr val="5B6372"/>
                </a:solidFill>
                <a:latin typeface="Arial"/>
              </a:defRPr>
            </a:pPr>
            <a:r>
              <a:t>9:30am - 5:30pm  ·  30-minute lunch  ·  7.5 instructional hours a day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828800"/>
            <a:ext cx="10881360" cy="868680"/>
          </a:xfrm>
          <a:prstGeom prst="round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828800"/>
            <a:ext cx="82296" cy="86868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24688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500" b="1">
                <a:solidFill>
                  <a:srgbClr val="1F6FEB"/>
                </a:solidFill>
                <a:latin typeface="Arial"/>
              </a:defRPr>
            </a:pPr>
            <a:r>
              <a:t>Day 1 · Morning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286000"/>
            <a:ext cx="26517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300" b="1">
                <a:solidFill>
                  <a:srgbClr val="161B26"/>
                </a:solidFill>
                <a:latin typeface="Arial"/>
              </a:defRPr>
            </a:pPr>
            <a:r>
              <a:t>Topic 1 - Chatbot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94760" y="1920240"/>
            <a:ext cx="7589520" cy="6858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400" b="0">
                <a:solidFill>
                  <a:srgbClr val="5B6372"/>
                </a:solidFill>
                <a:latin typeface="Arial"/>
              </a:defRPr>
            </a:pPr>
            <a:r>
              <a:t>Labs 0-3: local stack, first agent, RAG chatbot, CX advisor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852928"/>
            <a:ext cx="10881360" cy="868680"/>
          </a:xfrm>
          <a:prstGeom prst="round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2852928"/>
            <a:ext cx="82296" cy="86868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944368"/>
            <a:ext cx="24688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500" b="1">
                <a:solidFill>
                  <a:srgbClr val="10B981"/>
                </a:solidFill>
                <a:latin typeface="Arial"/>
              </a:defRPr>
            </a:pPr>
            <a:r>
              <a:t>Day 1 · Afternoon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310128"/>
            <a:ext cx="26517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300" b="1">
                <a:solidFill>
                  <a:srgbClr val="161B26"/>
                </a:solidFill>
                <a:latin typeface="Arial"/>
              </a:defRPr>
            </a:pPr>
            <a:r>
              <a:t>Topic 2 - Voice Agent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4760" y="2944368"/>
            <a:ext cx="7589520" cy="6858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400" b="0">
                <a:solidFill>
                  <a:srgbClr val="5B6372"/>
                </a:solidFill>
                <a:latin typeface="Arial"/>
              </a:defRPr>
            </a:pPr>
            <a:r>
              <a:t>Labs 4-5: ElevenLabs booking agent, Vapi FAQ agent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3877056"/>
            <a:ext cx="10881360" cy="868680"/>
          </a:xfrm>
          <a:prstGeom prst="round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" y="3877056"/>
            <a:ext cx="82296" cy="86868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3968496"/>
            <a:ext cx="24688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500" b="1">
                <a:solidFill>
                  <a:srgbClr val="7C3AED"/>
                </a:solidFill>
                <a:latin typeface="Arial"/>
              </a:defRPr>
            </a:pPr>
            <a:r>
              <a:t>Day 2 · Morning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334256"/>
            <a:ext cx="26517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300" b="1">
                <a:solidFill>
                  <a:srgbClr val="161B26"/>
                </a:solidFill>
                <a:latin typeface="Arial"/>
              </a:defRPr>
            </a:pPr>
            <a:r>
              <a:t>Topic 3 - Video Agent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94760" y="3968496"/>
            <a:ext cx="7589520" cy="6858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400" b="0">
                <a:solidFill>
                  <a:srgbClr val="5B6372"/>
                </a:solidFill>
                <a:latin typeface="Arial"/>
              </a:defRPr>
            </a:pPr>
            <a:r>
              <a:t>Labs 6-10: lip-sync, news avatars, interactive avatars, Veo 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4901184"/>
            <a:ext cx="10881360" cy="868680"/>
          </a:xfrm>
          <a:prstGeom prst="round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8368" y="4901184"/>
            <a:ext cx="82296" cy="86868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992624"/>
            <a:ext cx="24688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500" b="1">
                <a:solidFill>
                  <a:srgbClr val="F59E0B"/>
                </a:solidFill>
                <a:latin typeface="Arial"/>
              </a:defRPr>
            </a:pPr>
            <a:r>
              <a:t>Day 2 · Afternoon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5358384"/>
            <a:ext cx="26517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300" b="1">
                <a:solidFill>
                  <a:srgbClr val="161B26"/>
                </a:solidFill>
                <a:latin typeface="Arial"/>
              </a:defRPr>
            </a:pPr>
            <a:r>
              <a:t>Topic 3 continues + review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94760" y="4992624"/>
            <a:ext cx="7589520" cy="6858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400" b="0">
                <a:solidFill>
                  <a:srgbClr val="5B6372"/>
                </a:solidFill>
                <a:latin typeface="Arial"/>
              </a:defRPr>
            </a:pPr>
            <a:r>
              <a:t>Evidence check, review and course feedback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6428232"/>
            <a:ext cx="11183112" cy="13716"/>
          </a:xfrm>
          <a:prstGeom prst="rect">
            <a:avLst/>
          </a:prstGeom>
          <a:solidFill>
            <a:srgbClr val="DCE5F0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6483096"/>
            <a:ext cx="5212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00" b="0">
                <a:solidFill>
                  <a:srgbClr val="5B6372"/>
                </a:solidFill>
                <a:latin typeface="Arial"/>
              </a:defRPr>
            </a:pPr>
            <a:r>
              <a:t>C500 - Voice and Video Agents with n8n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60" y="6483096"/>
            <a:ext cx="3749039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800" b="0">
                <a:solidFill>
                  <a:srgbClr val="5B6372"/>
                </a:solidFill>
                <a:latin typeface="Arial"/>
              </a:defRPr>
            </a:pPr>
            <a:r>
              <a:t>Copyright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09960" y="6483096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800" b="1">
                <a:solidFill>
                  <a:srgbClr val="5B6372"/>
                </a:solidFill>
                <a:latin typeface="Arial"/>
              </a:defRPr>
            </a:pPr>
            <a:r>
              <a:t>006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01752"/>
            <a:ext cx="10972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1">
                <a:solidFill>
                  <a:srgbClr val="1F6FEB"/>
                </a:solidFill>
                <a:latin typeface="Arial"/>
              </a:defRPr>
            </a:pPr>
            <a:r>
              <a:t>BEFORE WE START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800" b="1">
                <a:solidFill>
                  <a:srgbClr val="161B26"/>
                </a:solidFill>
                <a:latin typeface="Arial"/>
              </a:defRPr>
            </a:pPr>
            <a:r>
              <a:t>Download Your Course Material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98448"/>
            <a:ext cx="108813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700" b="0">
                <a:solidFill>
                  <a:srgbClr val="5B6372"/>
                </a:solidFill>
                <a:latin typeface="Arial"/>
              </a:defRPr>
            </a:pPr>
            <a:r>
              <a:t>Everything - slides, Learner Guide, lab files - is on the LMS.</a:t>
            </a:r>
          </a:p>
        </p:txBody>
      </p:sp>
      <p:sp>
        <p:nvSpPr>
          <p:cNvPr id="5" name="Oval 4"/>
          <p:cNvSpPr/>
          <p:nvPr/>
        </p:nvSpPr>
        <p:spPr>
          <a:xfrm>
            <a:off x="822960" y="182880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54864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23774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700" b="1">
                <a:solidFill>
                  <a:srgbClr val="161B26"/>
                </a:solidFill>
                <a:latin typeface="Arial"/>
              </a:defRPr>
            </a:pPr>
            <a:r>
              <a:t>Go 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828800"/>
            <a:ext cx="731520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500" b="0">
                <a:solidFill>
                  <a:srgbClr val="5B6372"/>
                </a:solidFill>
                <a:latin typeface="Arial"/>
              </a:defRPr>
            </a:pPr>
            <a:r>
              <a:t>lms-tms.tertiaryinfotech.com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288036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880360"/>
            <a:ext cx="54864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2880360"/>
            <a:ext cx="23774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700" b="1">
                <a:solidFill>
                  <a:srgbClr val="161B26"/>
                </a:solidFill>
                <a:latin typeface="Arial"/>
              </a:defRPr>
            </a:pPr>
            <a:r>
              <a:t>Sign 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2880360"/>
            <a:ext cx="731520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500" b="0">
                <a:solidFill>
                  <a:srgbClr val="5B6372"/>
                </a:solidFill>
                <a:latin typeface="Arial"/>
              </a:defRPr>
            </a:pPr>
            <a:r>
              <a:t>Use the email you registered with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39319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931920"/>
            <a:ext cx="54864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3931920"/>
            <a:ext cx="23774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700" b="1">
                <a:solidFill>
                  <a:srgbClr val="161B26"/>
                </a:solidFill>
                <a:latin typeface="Arial"/>
              </a:defRPr>
            </a:pPr>
            <a:r>
              <a:t>Open the course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3931920"/>
            <a:ext cx="731520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500" b="0">
                <a:solidFill>
                  <a:srgbClr val="5B6372"/>
                </a:solidFill>
                <a:latin typeface="Arial"/>
              </a:defRPr>
            </a:pPr>
            <a:r>
              <a:t>Voice and Video Agents with n8n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" y="4983479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983479"/>
            <a:ext cx="54864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4983479"/>
            <a:ext cx="23774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700" b="1">
                <a:solidFill>
                  <a:srgbClr val="161B26"/>
                </a:solidFill>
                <a:latin typeface="Arial"/>
              </a:defRPr>
            </a:pPr>
            <a:r>
              <a:t>Download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4983479"/>
            <a:ext cx="731520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500" b="0">
                <a:solidFill>
                  <a:srgbClr val="5B6372"/>
                </a:solidFill>
                <a:latin typeface="Arial"/>
              </a:defRPr>
            </a:pPr>
            <a:r>
              <a:t>Learner Slides (PDF), Learner Guide (PDF), lab files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5760720"/>
            <a:ext cx="10881360" cy="658368"/>
          </a:xfrm>
          <a:prstGeom prst="round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5852160"/>
            <a:ext cx="10332720" cy="4572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800" b="1">
                <a:solidFill>
                  <a:srgbClr val="1F6FEB"/>
                </a:solidFill>
                <a:latin typeface="Arial"/>
              </a:defRPr>
            </a:pPr>
            <a:r>
              <a:t>lms-tms.tertiaryinfotech.com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6428232"/>
            <a:ext cx="11183112" cy="13716"/>
          </a:xfrm>
          <a:prstGeom prst="rect">
            <a:avLst/>
          </a:prstGeom>
          <a:solidFill>
            <a:srgbClr val="DCE5F0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6483096"/>
            <a:ext cx="5212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00" b="0">
                <a:solidFill>
                  <a:srgbClr val="5B6372"/>
                </a:solidFill>
                <a:latin typeface="Arial"/>
              </a:defRPr>
            </a:pPr>
            <a:r>
              <a:t>C500 - Voice and Video Agents with n8n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51960" y="6483096"/>
            <a:ext cx="3749039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800" b="0">
                <a:solidFill>
                  <a:srgbClr val="5B6372"/>
                </a:solidFill>
                <a:latin typeface="Arial"/>
              </a:defRPr>
            </a:pPr>
            <a:r>
              <a:t>Copyright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09960" y="6483096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800" b="1">
                <a:solidFill>
                  <a:srgbClr val="5B6372"/>
                </a:solidFill>
                <a:latin typeface="Arial"/>
              </a:defRPr>
            </a:pPr>
            <a:r>
              <a:t>007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01752"/>
            <a:ext cx="10972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1">
                <a:solidFill>
                  <a:srgbClr val="1F6FEB"/>
                </a:solidFill>
                <a:latin typeface="Arial"/>
              </a:defRPr>
            </a:pPr>
            <a:r>
              <a:t>GET THE LAB FILES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800" b="1">
                <a:solidFill>
                  <a:srgbClr val="161B26"/>
                </a:solidFill>
                <a:latin typeface="Arial"/>
              </a:defRPr>
            </a:pPr>
            <a:r>
              <a:t>Download the Labs from GitHub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98448"/>
            <a:ext cx="108813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700" b="0">
                <a:solidFill>
                  <a:srgbClr val="5B6372"/>
                </a:solidFill>
                <a:latin typeface="Arial"/>
              </a:defRPr>
            </a:pPr>
            <a:r>
              <a:t>Every lab - the n8n flows, the websites, the PDFs, the launchers - is one public repository.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783080"/>
            <a:ext cx="10881360" cy="9144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29968"/>
            <a:ext cx="1042416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700" b="1">
                <a:solidFill>
                  <a:srgbClr val="1F6FEB"/>
                </a:solidFill>
                <a:latin typeface="Arial"/>
              </a:defRPr>
            </a:pPr>
            <a:r>
              <a:t>github.com/tertiarycourses/C500-Voice-and-Video-Agents-with-n8n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2971800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971800"/>
            <a:ext cx="512064" cy="51206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990088"/>
            <a:ext cx="320040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600" b="1">
                <a:solidFill>
                  <a:srgbClr val="161B26"/>
                </a:solidFill>
                <a:latin typeface="Arial"/>
              </a:defRPr>
            </a:pPr>
            <a:r>
              <a:t>Open the repository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83480" y="3008376"/>
            <a:ext cx="649224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300" b="0">
                <a:solidFill>
                  <a:srgbClr val="5B6372"/>
                </a:solidFill>
                <a:latin typeface="Arial"/>
              </a:defRPr>
            </a:pPr>
            <a:r>
              <a:t>Scan the link above, or search 'tertiarycourses' on GitHub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3721608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721608"/>
            <a:ext cx="512064" cy="51206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3739896"/>
            <a:ext cx="320040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600" b="1">
                <a:solidFill>
                  <a:srgbClr val="161B26"/>
                </a:solidFill>
                <a:latin typeface="Arial"/>
              </a:defRPr>
            </a:pPr>
            <a:r>
              <a:t>Code -&gt; Download ZIP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83480" y="3758184"/>
            <a:ext cx="649224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300" b="0">
                <a:solidFill>
                  <a:srgbClr val="5B6372"/>
                </a:solidFill>
                <a:latin typeface="Arial"/>
              </a:defRPr>
            </a:pPr>
            <a:r>
              <a:t>Or, if you use git:  git clone github.com/tertiarycourses/C500-Voice-and-Video-Agents-with-n8n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4471416"/>
            <a:ext cx="512064" cy="512064"/>
          </a:xfrm>
          <a:prstGeom prst="ellipse">
            <a:avLst/>
          </a:prstGeom>
          <a:solidFill>
            <a:srgbClr val="E2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471416"/>
            <a:ext cx="512064" cy="51206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4489703"/>
            <a:ext cx="320040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600" b="1">
                <a:solidFill>
                  <a:srgbClr val="161B26"/>
                </a:solidFill>
                <a:latin typeface="Arial"/>
              </a:defRPr>
            </a:pPr>
            <a:r>
              <a:t>Windows: Unblock the ZIP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83480" y="4507992"/>
            <a:ext cx="649224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300" b="0">
                <a:solidFill>
                  <a:srgbClr val="5B6372"/>
                </a:solidFill>
                <a:latin typeface="Arial"/>
              </a:defRPr>
            </a:pPr>
            <a:r>
              <a:t>Right-click the ZIP -&gt; Properties -&gt; tick Unblock -&gt; OK, THEN extract</a:t>
            </a:r>
          </a:p>
        </p:txBody>
      </p:sp>
      <p:sp>
        <p:nvSpPr>
          <p:cNvPr id="19" name="Oval 18"/>
          <p:cNvSpPr/>
          <p:nvPr/>
        </p:nvSpPr>
        <p:spPr>
          <a:xfrm>
            <a:off x="822960" y="5221224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5221224"/>
            <a:ext cx="512064" cy="51206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5239512"/>
            <a:ext cx="320040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600" b="1">
                <a:solidFill>
                  <a:srgbClr val="161B26"/>
                </a:solidFill>
                <a:latin typeface="Arial"/>
              </a:defRPr>
            </a:pPr>
            <a:r>
              <a:t>Open labs_local_n8n/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83480" y="5257800"/>
            <a:ext cx="649224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300" b="0">
                <a:solidFill>
                  <a:srgbClr val="5B6372"/>
                </a:solidFill>
                <a:latin typeface="Arial"/>
              </a:defRPr>
            </a:pPr>
            <a:r>
              <a:t>The local build used in class - each lab folder has the flow JSON + website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5870448"/>
            <a:ext cx="10881360" cy="475488"/>
          </a:xfrm>
          <a:prstGeom prst="round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5925312"/>
            <a:ext cx="10332720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300" b="1">
                <a:solidFill>
                  <a:srgbClr val="7C3AED"/>
                </a:solidFill>
                <a:latin typeface="Arial"/>
              </a:defRPr>
            </a:pPr>
            <a:r>
              <a:t>Cannot run Docker?  labs_remote_n8n/ is the same ten labs on the hosted n8n - ask the trainer.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6428232"/>
            <a:ext cx="11183112" cy="13716"/>
          </a:xfrm>
          <a:prstGeom prst="rect">
            <a:avLst/>
          </a:prstGeom>
          <a:solidFill>
            <a:srgbClr val="DCE5F0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6483096"/>
            <a:ext cx="5212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00" b="0">
                <a:solidFill>
                  <a:srgbClr val="5B6372"/>
                </a:solidFill>
                <a:latin typeface="Arial"/>
              </a:defRPr>
            </a:pPr>
            <a:r>
              <a:t>C500 - Voice and Video Agents with n8n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60" y="6483096"/>
            <a:ext cx="3749039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800" b="0">
                <a:solidFill>
                  <a:srgbClr val="5B6372"/>
                </a:solidFill>
                <a:latin typeface="Arial"/>
              </a:defRPr>
            </a:pPr>
            <a:r>
              <a:t>Copyright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09960" y="6483096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800" b="1">
                <a:solidFill>
                  <a:srgbClr val="5B6372"/>
                </a:solidFill>
                <a:latin typeface="Arial"/>
              </a:defRPr>
            </a:pPr>
            <a:r>
              <a:t>008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01752"/>
            <a:ext cx="10972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1">
                <a:solidFill>
                  <a:srgbClr val="1F6FEB"/>
                </a:solidFill>
                <a:latin typeface="Arial"/>
              </a:defRPr>
            </a:pPr>
            <a:r>
              <a:t>COURSE OUTCOMES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800" b="1">
                <a:solidFill>
                  <a:srgbClr val="161B26"/>
                </a:solidFill>
                <a:latin typeface="Arial"/>
              </a:defRPr>
            </a:pPr>
            <a:r>
              <a:t>What You Will Be Able to Build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3529584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73152" cy="1664208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77824" y="1636776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1636776"/>
            <a:ext cx="438912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44752" y="1618488"/>
            <a:ext cx="2505456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700" b="1">
                <a:solidFill>
                  <a:srgbClr val="161B26"/>
                </a:solidFill>
                <a:latin typeface="Arial"/>
              </a:defRPr>
            </a:pPr>
            <a:r>
              <a:t>LOCAL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75688"/>
            <a:ext cx="3026663" cy="8412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400" b="0">
                <a:solidFill>
                  <a:srgbClr val="5B6372"/>
                </a:solidFill>
                <a:latin typeface="Arial"/>
              </a:defRPr>
            </a:pPr>
            <a:r>
              <a:t>n8n agents powered by Ollama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417320"/>
            <a:ext cx="3529584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417320"/>
            <a:ext cx="73152" cy="166420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72584" y="1636776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72584" y="1636776"/>
            <a:ext cx="438912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39512" y="1618488"/>
            <a:ext cx="2505456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700" b="1">
                <a:solidFill>
                  <a:srgbClr val="161B26"/>
                </a:solidFill>
                <a:latin typeface="Arial"/>
              </a:defRPr>
            </a:pPr>
            <a:r>
              <a:t>RAG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60" y="2075688"/>
            <a:ext cx="3026663" cy="8412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400" b="0">
                <a:solidFill>
                  <a:srgbClr val="5B6372"/>
                </a:solidFill>
                <a:latin typeface="Arial"/>
              </a:defRPr>
            </a:pPr>
            <a:r>
              <a:t>Evidence-grounded workplace answers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1417320"/>
            <a:ext cx="3529584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0" y="1417320"/>
            <a:ext cx="73152" cy="1664208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467344" y="1636776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67344" y="1636776"/>
            <a:ext cx="438912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34272" y="1618488"/>
            <a:ext cx="2505456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700" b="1">
                <a:solidFill>
                  <a:srgbClr val="161B26"/>
                </a:solidFill>
                <a:latin typeface="Arial"/>
              </a:defRPr>
            </a:pPr>
            <a:r>
              <a:t>VOICE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2075688"/>
            <a:ext cx="3026663" cy="8412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400" b="0">
                <a:solidFill>
                  <a:srgbClr val="5B6372"/>
                </a:solidFill>
                <a:latin typeface="Arial"/>
              </a:defRPr>
            </a:pPr>
            <a:r>
              <a:t>Secure browser-to-agent handoffs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3538728"/>
            <a:ext cx="544068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" y="3538728"/>
            <a:ext cx="73152" cy="166420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77824" y="3758184"/>
            <a:ext cx="438912" cy="43891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7824" y="3758184"/>
            <a:ext cx="438912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44752" y="3739896"/>
            <a:ext cx="441655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700" b="1">
                <a:solidFill>
                  <a:srgbClr val="161B26"/>
                </a:solidFill>
                <a:latin typeface="Arial"/>
              </a:defRPr>
            </a:pPr>
            <a:r>
              <a:t>VIDEO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4197096"/>
            <a:ext cx="4937760" cy="8412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400" b="0">
                <a:solidFill>
                  <a:srgbClr val="5B6372"/>
                </a:solidFill>
                <a:latin typeface="Arial"/>
              </a:defRPr>
            </a:pPr>
            <a:r>
              <a:t>Avatar and cinematic automation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91072" y="3538728"/>
            <a:ext cx="544068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91072" y="3538728"/>
            <a:ext cx="73152" cy="1664208"/>
          </a:xfrm>
          <a:prstGeom prst="rect">
            <a:avLst/>
          </a:prstGeom>
          <a:solidFill>
            <a:srgbClr val="E25555"/>
          </a:solidFill>
          <a:ln>
            <a:solidFill>
              <a:srgbClr val="E2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528816" y="3758184"/>
            <a:ext cx="438912" cy="438912"/>
          </a:xfrm>
          <a:prstGeom prst="ellipse">
            <a:avLst/>
          </a:prstGeom>
          <a:solidFill>
            <a:srgbClr val="E2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28816" y="3758184"/>
            <a:ext cx="438912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95744" y="3739896"/>
            <a:ext cx="441655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700" b="1">
                <a:solidFill>
                  <a:srgbClr val="161B26"/>
                </a:solidFill>
                <a:latin typeface="Arial"/>
              </a:defRPr>
            </a:pPr>
            <a:r>
              <a:t>OPERATIONS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65392" y="4197096"/>
            <a:ext cx="4937760" cy="8412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400" b="0">
                <a:solidFill>
                  <a:srgbClr val="5B6372"/>
                </a:solidFill>
                <a:latin typeface="Arial"/>
              </a:defRPr>
            </a:pPr>
            <a:r>
              <a:t>Tests, guardrails, review and recovery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5806440"/>
            <a:ext cx="98755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600" b="0">
                <a:solidFill>
                  <a:srgbClr val="5B6372"/>
                </a:solidFill>
                <a:latin typeface="Arial"/>
              </a:defRPr>
            </a:pPr>
            <a:r>
              <a:t>The course ends with an integrated, reviewable AI workforce capstone.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6428232"/>
            <a:ext cx="11183112" cy="13716"/>
          </a:xfrm>
          <a:prstGeom prst="rect">
            <a:avLst/>
          </a:prstGeom>
          <a:solidFill>
            <a:srgbClr val="DCE5F0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6483096"/>
            <a:ext cx="5212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00" b="0">
                <a:solidFill>
                  <a:srgbClr val="5B6372"/>
                </a:solidFill>
                <a:latin typeface="Arial"/>
              </a:defRPr>
            </a:pPr>
            <a:r>
              <a:t>C500 - Voice and Video Agents with n8n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51960" y="6483096"/>
            <a:ext cx="3749039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800" b="0">
                <a:solidFill>
                  <a:srgbClr val="5B6372"/>
                </a:solidFill>
                <a:latin typeface="Arial"/>
              </a:defRPr>
            </a:pPr>
            <a:r>
              <a:t>Copyright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09960" y="6483096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800" b="1">
                <a:solidFill>
                  <a:srgbClr val="5B6372"/>
                </a:solidFill>
                <a:latin typeface="Arial"/>
              </a:defRPr>
            </a:pPr>
            <a:r>
              <a:t>009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01752"/>
            <a:ext cx="10972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1">
                <a:solidFill>
                  <a:srgbClr val="1F6FEB"/>
                </a:solidFill>
                <a:latin typeface="Arial"/>
              </a:defRPr>
            </a:pPr>
            <a:r>
              <a:t>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800" b="1">
                <a:solidFill>
                  <a:srgbClr val="161B26"/>
                </a:solidFill>
                <a:latin typeface="Arial"/>
              </a:defRPr>
            </a:pPr>
            <a:r>
              <a:t>Set Up Your Machine - macOS or Windows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80160"/>
            <a:ext cx="108813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700" b="0">
                <a:solidFill>
                  <a:srgbClr val="5B6372"/>
                </a:solidFill>
                <a:latin typeface="Arial"/>
              </a:defRPr>
            </a:pPr>
            <a:r>
              <a:t>Every lab runs on both. The tools are identical; only the install command and a little typing differ.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783080"/>
            <a:ext cx="5394960" cy="502920"/>
          </a:xfrm>
          <a:prstGeom prst="roundRect">
            <a:avLst/>
          </a:prstGeom>
          <a:solidFill>
            <a:srgbClr val="161B26"/>
          </a:solidFill>
          <a:ln>
            <a:solidFill>
              <a:srgbClr val="161B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892807"/>
            <a:ext cx="53949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macOS  -  Terminal  +  Homebrew (brew.sh)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1783080"/>
            <a:ext cx="5193792" cy="502920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892807"/>
            <a:ext cx="5193792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Windows  -  PowerShell  +  winget (built in)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450592"/>
            <a:ext cx="10881360" cy="502920"/>
          </a:xfrm>
          <a:prstGeom prst="rect">
            <a:avLst/>
          </a:prstGeom>
          <a:solidFill>
            <a:srgbClr val="F5F8FC"/>
          </a:solidFill>
          <a:ln w="1270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2496312"/>
            <a:ext cx="2377440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300" b="1">
                <a:solidFill>
                  <a:srgbClr val="161B26"/>
                </a:solidFill>
                <a:latin typeface="Arial"/>
              </a:defRPr>
            </a:pPr>
            <a:r>
              <a:t>Docker Desktop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2496312"/>
            <a:ext cx="3931920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200" b="0">
                <a:solidFill>
                  <a:srgbClr val="5B6372"/>
                </a:solidFill>
                <a:latin typeface="Arial"/>
              </a:defRPr>
            </a:pPr>
            <a:r>
              <a:t>brew install --cask docker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2496312"/>
            <a:ext cx="4114800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200" b="0">
                <a:solidFill>
                  <a:srgbClr val="1F6FEB"/>
                </a:solidFill>
                <a:latin typeface="Arial"/>
              </a:defRPr>
            </a:pPr>
            <a:r>
              <a:t>winget install Docker.DockerDesktop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3017520"/>
            <a:ext cx="108813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3063240"/>
            <a:ext cx="2377440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300" b="1">
                <a:solidFill>
                  <a:srgbClr val="161B26"/>
                </a:solidFill>
                <a:latin typeface="Arial"/>
              </a:defRPr>
            </a:pPr>
            <a:r>
              <a:t>Ollama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3063240"/>
            <a:ext cx="3931920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200" b="0">
                <a:solidFill>
                  <a:srgbClr val="5B6372"/>
                </a:solidFill>
                <a:latin typeface="Arial"/>
              </a:defRPr>
            </a:pPr>
            <a:r>
              <a:t>brew install ollama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3063240"/>
            <a:ext cx="4114800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200" b="0">
                <a:solidFill>
                  <a:srgbClr val="1F6FEB"/>
                </a:solidFill>
                <a:latin typeface="Arial"/>
              </a:defRPr>
            </a:pPr>
            <a:r>
              <a:t>winget install Ollama.Ollama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3584448"/>
            <a:ext cx="10881360" cy="502920"/>
          </a:xfrm>
          <a:prstGeom prst="rect">
            <a:avLst/>
          </a:prstGeom>
          <a:solidFill>
            <a:srgbClr val="F5F8FC"/>
          </a:solidFill>
          <a:ln w="1270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3630168"/>
            <a:ext cx="2377440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300" b="1">
                <a:solidFill>
                  <a:srgbClr val="161B26"/>
                </a:solidFill>
                <a:latin typeface="Arial"/>
              </a:defRPr>
            </a:pPr>
            <a:r>
              <a:t>Python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3630168"/>
            <a:ext cx="3931920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200" b="0">
                <a:solidFill>
                  <a:srgbClr val="5B6372"/>
                </a:solidFill>
                <a:latin typeface="Arial"/>
              </a:defRPr>
            </a:pPr>
            <a:r>
              <a:t>already installed (python3)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3630168"/>
            <a:ext cx="4114800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200" b="0">
                <a:solidFill>
                  <a:srgbClr val="1F6FEB"/>
                </a:solidFill>
                <a:latin typeface="Arial"/>
              </a:defRPr>
            </a:pPr>
            <a:r>
              <a:t>winget install Python.Python.3.12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4151376"/>
            <a:ext cx="108813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" y="4197096"/>
            <a:ext cx="2377440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300" b="1">
                <a:solidFill>
                  <a:srgbClr val="161B26"/>
                </a:solidFill>
                <a:latin typeface="Arial"/>
              </a:defRPr>
            </a:pPr>
            <a:r>
              <a:t>ffmpeg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91840" y="4197096"/>
            <a:ext cx="3931920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200" b="0">
                <a:solidFill>
                  <a:srgbClr val="5B6372"/>
                </a:solidFill>
                <a:latin typeface="Arial"/>
              </a:defRPr>
            </a:pPr>
            <a:r>
              <a:t>brew install ffmpeg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4197096"/>
            <a:ext cx="4114800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200" b="0">
                <a:solidFill>
                  <a:srgbClr val="1F6FEB"/>
                </a:solidFill>
                <a:latin typeface="Arial"/>
              </a:defRPr>
            </a:pPr>
            <a:r>
              <a:t>winget install Gyan.FFmpeg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4718304"/>
            <a:ext cx="10881360" cy="502920"/>
          </a:xfrm>
          <a:prstGeom prst="rect">
            <a:avLst/>
          </a:prstGeom>
          <a:solidFill>
            <a:srgbClr val="F5F8FC"/>
          </a:solidFill>
          <a:ln w="1270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" y="4764024"/>
            <a:ext cx="2377440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300" b="1">
                <a:solidFill>
                  <a:srgbClr val="161B26"/>
                </a:solidFill>
                <a:latin typeface="Arial"/>
              </a:defRPr>
            </a:pPr>
            <a:r>
              <a:t>ngrok  (Labs 4-5)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91840" y="4764024"/>
            <a:ext cx="3931920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200" b="0">
                <a:solidFill>
                  <a:srgbClr val="5B6372"/>
                </a:solidFill>
                <a:latin typeface="Arial"/>
              </a:defRPr>
            </a:pPr>
            <a:r>
              <a:t>brew install ngrok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0" y="4764024"/>
            <a:ext cx="4114800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200" b="0">
                <a:solidFill>
                  <a:srgbClr val="1F6FEB"/>
                </a:solidFill>
                <a:latin typeface="Arial"/>
              </a:defRPr>
            </a:pPr>
            <a:r>
              <a:t>winget install ngrok.ngrok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5394960"/>
            <a:ext cx="10881360" cy="914400"/>
          </a:xfrm>
          <a:prstGeom prst="round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5486400"/>
            <a:ext cx="27432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1">
                <a:solidFill>
                  <a:srgbClr val="E25555"/>
                </a:solidFill>
                <a:latin typeface="Arial"/>
              </a:defRPr>
            </a:pPr>
            <a:r>
              <a:t>WINDOWS GOTCHAS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760720"/>
            <a:ext cx="1042416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400" b="1">
                <a:solidFill>
                  <a:srgbClr val="161B26"/>
                </a:solidFill>
                <a:latin typeface="Arial"/>
              </a:defRPr>
            </a:pPr>
            <a:r>
              <a:t>Reopen PowerShell after installing, or the command is 'not recognized'  ·  Docker needs WSL 2 (wsl --install)  ·  The command is python, NOT python3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6428232"/>
            <a:ext cx="11183112" cy="13716"/>
          </a:xfrm>
          <a:prstGeom prst="rect">
            <a:avLst/>
          </a:prstGeom>
          <a:solidFill>
            <a:srgbClr val="DCE5F0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6483096"/>
            <a:ext cx="5212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00" b="0">
                <a:solidFill>
                  <a:srgbClr val="5B6372"/>
                </a:solidFill>
                <a:latin typeface="Arial"/>
              </a:defRPr>
            </a:pPr>
            <a:r>
              <a:t>C500 - Voice and Video Agents with n8n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51960" y="6483096"/>
            <a:ext cx="3749039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800" b="0">
                <a:solidFill>
                  <a:srgbClr val="5B6372"/>
                </a:solidFill>
                <a:latin typeface="Arial"/>
              </a:defRPr>
            </a:pPr>
            <a:r>
              <a:t>Copyright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09960" y="6483096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800" b="1">
                <a:solidFill>
                  <a:srgbClr val="5B6372"/>
                </a:solidFill>
                <a:latin typeface="Arial"/>
              </a:defRPr>
            </a:pPr>
            <a:r>
              <a:t>010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01752"/>
            <a:ext cx="10972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1">
                <a:solidFill>
                  <a:srgbClr val="1F6FEB"/>
                </a:solidFill>
                <a:latin typeface="Arial"/>
              </a:defRPr>
            </a:pPr>
            <a:r>
              <a:t>ENGINEERING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800" b="1">
                <a:solidFill>
                  <a:srgbClr val="161B26"/>
                </a:solidFill>
                <a:latin typeface="Arial"/>
              </a:defRPr>
            </a:pPr>
            <a:r>
              <a:t>The Agentic AI Loop</a:t>
            </a:r>
          </a:p>
        </p:txBody>
      </p:sp>
      <p:sp>
        <p:nvSpPr>
          <p:cNvPr id="4" name="Oval 3"/>
          <p:cNvSpPr/>
          <p:nvPr/>
        </p:nvSpPr>
        <p:spPr>
          <a:xfrm>
            <a:off x="877824" y="1847088"/>
            <a:ext cx="777240" cy="77724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7824" y="1847088"/>
            <a:ext cx="777240" cy="7772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2862072"/>
            <a:ext cx="148132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300" b="1">
                <a:solidFill>
                  <a:srgbClr val="161B26"/>
                </a:solidFill>
                <a:latin typeface="Arial"/>
              </a:defRPr>
            </a:pPr>
            <a:r>
              <a:t>DEFINE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3246120"/>
            <a:ext cx="1481328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200" b="0">
                <a:solidFill>
                  <a:srgbClr val="5B6372"/>
                </a:solidFill>
                <a:latin typeface="Arial"/>
              </a:defRPr>
            </a:pPr>
            <a:r>
              <a:t>Outcome + risk</a:t>
            </a:r>
          </a:p>
        </p:txBody>
      </p:sp>
      <p:sp>
        <p:nvSpPr>
          <p:cNvPr id="8" name="Rectangle 7"/>
          <p:cNvSpPr/>
          <p:nvPr/>
        </p:nvSpPr>
        <p:spPr>
          <a:xfrm>
            <a:off x="1737360" y="2203704"/>
            <a:ext cx="457200" cy="64008"/>
          </a:xfrm>
          <a:prstGeom prst="rect">
            <a:avLst/>
          </a:prstGeom>
          <a:solidFill>
            <a:srgbClr val="DCE5F0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523744" y="1847088"/>
            <a:ext cx="777240" cy="77724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23744" y="1847088"/>
            <a:ext cx="777240" cy="7772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76272" y="2862072"/>
            <a:ext cx="148132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300" b="1">
                <a:solidFill>
                  <a:srgbClr val="161B26"/>
                </a:solidFill>
                <a:latin typeface="Arial"/>
              </a:defRPr>
            </a:pPr>
            <a:r>
              <a:t>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76272" y="3246120"/>
            <a:ext cx="1481328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200" b="0">
                <a:solidFill>
                  <a:srgbClr val="5B6372"/>
                </a:solidFill>
                <a:latin typeface="Arial"/>
              </a:defRPr>
            </a:pPr>
            <a:r>
              <a:t>Smallest proof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83280" y="2203704"/>
            <a:ext cx="457200" cy="64008"/>
          </a:xfrm>
          <a:prstGeom prst="rect">
            <a:avLst/>
          </a:prstGeom>
          <a:solidFill>
            <a:srgbClr val="DCE5F0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169663" y="1847088"/>
            <a:ext cx="777240" cy="77724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69663" y="1847088"/>
            <a:ext cx="777240" cy="7772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22191" y="2862072"/>
            <a:ext cx="148132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300" b="1">
                <a:solidFill>
                  <a:srgbClr val="161B26"/>
                </a:solidFill>
                <a:latin typeface="Arial"/>
              </a:defRPr>
            </a:pPr>
            <a:r>
              <a:t>OBSERVE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22191" y="3246120"/>
            <a:ext cx="1481328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200" b="0">
                <a:solidFill>
                  <a:srgbClr val="5B6372"/>
                </a:solidFill>
                <a:latin typeface="Arial"/>
              </a:defRPr>
            </a:pPr>
            <a:r>
              <a:t>Trace behavior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0" y="2203704"/>
            <a:ext cx="457200" cy="64008"/>
          </a:xfrm>
          <a:prstGeom prst="rect">
            <a:avLst/>
          </a:prstGeom>
          <a:solidFill>
            <a:srgbClr val="DCE5F0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815584" y="1847088"/>
            <a:ext cx="777240" cy="7772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15584" y="1847088"/>
            <a:ext cx="777240" cy="7772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68112" y="2862072"/>
            <a:ext cx="148132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300" b="1">
                <a:solidFill>
                  <a:srgbClr val="161B26"/>
                </a:solidFill>
                <a:latin typeface="Arial"/>
              </a:defRPr>
            </a:pPr>
            <a:r>
              <a:t>EVALUATE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68112" y="3246120"/>
            <a:ext cx="1481328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200" b="0">
                <a:solidFill>
                  <a:srgbClr val="5B6372"/>
                </a:solidFill>
                <a:latin typeface="Arial"/>
              </a:defRPr>
            </a:pPr>
            <a:r>
              <a:t>Test rubric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75120" y="2203704"/>
            <a:ext cx="457200" cy="64008"/>
          </a:xfrm>
          <a:prstGeom prst="rect">
            <a:avLst/>
          </a:prstGeom>
          <a:solidFill>
            <a:srgbClr val="DCE5F0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461504" y="1847088"/>
            <a:ext cx="777240" cy="7772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61504" y="1847088"/>
            <a:ext cx="777240" cy="7772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14032" y="2862072"/>
            <a:ext cx="148132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300" b="1">
                <a:solidFill>
                  <a:srgbClr val="161B26"/>
                </a:solidFill>
                <a:latin typeface="Arial"/>
              </a:defRPr>
            </a:pPr>
            <a:r>
              <a:t>IMPROVE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14032" y="3246120"/>
            <a:ext cx="1481328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200" b="0">
                <a:solidFill>
                  <a:srgbClr val="5B6372"/>
                </a:solidFill>
                <a:latin typeface="Arial"/>
              </a:defRPr>
            </a:pPr>
            <a:r>
              <a:t>One variable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321040" y="2203704"/>
            <a:ext cx="457200" cy="64008"/>
          </a:xfrm>
          <a:prstGeom prst="rect">
            <a:avLst/>
          </a:prstGeom>
          <a:solidFill>
            <a:srgbClr val="DCE5F0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107424" y="1847088"/>
            <a:ext cx="777240" cy="7772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07424" y="1847088"/>
            <a:ext cx="777240" cy="7772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59952" y="2862072"/>
            <a:ext cx="148132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300" b="1">
                <a:solidFill>
                  <a:srgbClr val="161B26"/>
                </a:solidFill>
                <a:latin typeface="Arial"/>
              </a:defRPr>
            </a:pPr>
            <a:r>
              <a:t>GUARDRAIL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59952" y="3246120"/>
            <a:ext cx="1481328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200" b="0">
                <a:solidFill>
                  <a:srgbClr val="5B6372"/>
                </a:solidFill>
                <a:latin typeface="Arial"/>
              </a:defRPr>
            </a:pPr>
            <a:r>
              <a:t>Control action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966960" y="2203704"/>
            <a:ext cx="457200" cy="64008"/>
          </a:xfrm>
          <a:prstGeom prst="rect">
            <a:avLst/>
          </a:prstGeom>
          <a:solidFill>
            <a:srgbClr val="DCE5F0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753344" y="1847088"/>
            <a:ext cx="777240" cy="7772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753344" y="1847088"/>
            <a:ext cx="777240" cy="7772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405872" y="2862072"/>
            <a:ext cx="148132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300" b="1">
                <a:solidFill>
                  <a:srgbClr val="161B26"/>
                </a:solidFill>
                <a:latin typeface="Arial"/>
              </a:defRPr>
            </a:pPr>
            <a:r>
              <a:t>DOCUMENT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405872" y="3246120"/>
            <a:ext cx="1481328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200" b="0">
                <a:solidFill>
                  <a:srgbClr val="5B6372"/>
                </a:solidFill>
                <a:latin typeface="Arial"/>
              </a:defRPr>
            </a:pPr>
            <a:r>
              <a:t>Make repeatable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32688" y="4343400"/>
            <a:ext cx="10314432" cy="1033271"/>
          </a:xfrm>
          <a:prstGeom prst="round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4440" y="4645152"/>
            <a:ext cx="14173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300" b="1">
                <a:solidFill>
                  <a:srgbClr val="7C3AED"/>
                </a:solidFill>
                <a:latin typeface="Arial"/>
              </a:defRPr>
            </a:pPr>
            <a:r>
              <a:t>Learner habit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88920" y="4553712"/>
            <a:ext cx="8001000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2000" b="1">
                <a:solidFill>
                  <a:srgbClr val="161B26"/>
                </a:solidFill>
                <a:latin typeface="Arial"/>
              </a:defRPr>
            </a:pPr>
            <a:r>
              <a:t>Show the input, trace, output, evaluation decision, and the next revision.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2920" y="6428232"/>
            <a:ext cx="11183112" cy="13716"/>
          </a:xfrm>
          <a:prstGeom prst="rect">
            <a:avLst/>
          </a:prstGeom>
          <a:solidFill>
            <a:srgbClr val="DCE5F0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8640" y="6483096"/>
            <a:ext cx="5212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00" b="0">
                <a:solidFill>
                  <a:srgbClr val="5B6372"/>
                </a:solidFill>
                <a:latin typeface="Arial"/>
              </a:defRPr>
            </a:pPr>
            <a:r>
              <a:t>C500 - Voice and Video Agents with n8n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51960" y="6483096"/>
            <a:ext cx="3749039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800" b="0">
                <a:solidFill>
                  <a:srgbClr val="5B6372"/>
                </a:solidFill>
                <a:latin typeface="Arial"/>
              </a:defRPr>
            </a:pPr>
            <a:r>
              <a:t>Copyright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109960" y="6483096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800" b="1">
                <a:solidFill>
                  <a:srgbClr val="5B6372"/>
                </a:solidFill>
                <a:latin typeface="Arial"/>
              </a:defRPr>
            </a:pPr>
            <a:r>
              <a:t>011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01752"/>
            <a:ext cx="10972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1">
                <a:solidFill>
                  <a:srgbClr val="1F6FEB"/>
                </a:solidFill>
                <a:latin typeface="Arial"/>
              </a:defRPr>
            </a:pPr>
            <a:r>
              <a:t>TOPIC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800" b="1">
                <a:solidFill>
                  <a:srgbClr val="161B26"/>
                </a:solidFill>
                <a:latin typeface="Arial"/>
              </a:defRPr>
            </a:pPr>
            <a:r>
              <a:t>Topic 01 - Chatbot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52560" y="868680"/>
            <a:ext cx="2286000" cy="1508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7400" b="1">
                <a:solidFill>
                  <a:srgbClr val="E7EFFA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08760"/>
            <a:ext cx="7086600" cy="1828800"/>
          </a:xfrm>
          <a:prstGeom prst="round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56231"/>
            <a:ext cx="6355080" cy="10972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2000" b="0">
                <a:solidFill>
                  <a:srgbClr val="161B26"/>
                </a:solidFill>
                <a:latin typeface="Arial"/>
              </a:defRPr>
            </a:pPr>
            <a:r>
              <a:t>Agents, retrieval and grounded answers: your first n8n AI agent, a RAG chatbot that admits what it does not know, and a customer-facing course advisor on a real website. Labs 0-3.</a:t>
            </a:r>
          </a:p>
        </p:txBody>
      </p:sp>
      <p:sp>
        <p:nvSpPr>
          <p:cNvPr id="7" name="Oval 6"/>
          <p:cNvSpPr/>
          <p:nvPr/>
        </p:nvSpPr>
        <p:spPr>
          <a:xfrm>
            <a:off x="658368" y="4005072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4005072"/>
            <a:ext cx="438912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4" y="4572000"/>
            <a:ext cx="10058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100" b="1">
                <a:solidFill>
                  <a:srgbClr val="161B26"/>
                </a:solidFill>
                <a:latin typeface="Arial"/>
              </a:defRPr>
            </a:pPr>
            <a:r>
              <a:t>Define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4197096"/>
            <a:ext cx="566927" cy="41148"/>
          </a:xfrm>
          <a:prstGeom prst="rect">
            <a:avLst/>
          </a:prstGeom>
          <a:solidFill>
            <a:srgbClr val="DCE5F0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728216" y="4005072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28216" y="4005072"/>
            <a:ext cx="438912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44751" y="4572000"/>
            <a:ext cx="10058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100" b="1">
                <a:solidFill>
                  <a:srgbClr val="161B26"/>
                </a:solidFill>
                <a:latin typeface="Arial"/>
              </a:defRPr>
            </a:pPr>
            <a:r>
              <a:t>Build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12848" y="4197096"/>
            <a:ext cx="566927" cy="41148"/>
          </a:xfrm>
          <a:prstGeom prst="rect">
            <a:avLst/>
          </a:prstGeom>
          <a:solidFill>
            <a:srgbClr val="DCE5F0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798063" y="4005072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98063" y="4005072"/>
            <a:ext cx="438912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14599" y="4572000"/>
            <a:ext cx="10058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100" b="1">
                <a:solidFill>
                  <a:srgbClr val="161B26"/>
                </a:solidFill>
                <a:latin typeface="Arial"/>
              </a:defRPr>
            </a:pPr>
            <a:r>
              <a:t>Observe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82696" y="4197096"/>
            <a:ext cx="566927" cy="41148"/>
          </a:xfrm>
          <a:prstGeom prst="rect">
            <a:avLst/>
          </a:prstGeom>
          <a:solidFill>
            <a:srgbClr val="DCE5F0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867911" y="4005072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67911" y="4005072"/>
            <a:ext cx="438912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84447" y="4572000"/>
            <a:ext cx="10058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100" b="1">
                <a:solidFill>
                  <a:srgbClr val="161B26"/>
                </a:solidFill>
                <a:latin typeface="Arial"/>
              </a:defRPr>
            </a:pPr>
            <a:r>
              <a:t>Evaluate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52544" y="4197096"/>
            <a:ext cx="566927" cy="41148"/>
          </a:xfrm>
          <a:prstGeom prst="rect">
            <a:avLst/>
          </a:prstGeom>
          <a:solidFill>
            <a:srgbClr val="DCE5F0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937759" y="4005072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37759" y="4005072"/>
            <a:ext cx="438912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54296" y="4572000"/>
            <a:ext cx="10058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100" b="1">
                <a:solidFill>
                  <a:srgbClr val="161B26"/>
                </a:solidFill>
                <a:latin typeface="Arial"/>
              </a:defRPr>
            </a:pPr>
            <a:r>
              <a:t>Improve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22392" y="4197096"/>
            <a:ext cx="566927" cy="41148"/>
          </a:xfrm>
          <a:prstGeom prst="rect">
            <a:avLst/>
          </a:prstGeom>
          <a:solidFill>
            <a:srgbClr val="DCE5F0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007607" y="4005072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07607" y="4005072"/>
            <a:ext cx="438912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24144" y="4572000"/>
            <a:ext cx="10058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100" b="1">
                <a:solidFill>
                  <a:srgbClr val="161B26"/>
                </a:solidFill>
                <a:latin typeface="Arial"/>
              </a:defRPr>
            </a:pPr>
            <a:r>
              <a:t>Guardrail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92240" y="4197096"/>
            <a:ext cx="566927" cy="41148"/>
          </a:xfrm>
          <a:prstGeom prst="rect">
            <a:avLst/>
          </a:prstGeom>
          <a:solidFill>
            <a:srgbClr val="DCE5F0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077455" y="4005072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077455" y="4005072"/>
            <a:ext cx="438912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93992" y="4572000"/>
            <a:ext cx="10058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100" b="1">
                <a:solidFill>
                  <a:srgbClr val="161B26"/>
                </a:solidFill>
                <a:latin typeface="Arial"/>
              </a:defRPr>
            </a:pPr>
            <a:r>
              <a:t>Document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5230368"/>
            <a:ext cx="685800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700" b="1">
                <a:solidFill>
                  <a:srgbClr val="10B981"/>
                </a:solidFill>
                <a:latin typeface="Arial"/>
              </a:defRPr>
            </a:pPr>
            <a:r>
              <a:t>Every lab produces visible evidence for trainer review.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366760" y="2907792"/>
            <a:ext cx="283464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86800" y="3218688"/>
            <a:ext cx="21945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1">
                <a:solidFill>
                  <a:srgbClr val="7C3AED"/>
                </a:solidFill>
                <a:latin typeface="Arial"/>
              </a:defRPr>
            </a:pPr>
            <a:r>
              <a:t>LEARNING ARC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0" y="3703320"/>
            <a:ext cx="21031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800" b="1">
                <a:solidFill>
                  <a:srgbClr val="161B26"/>
                </a:solidFill>
                <a:latin typeface="Arial"/>
              </a:defRPr>
            </a:pPr>
            <a:r>
              <a:t>Concept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0" y="4133087"/>
            <a:ext cx="21031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800" b="1">
                <a:solidFill>
                  <a:srgbClr val="161B26"/>
                </a:solidFill>
                <a:latin typeface="Arial"/>
              </a:defRPr>
            </a:pPr>
            <a:r>
              <a:t>Practice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86800" y="4562856"/>
            <a:ext cx="21031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800" b="1">
                <a:solidFill>
                  <a:srgbClr val="161B26"/>
                </a:solidFill>
                <a:latin typeface="Arial"/>
              </a:defRPr>
            </a:pPr>
            <a:r>
              <a:t>Evidence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86800" y="4992624"/>
            <a:ext cx="21031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800" b="1">
                <a:solidFill>
                  <a:srgbClr val="161B26"/>
                </a:solidFill>
                <a:latin typeface="Arial"/>
              </a:defRPr>
            </a:pPr>
            <a:r>
              <a:t>Reflection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2920" y="6428232"/>
            <a:ext cx="11183112" cy="13716"/>
          </a:xfrm>
          <a:prstGeom prst="rect">
            <a:avLst/>
          </a:prstGeom>
          <a:solidFill>
            <a:srgbClr val="DCE5F0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8640" y="6483096"/>
            <a:ext cx="5212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00" b="0">
                <a:solidFill>
                  <a:srgbClr val="5B6372"/>
                </a:solidFill>
                <a:latin typeface="Arial"/>
              </a:defRPr>
            </a:pPr>
            <a:r>
              <a:t>C500 - Voice and Video Agents with n8n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51960" y="6483096"/>
            <a:ext cx="3749039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800" b="0">
                <a:solidFill>
                  <a:srgbClr val="5B6372"/>
                </a:solidFill>
                <a:latin typeface="Arial"/>
              </a:defRPr>
            </a:pPr>
            <a:r>
              <a:t>Copyright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109960" y="6483096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800" b="1">
                <a:solidFill>
                  <a:srgbClr val="5B6372"/>
                </a:solidFill>
                <a:latin typeface="Arial"/>
              </a:defRPr>
            </a:pPr>
            <a:r>
              <a:t>012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01752"/>
            <a:ext cx="10972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1">
                <a:solidFill>
                  <a:srgbClr val="1F6FEB"/>
                </a:solidFill>
                <a:latin typeface="Arial"/>
              </a:defRPr>
            </a:pPr>
            <a:r>
              <a:t>RAG - 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800" b="1">
                <a:solidFill>
                  <a:srgbClr val="161B26"/>
                </a:solidFill>
                <a:latin typeface="Arial"/>
              </a:defRPr>
            </a:pPr>
            <a:r>
              <a:t>Why RAG? The Model Has Never Seen Your Documents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5349240" cy="3703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5349240" cy="475488"/>
          </a:xfrm>
          <a:prstGeom prst="roundRect">
            <a:avLst/>
          </a:prstGeom>
          <a:solidFill>
            <a:srgbClr val="E25555"/>
          </a:solidFill>
          <a:ln>
            <a:solidFill>
              <a:srgbClr val="E2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81328"/>
            <a:ext cx="53492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WITHOUT RAG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057400"/>
            <a:ext cx="470916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700" b="1">
                <a:solidFill>
                  <a:srgbClr val="161B26"/>
                </a:solidFill>
                <a:latin typeface="Arial"/>
              </a:defRPr>
            </a:pPr>
            <a:r>
              <a:t>“What is the refund policy?”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560320"/>
            <a:ext cx="4709160" cy="7315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500" b="0">
                <a:solidFill>
                  <a:srgbClr val="5B6372"/>
                </a:solidFill>
                <a:latin typeface="Arial"/>
              </a:defRPr>
            </a:pPr>
            <a:r>
              <a:t>The model was never trained on your handbook.</a:t>
            </a:r>
            <a:br/>
            <a:r>
              <a:t>It does not say “I don't know”.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" y="3429000"/>
            <a:ext cx="470916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611880"/>
            <a:ext cx="434340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500" b="1">
                <a:solidFill>
                  <a:srgbClr val="161B26"/>
                </a:solidFill>
                <a:latin typeface="Arial"/>
              </a:defRPr>
            </a:pPr>
            <a:r>
              <a:t>“Refunds are accepted within 30 days…”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4096512"/>
            <a:ext cx="434340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400" b="1">
                <a:solidFill>
                  <a:srgbClr val="E25555"/>
                </a:solidFill>
                <a:latin typeface="Arial"/>
              </a:defRPr>
            </a:pPr>
            <a:r>
              <a:t>Fluent. Confident. Invented.</a:t>
            </a:r>
            <a:br/>
            <a:r>
              <a:t>This failure is called HALLUCINATION.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371600"/>
            <a:ext cx="5285232" cy="3703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1371600"/>
            <a:ext cx="5285232" cy="475488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1481328"/>
            <a:ext cx="528523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WITH RAG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057400"/>
            <a:ext cx="46634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500" b="0">
                <a:solidFill>
                  <a:srgbClr val="5B6372"/>
                </a:solidFill>
                <a:latin typeface="Arial"/>
              </a:defRPr>
            </a:pPr>
            <a:r>
              <a:t>The workflow silently rewrites the question: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0" y="2450592"/>
            <a:ext cx="4645152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0" y="2542032"/>
            <a:ext cx="4297680" cy="1417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0">
                <a:solidFill>
                  <a:srgbClr val="161B26"/>
                </a:solidFill>
                <a:latin typeface="Arial"/>
              </a:defRPr>
            </a:pPr>
            <a:r>
              <a:t>“Using ONLY these passages from the handbook:</a:t>
            </a:r>
            <a:br/>
            <a:br/>
            <a:r>
              <a:t>  &lt;retrieved chunk 1&gt;</a:t>
            </a:r>
            <a:br/>
            <a:r>
              <a:t>  &lt;retrieved chunk 2&gt;</a:t>
            </a:r>
            <a:br/>
            <a:br/>
            <a:r>
              <a:t>answer: what is the refund policy?</a:t>
            </a:r>
            <a:br/>
            <a:r>
              <a:t>If they do not contain the answer, say you do not know.”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160520"/>
            <a:ext cx="4645152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500" b="1">
                <a:solidFill>
                  <a:srgbClr val="10B981"/>
                </a:solidFill>
                <a:latin typeface="Arial"/>
              </a:defRPr>
            </a:pPr>
            <a:r>
              <a:t>The model stops being a SOURCE of facts</a:t>
            </a:r>
            <a:br/>
            <a:r>
              <a:t>and becomes a READER of facts you supply.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6428232"/>
            <a:ext cx="11183112" cy="13716"/>
          </a:xfrm>
          <a:prstGeom prst="rect">
            <a:avLst/>
          </a:prstGeom>
          <a:solidFill>
            <a:srgbClr val="DCE5F0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6483096"/>
            <a:ext cx="5212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00" b="0">
                <a:solidFill>
                  <a:srgbClr val="5B6372"/>
                </a:solidFill>
                <a:latin typeface="Arial"/>
              </a:defRPr>
            </a:pPr>
            <a:r>
              <a:t>C500 - Voice and Video Agents with n8n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51960" y="6483096"/>
            <a:ext cx="3749039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800" b="0">
                <a:solidFill>
                  <a:srgbClr val="5B6372"/>
                </a:solidFill>
                <a:latin typeface="Arial"/>
              </a:defRPr>
            </a:pPr>
            <a:r>
              <a:t>Copyright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09960" y="6483096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800" b="1">
                <a:solidFill>
                  <a:srgbClr val="5B6372"/>
                </a:solidFill>
                <a:latin typeface="Arial"/>
              </a:defRPr>
            </a:pPr>
            <a:r>
              <a:t>013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01752"/>
            <a:ext cx="10972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1">
                <a:solidFill>
                  <a:srgbClr val="1F6FEB"/>
                </a:solidFill>
                <a:latin typeface="Arial"/>
              </a:defRPr>
            </a:pPr>
            <a:r>
              <a:t>RAG -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800" b="1">
                <a:solidFill>
                  <a:srgbClr val="161B26"/>
                </a:solidFill>
                <a:latin typeface="Arial"/>
              </a:defRPr>
            </a:pPr>
            <a:r>
              <a:t>RAG Has Two Phases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98448"/>
            <a:ext cx="1088136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600" b="1">
                <a:solidFill>
                  <a:srgbClr val="7C3AED"/>
                </a:solidFill>
                <a:latin typeface="Arial"/>
              </a:defRPr>
            </a:pPr>
            <a:r>
              <a:t>Everything below exists to answer ONE question: which passages do we paste in front of the user's question?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74519"/>
            <a:ext cx="10835640" cy="16916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5840" y="205740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57400"/>
            <a:ext cx="457200" cy="4572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2084831"/>
            <a:ext cx="15544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400" b="1">
                <a:solidFill>
                  <a:srgbClr val="1F6FEB"/>
                </a:solidFill>
                <a:latin typeface="Arial"/>
              </a:defRPr>
            </a:pPr>
            <a:r>
              <a:t>INDEXING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2112264"/>
            <a:ext cx="38404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0">
                <a:solidFill>
                  <a:srgbClr val="5B6372"/>
                </a:solidFill>
                <a:latin typeface="Arial"/>
              </a:defRPr>
            </a:pPr>
            <a:r>
              <a:t>runs ONCE, when a document is uploaded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51560" y="2697480"/>
            <a:ext cx="16002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761488"/>
            <a:ext cx="160020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200" b="1">
                <a:solidFill>
                  <a:srgbClr val="161B26"/>
                </a:solidFill>
                <a:latin typeface="Arial"/>
              </a:defRPr>
            </a:pPr>
            <a:r>
              <a:t>PDF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61488" y="3026664"/>
            <a:ext cx="384048" cy="54864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52928" y="2852928"/>
            <a:ext cx="2743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500" b="1">
                <a:solidFill>
                  <a:srgbClr val="1F6FEB"/>
                </a:solidFill>
                <a:latin typeface="Arial"/>
              </a:defRPr>
            </a:pPr>
            <a:r>
              <a:t>&gt;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80360" y="2697480"/>
            <a:ext cx="16002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80360" y="2761488"/>
            <a:ext cx="160020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200" b="1">
                <a:solidFill>
                  <a:srgbClr val="161B26"/>
                </a:solidFill>
                <a:latin typeface="Arial"/>
              </a:defRPr>
            </a:pPr>
            <a:r>
              <a:t>Split into</a:t>
            </a:r>
            <a:br/>
            <a:r>
              <a:t>chunks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90288" y="3026664"/>
            <a:ext cx="384048" cy="54864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81727" y="2852928"/>
            <a:ext cx="2743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500" b="1">
                <a:solidFill>
                  <a:srgbClr val="1F6FEB"/>
                </a:solidFill>
                <a:latin typeface="Arial"/>
              </a:defRPr>
            </a:pPr>
            <a:r>
              <a:t>&gt;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20640" y="2697480"/>
            <a:ext cx="16002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20640" y="2761488"/>
            <a:ext cx="160020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200" b="1">
                <a:solidFill>
                  <a:srgbClr val="161B26"/>
                </a:solidFill>
                <a:latin typeface="Arial"/>
              </a:defRPr>
            </a:pPr>
            <a:r>
              <a:t>Embed each</a:t>
            </a:r>
            <a:br/>
            <a:r>
              <a:t>chunk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30568" y="3026664"/>
            <a:ext cx="384048" cy="54864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22007" y="2852928"/>
            <a:ext cx="2743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500" b="1">
                <a:solidFill>
                  <a:srgbClr val="1F6FEB"/>
                </a:solidFill>
                <a:latin typeface="Arial"/>
              </a:defRPr>
            </a:pPr>
            <a:r>
              <a:t>&gt;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60920" y="2697480"/>
            <a:ext cx="16002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60920" y="2761488"/>
            <a:ext cx="160020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200" b="1">
                <a:solidFill>
                  <a:srgbClr val="161B26"/>
                </a:solidFill>
                <a:latin typeface="Arial"/>
              </a:defRPr>
            </a:pPr>
            <a:r>
              <a:t>768-dim</a:t>
            </a:r>
            <a:br/>
            <a:r>
              <a:t>vectors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70848" y="3026664"/>
            <a:ext cx="384048" cy="54864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62288" y="2852928"/>
            <a:ext cx="2743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500" b="1">
                <a:solidFill>
                  <a:srgbClr val="1F6FEB"/>
                </a:solidFill>
                <a:latin typeface="Arial"/>
              </a:defRPr>
            </a:pPr>
            <a:r>
              <a:t>&gt;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601200" y="2697480"/>
            <a:ext cx="16002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0" y="2761488"/>
            <a:ext cx="160020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200" b="1">
                <a:solidFill>
                  <a:srgbClr val="161B26"/>
                </a:solidFill>
                <a:latin typeface="Arial"/>
              </a:defRPr>
            </a:pPr>
            <a:r>
              <a:t>Vector</a:t>
            </a:r>
            <a:br/>
            <a:r>
              <a:t>store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" y="3794760"/>
            <a:ext cx="10835640" cy="19659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05840" y="3977639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5840" y="3977639"/>
            <a:ext cx="457200" cy="4572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00200" y="4005072"/>
            <a:ext cx="17373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Arial"/>
              </a:defRPr>
            </a:pPr>
            <a:r>
              <a:t>RETRIEVAL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0" y="4032504"/>
            <a:ext cx="32918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0">
                <a:solidFill>
                  <a:srgbClr val="5B6372"/>
                </a:solidFill>
                <a:latin typeface="Arial"/>
              </a:defRPr>
            </a:pPr>
            <a:r>
              <a:t>runs on EVERY question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51560" y="4617720"/>
            <a:ext cx="16002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51560" y="4681728"/>
            <a:ext cx="160020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200" b="1">
                <a:solidFill>
                  <a:srgbClr val="161B26"/>
                </a:solidFill>
                <a:latin typeface="Arial"/>
              </a:defRPr>
            </a:pPr>
            <a:r>
              <a:t>Question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61488" y="4946904"/>
            <a:ext cx="384048" cy="54864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852928" y="4773168"/>
            <a:ext cx="2743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500" b="1">
                <a:solidFill>
                  <a:srgbClr val="10B981"/>
                </a:solidFill>
                <a:latin typeface="Arial"/>
              </a:defRPr>
            </a:pPr>
            <a:r>
              <a:t>&gt;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880360" y="4617720"/>
            <a:ext cx="16002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880360" y="4681728"/>
            <a:ext cx="160020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200" b="1">
                <a:solidFill>
                  <a:srgbClr val="161B26"/>
                </a:solidFill>
                <a:latin typeface="Arial"/>
              </a:defRPr>
            </a:pPr>
            <a:r>
              <a:t>Embed the</a:t>
            </a:r>
            <a:br/>
            <a:r>
              <a:t>question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90288" y="4946904"/>
            <a:ext cx="384048" cy="54864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681727" y="4773168"/>
            <a:ext cx="2743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500" b="1">
                <a:solidFill>
                  <a:srgbClr val="10B981"/>
                </a:solidFill>
                <a:latin typeface="Arial"/>
              </a:defRPr>
            </a:pPr>
            <a:r>
              <a:t>&gt;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120640" y="4617720"/>
            <a:ext cx="16002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120640" y="4681728"/>
            <a:ext cx="160020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200" b="1">
                <a:solidFill>
                  <a:srgbClr val="161B26"/>
                </a:solidFill>
                <a:latin typeface="Arial"/>
              </a:defRPr>
            </a:pPr>
            <a:r>
              <a:t>Cosine</a:t>
            </a:r>
            <a:br/>
            <a:r>
              <a:t>similarity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830568" y="4946904"/>
            <a:ext cx="384048" cy="54864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922007" y="4773168"/>
            <a:ext cx="2743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500" b="1">
                <a:solidFill>
                  <a:srgbClr val="10B981"/>
                </a:solidFill>
                <a:latin typeface="Arial"/>
              </a:defRPr>
            </a:pPr>
            <a:r>
              <a:t>&gt;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360920" y="4617720"/>
            <a:ext cx="16002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60920" y="4681728"/>
            <a:ext cx="160020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200" b="1">
                <a:solidFill>
                  <a:srgbClr val="161B26"/>
                </a:solidFill>
                <a:latin typeface="Arial"/>
              </a:defRPr>
            </a:pPr>
            <a:r>
              <a:t>Top-k</a:t>
            </a:r>
            <a:br/>
            <a:r>
              <a:t>chunks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070848" y="4946904"/>
            <a:ext cx="384048" cy="54864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162288" y="4773168"/>
            <a:ext cx="2743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500" b="1">
                <a:solidFill>
                  <a:srgbClr val="10B981"/>
                </a:solidFill>
                <a:latin typeface="Arial"/>
              </a:defRPr>
            </a:pPr>
            <a:r>
              <a:t>&gt;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601200" y="4617720"/>
            <a:ext cx="16002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601200" y="4681728"/>
            <a:ext cx="160020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200" b="1">
                <a:solidFill>
                  <a:srgbClr val="161B26"/>
                </a:solidFill>
                <a:latin typeface="Arial"/>
              </a:defRPr>
            </a:pPr>
            <a:r>
              <a:t>Grounded</a:t>
            </a:r>
            <a:br/>
            <a:r>
              <a:t>answer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51560" y="5394960"/>
            <a:ext cx="101498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300" b="0">
                <a:solidFill>
                  <a:srgbClr val="5B6372"/>
                </a:solidFill>
                <a:latin typeface="Arial"/>
              </a:defRPr>
            </a:pPr>
            <a:r>
              <a:t>On the n8n canvas these are the two visible paths: the upload path ending at the vector store, and the chat path reading from it.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02920" y="6428232"/>
            <a:ext cx="11183112" cy="13716"/>
          </a:xfrm>
          <a:prstGeom prst="rect">
            <a:avLst/>
          </a:prstGeom>
          <a:solidFill>
            <a:srgbClr val="DCE5F0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8640" y="6483096"/>
            <a:ext cx="5212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00" b="0">
                <a:solidFill>
                  <a:srgbClr val="5B6372"/>
                </a:solidFill>
                <a:latin typeface="Arial"/>
              </a:defRPr>
            </a:pPr>
            <a:r>
              <a:t>C500 - Voice and Video Agents with n8n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251960" y="6483096"/>
            <a:ext cx="3749039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800" b="0">
                <a:solidFill>
                  <a:srgbClr val="5B6372"/>
                </a:solidFill>
                <a:latin typeface="Arial"/>
              </a:defRPr>
            </a:pPr>
            <a:r>
              <a:t>Copyright 2026 Tertiary Infotech Academy Pte Ltd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109960" y="6483096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800" b="1">
                <a:solidFill>
                  <a:srgbClr val="5B6372"/>
                </a:solidFill>
                <a:latin typeface="Arial"/>
              </a:defRPr>
            </a:pPr>
            <a:r>
              <a:t>014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01752"/>
            <a:ext cx="10972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1">
                <a:solidFill>
                  <a:srgbClr val="1F6FEB"/>
                </a:solidFill>
                <a:latin typeface="Arial"/>
              </a:defRPr>
            </a:pPr>
            <a:r>
              <a:t>RAG - TOKENS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800" b="1">
                <a:solidFill>
                  <a:srgbClr val="161B26"/>
                </a:solidFill>
                <a:latin typeface="Arial"/>
              </a:defRPr>
            </a:pPr>
            <a:r>
              <a:t>Tokenization: How Text Becomes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98448"/>
            <a:ext cx="108813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600" b="0">
                <a:solidFill>
                  <a:srgbClr val="5B6372"/>
                </a:solidFill>
                <a:latin typeface="Arial"/>
              </a:defRPr>
            </a:pPr>
            <a:r>
              <a:t>Models do not read words. They read TOKENS - the sub-word units in the model's vocabulary.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783080"/>
            <a:ext cx="54864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900" b="1">
                <a:solidFill>
                  <a:srgbClr val="161B26"/>
                </a:solidFill>
                <a:latin typeface="Arial"/>
              </a:defRPr>
            </a:pPr>
            <a:r>
              <a:t>“The salon is closed on Sundays.”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2331720"/>
            <a:ext cx="672083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2414016"/>
            <a:ext cx="672083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400" b="1">
                <a:solidFill>
                  <a:srgbClr val="1F6FEB"/>
                </a:solidFill>
                <a:latin typeface="Arial"/>
              </a:defRPr>
            </a:pPr>
            <a:r>
              <a:t>The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513331" y="2331720"/>
            <a:ext cx="1069848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13331" y="2414016"/>
            <a:ext cx="1069848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400" b="1">
                <a:solidFill>
                  <a:srgbClr val="1F6FEB"/>
                </a:solidFill>
                <a:latin typeface="Arial"/>
              </a:defRPr>
            </a:pPr>
            <a:r>
              <a:t>salon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11196" y="2331720"/>
            <a:ext cx="672083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11196" y="2414016"/>
            <a:ext cx="672083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400" b="1">
                <a:solidFill>
                  <a:srgbClr val="1F6FEB"/>
                </a:solidFill>
                <a:latin typeface="Arial"/>
              </a:defRPr>
            </a:pPr>
            <a:r>
              <a:t>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11296" y="2331720"/>
            <a:ext cx="1202436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11296" y="2414016"/>
            <a:ext cx="1202436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400" b="1">
                <a:solidFill>
                  <a:srgbClr val="1F6FEB"/>
                </a:solidFill>
                <a:latin typeface="Arial"/>
              </a:defRPr>
            </a:pPr>
            <a:r>
              <a:t>closed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41748" y="2331720"/>
            <a:ext cx="672083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41748" y="2414016"/>
            <a:ext cx="672083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400" b="1">
                <a:solidFill>
                  <a:srgbClr val="1F6FEB"/>
                </a:solidFill>
                <a:latin typeface="Arial"/>
              </a:defRPr>
            </a:pPr>
            <a:r>
              <a:t>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41848" y="2331720"/>
            <a:ext cx="937259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41848" y="2414016"/>
            <a:ext cx="937259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400" b="1">
                <a:solidFill>
                  <a:srgbClr val="F59E0B"/>
                </a:solidFill>
                <a:latin typeface="Arial"/>
              </a:defRPr>
            </a:pPr>
            <a:r>
              <a:t>Sund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07124" y="2331720"/>
            <a:ext cx="672083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07124" y="2414016"/>
            <a:ext cx="672083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400" b="1">
                <a:solidFill>
                  <a:srgbClr val="F59E0B"/>
                </a:solidFill>
                <a:latin typeface="Arial"/>
              </a:defRPr>
            </a:pPr>
            <a:r>
              <a:t>ays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07223" y="2331720"/>
            <a:ext cx="658368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07223" y="2414016"/>
            <a:ext cx="658368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400" b="1">
                <a:solidFill>
                  <a:srgbClr val="1F6FEB"/>
                </a:solidFill>
                <a:latin typeface="Arial"/>
              </a:defRPr>
            </a:pPr>
            <a:r>
              <a:t>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3017520"/>
            <a:ext cx="68580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300" b="1">
                <a:solidFill>
                  <a:srgbClr val="F59E0B"/>
                </a:solidFill>
                <a:latin typeface="Arial"/>
              </a:defRPr>
            </a:pPr>
            <a:r>
              <a:t>8 tokens  ·  note that “Sundays” split into TWO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3566160"/>
            <a:ext cx="10835640" cy="685800"/>
          </a:xfrm>
          <a:prstGeom prst="round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3611880"/>
            <a:ext cx="10241280" cy="5943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500" b="1">
                <a:solidFill>
                  <a:srgbClr val="7C3AED"/>
                </a:solidFill>
                <a:latin typeface="Arial"/>
              </a:defRPr>
            </a:pPr>
            <a:r>
              <a:t>RULE OF THUMB (English):   1 token ≈ 4 characters ≈ 0.75 of a word   →   1,000 tokens ≈ 750 words ≈ 1.5 pages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526280"/>
            <a:ext cx="34290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85800" y="4526280"/>
            <a:ext cx="3429000" cy="384048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4599432"/>
            <a:ext cx="34290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CONTEXT WINDOW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" y="5029200"/>
            <a:ext cx="3108960" cy="7772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300" b="0">
                <a:solidFill>
                  <a:srgbClr val="5B6372"/>
                </a:solidFill>
                <a:latin typeface="Arial"/>
              </a:defRPr>
            </a:pPr>
            <a:r>
              <a:t>System prompt, retrieved chunks, memory and the question all compete for the SAME token budget.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89120" y="4526280"/>
            <a:ext cx="34290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389120" y="4526280"/>
            <a:ext cx="3429000" cy="384048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89120" y="4599432"/>
            <a:ext cx="34290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COST + LATENCY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53712" y="5029200"/>
            <a:ext cx="3108960" cy="7772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300" b="0">
                <a:solidFill>
                  <a:srgbClr val="5B6372"/>
                </a:solidFill>
                <a:latin typeface="Arial"/>
              </a:defRPr>
            </a:pPr>
            <a:r>
              <a:t>Double the retrieved text and you roughly double the prompt cost of every call.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92440" y="4526280"/>
            <a:ext cx="34290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092440" y="4526280"/>
            <a:ext cx="3429000" cy="384048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92440" y="4599432"/>
            <a:ext cx="34290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CHUNK SIZE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57031" y="5029200"/>
            <a:ext cx="3108960" cy="7772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300" b="0">
                <a:solidFill>
                  <a:srgbClr val="5B6372"/>
                </a:solidFill>
                <a:latin typeface="Arial"/>
              </a:defRPr>
            </a:pPr>
            <a:r>
              <a:t>Chunks are measured in tokens. This is the number you tune in Lab 2.4.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2920" y="6428232"/>
            <a:ext cx="11183112" cy="13716"/>
          </a:xfrm>
          <a:prstGeom prst="rect">
            <a:avLst/>
          </a:prstGeom>
          <a:solidFill>
            <a:srgbClr val="DCE5F0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6483096"/>
            <a:ext cx="5212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00" b="0">
                <a:solidFill>
                  <a:srgbClr val="5B6372"/>
                </a:solidFill>
                <a:latin typeface="Arial"/>
              </a:defRPr>
            </a:pPr>
            <a:r>
              <a:t>C500 - Voice and Video Agents with n8n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51960" y="6483096"/>
            <a:ext cx="3749039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800" b="0">
                <a:solidFill>
                  <a:srgbClr val="5B6372"/>
                </a:solidFill>
                <a:latin typeface="Arial"/>
              </a:defRPr>
            </a:pPr>
            <a:r>
              <a:t>Copyright 2026 Tertiary Infotech Academy Pte Ltd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109960" y="6483096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800" b="1">
                <a:solidFill>
                  <a:srgbClr val="5B6372"/>
                </a:solidFill>
                <a:latin typeface="Arial"/>
              </a:defRPr>
            </a:pPr>
            <a:r>
              <a:t>015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01752"/>
            <a:ext cx="10972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1">
                <a:solidFill>
                  <a:srgbClr val="1F6FEB"/>
                </a:solidFill>
                <a:latin typeface="Arial"/>
              </a:defRPr>
            </a:pPr>
            <a:r>
              <a:t>RAG - EMBEDDINGS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800" b="1">
                <a:solidFill>
                  <a:srgbClr val="161B26"/>
                </a:solidFill>
                <a:latin typeface="Arial"/>
              </a:defRPr>
            </a:pPr>
            <a:r>
              <a:t>Embeddings: Meaning as Coordinates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80160"/>
            <a:ext cx="108813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500" b="0">
                <a:solidFill>
                  <a:srgbClr val="5B6372"/>
                </a:solidFill>
                <a:latin typeface="Arial"/>
              </a:defRPr>
            </a:pPr>
            <a:r>
              <a:t>An embedding turns ANY text into a fixed-length vector. Here: nomic-embed-text (Ollama) → 768 numbers.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783080"/>
            <a:ext cx="49377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83664"/>
            <a:ext cx="4572000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500" b="1">
                <a:solidFill>
                  <a:srgbClr val="161B26"/>
                </a:solidFill>
                <a:latin typeface="Arial"/>
              </a:defRPr>
            </a:pPr>
            <a:r>
              <a:t>“How do I reset my password?”</a:t>
            </a:r>
          </a:p>
        </p:txBody>
      </p:sp>
      <p:sp>
        <p:nvSpPr>
          <p:cNvPr id="7" name="Rectangle 6"/>
          <p:cNvSpPr/>
          <p:nvPr/>
        </p:nvSpPr>
        <p:spPr>
          <a:xfrm>
            <a:off x="5760720" y="2084831"/>
            <a:ext cx="384048" cy="54864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52159" y="1911095"/>
            <a:ext cx="2743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500" b="1">
                <a:solidFill>
                  <a:srgbClr val="1F6FEB"/>
                </a:solidFill>
                <a:latin typeface="Arial"/>
              </a:defRPr>
            </a:pPr>
            <a:r>
              <a:t>&gt;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783080"/>
            <a:ext cx="5120640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883664"/>
            <a:ext cx="4754880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400" b="1">
                <a:solidFill>
                  <a:srgbClr val="1F6FEB"/>
                </a:solidFill>
                <a:latin typeface="Arial"/>
              </a:defRPr>
            </a:pPr>
            <a:r>
              <a:t>[ 0.021, -0.118, 0.334, … ]   768 numbers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606040"/>
            <a:ext cx="108813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600" b="1">
                <a:solidFill>
                  <a:srgbClr val="7C3AED"/>
                </a:solidFill>
                <a:latin typeface="Arial"/>
              </a:defRPr>
            </a:pPr>
            <a:r>
              <a:t>Texts with similar MEANING land close together - even with zero words in common.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063240"/>
            <a:ext cx="758952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154680"/>
            <a:ext cx="7315200" cy="4572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400" b="0">
                <a:solidFill>
                  <a:srgbClr val="161B26"/>
                </a:solidFill>
                <a:latin typeface="Arial"/>
              </a:defRPr>
            </a:pPr>
            <a:r>
              <a:t>“reset my password”  vs  “I forgot my login credentials”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58200" y="3063240"/>
            <a:ext cx="1188720" cy="658368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58200" y="3209544"/>
            <a:ext cx="118872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rial"/>
              </a:defRPr>
            </a:pPr>
            <a:r>
              <a:t>0.89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29800" y="3154680"/>
            <a:ext cx="182880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  <a:latin typeface="Arial"/>
              </a:defRPr>
            </a:pPr>
            <a:r>
              <a:t>NEAR - no shared words, same meaning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904488"/>
            <a:ext cx="758952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995928"/>
            <a:ext cx="7315200" cy="4572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400" b="0">
                <a:solidFill>
                  <a:srgbClr val="161B26"/>
                </a:solidFill>
                <a:latin typeface="Arial"/>
              </a:defRPr>
            </a:pPr>
            <a:r>
              <a:t>“reset my password”  vs  “what are your opening hours?”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58200" y="3904488"/>
            <a:ext cx="1188720" cy="658368"/>
          </a:xfrm>
          <a:prstGeom prst="roundRect">
            <a:avLst/>
          </a:prstGeom>
          <a:solidFill>
            <a:srgbClr val="E25555"/>
          </a:solidFill>
          <a:ln>
            <a:solidFill>
              <a:srgbClr val="E2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58200" y="4050792"/>
            <a:ext cx="118872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rial"/>
              </a:defRPr>
            </a:pPr>
            <a:r>
              <a:t>0.11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29800" y="3995928"/>
            <a:ext cx="182880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100" b="1">
                <a:solidFill>
                  <a:srgbClr val="E25555"/>
                </a:solidFill>
                <a:latin typeface="Arial"/>
              </a:defRPr>
            </a:pPr>
            <a:r>
              <a:t>FAR - unrelated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754880"/>
            <a:ext cx="108813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300" b="0">
                <a:solidFill>
                  <a:srgbClr val="5B6372"/>
                </a:solidFill>
                <a:latin typeface="Arial"/>
              </a:defRPr>
            </a:pPr>
            <a:r>
              <a:t>Cosine similarity:  1.0 = same direction/meaning   ·   0.0 = unrelated   ·   -1.0 = opposite. Retrieval returns the top-k nearest chunks (k is usually 3-5).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5193792"/>
            <a:ext cx="10835640" cy="731520"/>
          </a:xfrm>
          <a:prstGeom prst="round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5303520"/>
            <a:ext cx="103327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400" b="1">
                <a:solidFill>
                  <a:srgbClr val="E25555"/>
                </a:solidFill>
                <a:latin typeface="Arial"/>
              </a:defRPr>
            </a:pPr>
            <a:r>
              <a:t>TWO RULES THAT CAUSE REAL BUGS:   Questions and documents MUST use the same embedding model · A vector store answers only “what is near this vector?” - not SQL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6428232"/>
            <a:ext cx="11183112" cy="13716"/>
          </a:xfrm>
          <a:prstGeom prst="rect">
            <a:avLst/>
          </a:prstGeom>
          <a:solidFill>
            <a:srgbClr val="DCE5F0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6483096"/>
            <a:ext cx="5212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00" b="0">
                <a:solidFill>
                  <a:srgbClr val="5B6372"/>
                </a:solidFill>
                <a:latin typeface="Arial"/>
              </a:defRPr>
            </a:pPr>
            <a:r>
              <a:t>C500 - Voice and Video Agents with n8n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60" y="6483096"/>
            <a:ext cx="3749039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800" b="0">
                <a:solidFill>
                  <a:srgbClr val="5B6372"/>
                </a:solidFill>
                <a:latin typeface="Arial"/>
              </a:defRPr>
            </a:pPr>
            <a:r>
              <a:t>Copyright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09960" y="6483096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800" b="1">
                <a:solidFill>
                  <a:srgbClr val="5B6372"/>
                </a:solidFill>
                <a:latin typeface="Arial"/>
              </a:defRPr>
            </a:pPr>
            <a:r>
              <a:t>016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01752"/>
            <a:ext cx="10972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1">
                <a:solidFill>
                  <a:srgbClr val="1F6FEB"/>
                </a:solidFill>
                <a:latin typeface="Arial"/>
              </a:defRPr>
            </a:pPr>
            <a:r>
              <a:t>RAG - CHUNKING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800" b="1">
                <a:solidFill>
                  <a:srgbClr val="161B26"/>
                </a:solidFill>
                <a:latin typeface="Arial"/>
              </a:defRPr>
            </a:pPr>
            <a:r>
              <a:t>Chunking: The Trade-off You Must Measure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98448"/>
            <a:ext cx="1088136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500" b="0">
                <a:solidFill>
                  <a:srgbClr val="5B6372"/>
                </a:solidFill>
                <a:latin typeface="Arial"/>
              </a:defRPr>
            </a:pPr>
            <a:r>
              <a:t>You cannot embed a 40-page PDF as one vector - the detail would be averaged away. So documents are split into chunks (e.g. 800 characters) with an overlap (e.g. 100) so a sentence cut in half still appears whole somewhere.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11680"/>
            <a:ext cx="5257800" cy="26517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2011680"/>
            <a:ext cx="5257800" cy="457200"/>
          </a:xfrm>
          <a:prstGeom prst="roundRect">
            <a:avLst/>
          </a:prstGeom>
          <a:solidFill>
            <a:srgbClr val="E25555"/>
          </a:solidFill>
          <a:ln>
            <a:solidFill>
              <a:srgbClr val="E2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112264"/>
            <a:ext cx="52578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CHUNKS TOO SMALL</a:t>
            </a:r>
          </a:p>
        </p:txBody>
      </p:sp>
      <p:sp>
        <p:nvSpPr>
          <p:cNvPr id="8" name="Oval 7"/>
          <p:cNvSpPr/>
          <p:nvPr/>
        </p:nvSpPr>
        <p:spPr>
          <a:xfrm>
            <a:off x="1005840" y="2670048"/>
            <a:ext cx="237744" cy="237744"/>
          </a:xfrm>
          <a:prstGeom prst="ellipse">
            <a:avLst/>
          </a:prstGeom>
          <a:solidFill>
            <a:srgbClr val="E2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670048"/>
            <a:ext cx="237744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99032" y="2651760"/>
            <a:ext cx="438912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300" b="0">
                <a:solidFill>
                  <a:srgbClr val="161B26"/>
                </a:solidFill>
                <a:latin typeface="Arial"/>
              </a:defRPr>
            </a:pPr>
            <a:r>
              <a:t>Retrieved passage lacks context</a:t>
            </a:r>
          </a:p>
        </p:txBody>
      </p:sp>
      <p:sp>
        <p:nvSpPr>
          <p:cNvPr id="11" name="Oval 10"/>
          <p:cNvSpPr/>
          <p:nvPr/>
        </p:nvSpPr>
        <p:spPr>
          <a:xfrm>
            <a:off x="1005840" y="3145536"/>
            <a:ext cx="237744" cy="237744"/>
          </a:xfrm>
          <a:prstGeom prst="ellipse">
            <a:avLst/>
          </a:prstGeom>
          <a:solidFill>
            <a:srgbClr val="E2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145536"/>
            <a:ext cx="237744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99032" y="3127248"/>
            <a:ext cx="438912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300" b="0">
                <a:solidFill>
                  <a:srgbClr val="161B26"/>
                </a:solidFill>
                <a:latin typeface="Arial"/>
              </a:defRPr>
            </a:pPr>
            <a:r>
              <a:t>The model sees half an answer</a:t>
            </a:r>
          </a:p>
        </p:txBody>
      </p:sp>
      <p:sp>
        <p:nvSpPr>
          <p:cNvPr id="14" name="Oval 13"/>
          <p:cNvSpPr/>
          <p:nvPr/>
        </p:nvSpPr>
        <p:spPr>
          <a:xfrm>
            <a:off x="1005840" y="3621024"/>
            <a:ext cx="237744" cy="237744"/>
          </a:xfrm>
          <a:prstGeom prst="ellipse">
            <a:avLst/>
          </a:prstGeom>
          <a:solidFill>
            <a:srgbClr val="E2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621024"/>
            <a:ext cx="237744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99032" y="3602736"/>
            <a:ext cx="438912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300" b="0">
                <a:solidFill>
                  <a:srgbClr val="161B26"/>
                </a:solidFill>
                <a:latin typeface="Arial"/>
              </a:defRPr>
            </a:pPr>
            <a:r>
              <a:t>High precision, low recall</a:t>
            </a:r>
          </a:p>
        </p:txBody>
      </p:sp>
      <p:sp>
        <p:nvSpPr>
          <p:cNvPr id="17" name="Oval 16"/>
          <p:cNvSpPr/>
          <p:nvPr/>
        </p:nvSpPr>
        <p:spPr>
          <a:xfrm>
            <a:off x="1005840" y="4096512"/>
            <a:ext cx="237744" cy="237744"/>
          </a:xfrm>
          <a:prstGeom prst="ellipse">
            <a:avLst/>
          </a:prstGeom>
          <a:solidFill>
            <a:srgbClr val="E2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096512"/>
            <a:ext cx="237744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99032" y="4078224"/>
            <a:ext cx="438912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300" b="0">
                <a:solidFill>
                  <a:srgbClr val="161B26"/>
                </a:solidFill>
                <a:latin typeface="Arial"/>
              </a:defRPr>
            </a:pPr>
            <a:r>
              <a:t>“The document does not say” - when it does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2011680"/>
            <a:ext cx="5257800" cy="26517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263640" y="2011680"/>
            <a:ext cx="5257800" cy="457200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63640" y="2112264"/>
            <a:ext cx="52578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CHUNKS TOO LARGE</a:t>
            </a:r>
          </a:p>
        </p:txBody>
      </p:sp>
      <p:sp>
        <p:nvSpPr>
          <p:cNvPr id="23" name="Oval 22"/>
          <p:cNvSpPr/>
          <p:nvPr/>
        </p:nvSpPr>
        <p:spPr>
          <a:xfrm>
            <a:off x="6583679" y="2670048"/>
            <a:ext cx="237744" cy="23774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79" y="2670048"/>
            <a:ext cx="237744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76872" y="2651760"/>
            <a:ext cx="438912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300" b="0">
                <a:solidFill>
                  <a:srgbClr val="161B26"/>
                </a:solidFill>
                <a:latin typeface="Arial"/>
              </a:defRPr>
            </a:pPr>
            <a:r>
              <a:t>Answer arrives with 3 irrelevant sections</a:t>
            </a:r>
          </a:p>
        </p:txBody>
      </p:sp>
      <p:sp>
        <p:nvSpPr>
          <p:cNvPr id="26" name="Oval 25"/>
          <p:cNvSpPr/>
          <p:nvPr/>
        </p:nvSpPr>
        <p:spPr>
          <a:xfrm>
            <a:off x="6583679" y="3145536"/>
            <a:ext cx="237744" cy="23774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79" y="3145536"/>
            <a:ext cx="237744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76872" y="3127248"/>
            <a:ext cx="438912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300" b="0">
                <a:solidFill>
                  <a:srgbClr val="161B26"/>
                </a:solidFill>
                <a:latin typeface="Arial"/>
              </a:defRPr>
            </a:pPr>
            <a:r>
              <a:t>The model gets distracted, cites the wrong part</a:t>
            </a:r>
          </a:p>
        </p:txBody>
      </p:sp>
      <p:sp>
        <p:nvSpPr>
          <p:cNvPr id="29" name="Oval 28"/>
          <p:cNvSpPr/>
          <p:nvPr/>
        </p:nvSpPr>
        <p:spPr>
          <a:xfrm>
            <a:off x="6583679" y="3621024"/>
            <a:ext cx="237744" cy="23774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79" y="3621024"/>
            <a:ext cx="237744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76872" y="3602736"/>
            <a:ext cx="438912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300" b="0">
                <a:solidFill>
                  <a:srgbClr val="161B26"/>
                </a:solidFill>
                <a:latin typeface="Arial"/>
              </a:defRPr>
            </a:pPr>
            <a:r>
              <a:t>High recall, low precision</a:t>
            </a:r>
          </a:p>
        </p:txBody>
      </p:sp>
      <p:sp>
        <p:nvSpPr>
          <p:cNvPr id="32" name="Oval 31"/>
          <p:cNvSpPr/>
          <p:nvPr/>
        </p:nvSpPr>
        <p:spPr>
          <a:xfrm>
            <a:off x="6583679" y="4096512"/>
            <a:ext cx="237744" cy="23774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79" y="4096512"/>
            <a:ext cx="237744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76872" y="4078224"/>
            <a:ext cx="438912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300" b="0">
                <a:solidFill>
                  <a:srgbClr val="161B26"/>
                </a:solidFill>
                <a:latin typeface="Arial"/>
              </a:defRPr>
            </a:pPr>
            <a:r>
              <a:t>Tokens - and money - are wasted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85800" y="4846320"/>
            <a:ext cx="10835640" cy="1051560"/>
          </a:xfrm>
          <a:prstGeom prst="round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05840" y="4983480"/>
            <a:ext cx="38404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500" b="1">
                <a:solidFill>
                  <a:srgbClr val="7C3AED"/>
                </a:solidFill>
                <a:latin typeface="Arial"/>
              </a:defRPr>
            </a:pPr>
            <a:r>
              <a:t>There is no universally correct value.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" y="5257800"/>
            <a:ext cx="1024128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400" b="1">
                <a:solidFill>
                  <a:srgbClr val="161B26"/>
                </a:solidFill>
                <a:latin typeface="Arial"/>
              </a:defRPr>
            </a:pPr>
            <a:r>
              <a:t>That is why Lab 2.4 MEASURES it with golden questions instead of guessing. And when an answer is wrong: read the RETRIEVED CHUNKS first - if the right chunk never came back, no prompt rewrite will save it.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" y="6428232"/>
            <a:ext cx="11183112" cy="13716"/>
          </a:xfrm>
          <a:prstGeom prst="rect">
            <a:avLst/>
          </a:prstGeom>
          <a:solidFill>
            <a:srgbClr val="DCE5F0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6483096"/>
            <a:ext cx="5212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00" b="0">
                <a:solidFill>
                  <a:srgbClr val="5B6372"/>
                </a:solidFill>
                <a:latin typeface="Arial"/>
              </a:defRPr>
            </a:pPr>
            <a:r>
              <a:t>C500 - Voice and Video Agents with n8n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51960" y="6483096"/>
            <a:ext cx="3749039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800" b="0">
                <a:solidFill>
                  <a:srgbClr val="5B6372"/>
                </a:solidFill>
                <a:latin typeface="Arial"/>
              </a:defRPr>
            </a:pPr>
            <a:r>
              <a:t>Copyright 2026 Tertiary Infotech Academy Pte Ltd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109960" y="6483096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800" b="1">
                <a:solidFill>
                  <a:srgbClr val="5B6372"/>
                </a:solidFill>
                <a:latin typeface="Arial"/>
              </a:defRPr>
            </a:pPr>
            <a:r>
              <a:t>017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01752"/>
            <a:ext cx="10972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1">
                <a:solidFill>
                  <a:srgbClr val="1F6FEB"/>
                </a:solidFill>
                <a:latin typeface="Arial"/>
              </a:defRPr>
            </a:pPr>
            <a:r>
              <a:t>BUILD TARGET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800" b="1">
                <a:solidFill>
                  <a:srgbClr val="161B26"/>
                </a:solidFill>
                <a:latin typeface="Arial"/>
              </a:defRPr>
            </a:pPr>
            <a:r>
              <a:t>Lab 0: Set Up n8n Locally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417320"/>
            <a:ext cx="7360920" cy="3246120"/>
          </a:xfrm>
          <a:prstGeom prst="round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4400" y="1755648"/>
            <a:ext cx="1078992" cy="107899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55648"/>
            <a:ext cx="1078992" cy="10789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Arial"/>
              </a:defRPr>
            </a:pPr>
            <a:r>
              <a:t>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31720" y="1719072"/>
            <a:ext cx="21945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1">
                <a:solidFill>
                  <a:srgbClr val="1F6FEB"/>
                </a:solidFill>
                <a:latin typeface="Arial"/>
              </a:defRPr>
            </a:pPr>
            <a:r>
              <a:t>YOU WILL BUILD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31720" y="2048256"/>
            <a:ext cx="5074920" cy="131673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2000" b="1">
                <a:solidFill>
                  <a:srgbClr val="161B26"/>
                </a:solidFill>
                <a:latin typeface="Arial"/>
              </a:defRPr>
            </a:pPr>
            <a:r>
              <a:t>A working local stack: Docker running n8n and Postgres, Ollama serving gemma4 and nomic-embed-text, all talking to each other.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1720" y="3474720"/>
            <a:ext cx="19202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  <a:latin typeface="Arial"/>
              </a:defRPr>
            </a:pPr>
            <a:r>
              <a:t>DELIVERABLE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3822191"/>
            <a:ext cx="507492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500" b="0">
                <a:solidFill>
                  <a:srgbClr val="5B6372"/>
                </a:solidFill>
                <a:latin typeface="Arial"/>
              </a:defRPr>
            </a:pPr>
            <a:r>
              <a:t>A running local stack: screenshots of docker compose ps, ollama list and the passing credential test.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02752" y="1417320"/>
            <a:ext cx="32918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02752" y="1417320"/>
            <a:ext cx="73152" cy="96012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540496" y="1636776"/>
            <a:ext cx="438912" cy="43891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40496" y="1636776"/>
            <a:ext cx="438912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07424" y="1554480"/>
            <a:ext cx="226771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600" b="1">
                <a:solidFill>
                  <a:srgbClr val="161B26"/>
                </a:solidFill>
                <a:latin typeface="Arial"/>
              </a:defRPr>
            </a:pPr>
            <a:r>
              <a:t>TIMEBOX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07424" y="1920240"/>
            <a:ext cx="2267712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0">
                <a:solidFill>
                  <a:srgbClr val="5B6372"/>
                </a:solidFill>
                <a:latin typeface="Arial"/>
              </a:defRPr>
            </a:pPr>
            <a:r>
              <a:t>45 minutes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02752" y="2606040"/>
            <a:ext cx="32918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302752" y="2606040"/>
            <a:ext cx="73152" cy="96012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540496" y="2825496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40496" y="2825496"/>
            <a:ext cx="438912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07424" y="2743200"/>
            <a:ext cx="226771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600" b="1">
                <a:solidFill>
                  <a:srgbClr val="161B26"/>
                </a:solidFill>
                <a:latin typeface="Arial"/>
              </a:defRPr>
            </a:pPr>
            <a:r>
              <a:t>MODE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07424" y="3108960"/>
            <a:ext cx="2267712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0">
                <a:solidFill>
                  <a:srgbClr val="5B6372"/>
                </a:solidFill>
                <a:latin typeface="Arial"/>
              </a:defRPr>
            </a:pPr>
            <a:r>
              <a:t>Demo, guided build, independent test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302752" y="3794760"/>
            <a:ext cx="32918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302752" y="3794760"/>
            <a:ext cx="73152" cy="96012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540496" y="4014216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40496" y="4014216"/>
            <a:ext cx="438912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07424" y="3931920"/>
            <a:ext cx="226771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600" b="1">
                <a:solidFill>
                  <a:srgbClr val="161B26"/>
                </a:solidFill>
                <a:latin typeface="Arial"/>
              </a:defRPr>
            </a:pPr>
            <a:r>
              <a:t>EVIDENCE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07424" y="4297680"/>
            <a:ext cx="2267712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0">
                <a:solidFill>
                  <a:srgbClr val="5B6372"/>
                </a:solidFill>
                <a:latin typeface="Arial"/>
              </a:defRPr>
            </a:pPr>
            <a:r>
              <a:t>Execution trace plus learner artifact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5230368"/>
            <a:ext cx="731520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000" b="1">
                <a:solidFill>
                  <a:srgbClr val="7C3AED"/>
                </a:solidFill>
                <a:latin typeface="Arial"/>
              </a:defRPr>
            </a:pPr>
            <a:r>
              <a:t>Success is demonstrated, not assumed.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6428232"/>
            <a:ext cx="11183112" cy="13716"/>
          </a:xfrm>
          <a:prstGeom prst="rect">
            <a:avLst/>
          </a:prstGeom>
          <a:solidFill>
            <a:srgbClr val="DCE5F0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6483096"/>
            <a:ext cx="5212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00" b="0">
                <a:solidFill>
                  <a:srgbClr val="5B6372"/>
                </a:solidFill>
                <a:latin typeface="Arial"/>
              </a:defRPr>
            </a:pPr>
            <a:r>
              <a:t>C500 - Voice and Video Agents with n8n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6483096"/>
            <a:ext cx="3749039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800" b="0">
                <a:solidFill>
                  <a:srgbClr val="5B6372"/>
                </a:solidFill>
                <a:latin typeface="Arial"/>
              </a:defRPr>
            </a:pPr>
            <a:r>
              <a:t>Copyright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09960" y="6483096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800" b="1">
                <a:solidFill>
                  <a:srgbClr val="5B6372"/>
                </a:solidFill>
                <a:latin typeface="Arial"/>
              </a:defRPr>
            </a:pPr>
            <a:r>
              <a:t>018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01752"/>
            <a:ext cx="10972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1">
                <a:solidFill>
                  <a:srgbClr val="1F6FEB"/>
                </a:solidFill>
                <a:latin typeface="Arial"/>
              </a:defRPr>
            </a:pPr>
            <a:r>
              <a:t>CONCEPT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800" b="1">
                <a:solidFill>
                  <a:srgbClr val="161B26"/>
                </a:solidFill>
                <a:latin typeface="Arial"/>
              </a:defRPr>
            </a:pPr>
            <a:r>
              <a:t>Lab 0: Four Ideas That Make It Work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" y="1389888"/>
            <a:ext cx="5349240" cy="1901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1792" y="1389888"/>
            <a:ext cx="73152" cy="190195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59536" y="1609344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609344"/>
            <a:ext cx="438912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26464" y="1591056"/>
            <a:ext cx="432511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700" b="1">
                <a:solidFill>
                  <a:srgbClr val="161B26"/>
                </a:solidFill>
                <a:latin typeface="Arial"/>
              </a:defRPr>
            </a:pPr>
            <a:r>
              <a:t>Docker Compose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048256"/>
            <a:ext cx="4846320" cy="10789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400" b="0">
                <a:solidFill>
                  <a:srgbClr val="5B6372"/>
                </a:solidFill>
                <a:latin typeface="Arial"/>
              </a:defRPr>
            </a:pPr>
            <a:r>
              <a:t>One file starts n8n and Postgres as a repeatable local stack.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389888"/>
            <a:ext cx="5349240" cy="1901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99632" y="1389888"/>
            <a:ext cx="73152" cy="19019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37376" y="1609344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37376" y="1609344"/>
            <a:ext cx="438912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4304" y="1591056"/>
            <a:ext cx="432511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700" b="1">
                <a:solidFill>
                  <a:srgbClr val="161B26"/>
                </a:solidFill>
                <a:latin typeface="Arial"/>
              </a:defRPr>
            </a:pPr>
            <a:r>
              <a:t>Ollama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2" y="2048256"/>
            <a:ext cx="4846320" cy="10789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400" b="0">
                <a:solidFill>
                  <a:srgbClr val="5B6372"/>
                </a:solidFill>
                <a:latin typeface="Arial"/>
              </a:defRPr>
            </a:pPr>
            <a:r>
              <a:t>Runs the chat model (gemma4) and the embedding model on your machine - free, offline, private.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" y="3675887"/>
            <a:ext cx="5349240" cy="1901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" y="3675887"/>
            <a:ext cx="73152" cy="1901952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59536" y="3895344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6" y="3895344"/>
            <a:ext cx="438912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26464" y="3877055"/>
            <a:ext cx="432511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700" b="1">
                <a:solidFill>
                  <a:srgbClr val="161B26"/>
                </a:solidFill>
                <a:latin typeface="Arial"/>
              </a:defRPr>
            </a:pPr>
            <a:r>
              <a:t>host.docker.internal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" y="4334255"/>
            <a:ext cx="4846320" cy="10789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400" b="0">
                <a:solidFill>
                  <a:srgbClr val="5B6372"/>
                </a:solidFill>
                <a:latin typeface="Arial"/>
              </a:defRPr>
            </a:pPr>
            <a:r>
              <a:t>How n8n inside a container reaches Ollama on the host. Inside the container, localhost means the container itself.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9632" y="3675887"/>
            <a:ext cx="5349240" cy="1901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99632" y="3675887"/>
            <a:ext cx="73152" cy="19019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37376" y="3895344"/>
            <a:ext cx="438912" cy="43891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37376" y="3895344"/>
            <a:ext cx="438912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04304" y="3877055"/>
            <a:ext cx="432511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700" b="1">
                <a:solidFill>
                  <a:srgbClr val="161B26"/>
                </a:solidFill>
                <a:latin typeface="Arial"/>
              </a:defRPr>
            </a:pPr>
            <a:r>
              <a:t>The Active rule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73952" y="4334255"/>
            <a:ext cx="4846320" cy="10789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400" b="0">
                <a:solidFill>
                  <a:srgbClr val="5B6372"/>
                </a:solidFill>
                <a:latin typeface="Arial"/>
              </a:defRPr>
            </a:pPr>
            <a:r>
              <a:t>A production /webhook/ path exists only when a workflow is switched Active. Inactive means 404, every time.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5806440"/>
            <a:ext cx="80467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600" b="0">
                <a:solidFill>
                  <a:srgbClr val="5B6372"/>
                </a:solidFill>
                <a:latin typeface="Arial"/>
              </a:defRPr>
            </a:pPr>
            <a:r>
              <a:t>Connect the four ideas before touching the workflow canvas.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6428232"/>
            <a:ext cx="11183112" cy="13716"/>
          </a:xfrm>
          <a:prstGeom prst="rect">
            <a:avLst/>
          </a:prstGeom>
          <a:solidFill>
            <a:srgbClr val="DCE5F0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6483096"/>
            <a:ext cx="5212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00" b="0">
                <a:solidFill>
                  <a:srgbClr val="5B6372"/>
                </a:solidFill>
                <a:latin typeface="Arial"/>
              </a:defRPr>
            </a:pPr>
            <a:r>
              <a:t>C500 - Voice and Video Agents with n8n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51960" y="6483096"/>
            <a:ext cx="3749039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800" b="0">
                <a:solidFill>
                  <a:srgbClr val="5B6372"/>
                </a:solidFill>
                <a:latin typeface="Arial"/>
              </a:defRPr>
            </a:pPr>
            <a:r>
              <a:t>Copyright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09960" y="6483096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800" b="1">
                <a:solidFill>
                  <a:srgbClr val="5B6372"/>
                </a:solidFill>
                <a:latin typeface="Arial"/>
              </a:defRPr>
            </a:pPr>
            <a:r>
              <a:t>019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01752"/>
            <a:ext cx="10972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1">
                <a:solidFill>
                  <a:srgbClr val="1F6FEB"/>
                </a:solidFill>
                <a:latin typeface="Arial"/>
              </a:defRPr>
            </a:pPr>
            <a:r>
              <a:t>WORKFLOW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800" b="1">
                <a:solidFill>
                  <a:srgbClr val="161B26"/>
                </a:solidFill>
                <a:latin typeface="Arial"/>
              </a:defRPr>
            </a:pPr>
            <a:r>
              <a:t>Lab 0: Build Sequence</a:t>
            </a:r>
          </a:p>
        </p:txBody>
      </p:sp>
      <p:sp>
        <p:nvSpPr>
          <p:cNvPr id="4" name="Oval 3"/>
          <p:cNvSpPr/>
          <p:nvPr/>
        </p:nvSpPr>
        <p:spPr>
          <a:xfrm>
            <a:off x="658368" y="1463039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463039"/>
            <a:ext cx="53035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08176" y="1325880"/>
            <a:ext cx="4690872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8488" y="1417320"/>
            <a:ext cx="4279392" cy="11887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200" b="0">
                <a:solidFill>
                  <a:srgbClr val="161B26"/>
                </a:solidFill>
                <a:latin typeface="Arial"/>
              </a:defRPr>
            </a:pPr>
            <a:r>
              <a:t>Install Docker Desktop and Ollama (macOS: brew, Windows: winget), then launch Docker and wait for the whale to settle.</a:t>
            </a:r>
          </a:p>
        </p:txBody>
      </p:sp>
      <p:sp>
        <p:nvSpPr>
          <p:cNvPr id="8" name="Oval 7"/>
          <p:cNvSpPr/>
          <p:nvPr/>
        </p:nvSpPr>
        <p:spPr>
          <a:xfrm>
            <a:off x="6373368" y="1463039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73368" y="1463039"/>
            <a:ext cx="53035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23176" y="1325880"/>
            <a:ext cx="4690872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33488" y="1417320"/>
            <a:ext cx="4279392" cy="11887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200" b="0">
                <a:solidFill>
                  <a:srgbClr val="161B26"/>
                </a:solidFill>
                <a:latin typeface="Arial"/>
              </a:defRPr>
            </a:pPr>
            <a:r>
              <a:t>From labs_local_n8n/lab0, run docker compose pull, then docker compose up -d, and confirm both containers with docker compose ps.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309067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3090672"/>
            <a:ext cx="53035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08176" y="2953512"/>
            <a:ext cx="4690872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18488" y="3044952"/>
            <a:ext cx="4279392" cy="11887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200" b="0">
                <a:solidFill>
                  <a:srgbClr val="161B26"/>
                </a:solidFill>
                <a:latin typeface="Arial"/>
              </a:defRPr>
            </a:pPr>
            <a:r>
              <a:t>Pull the two models: ollama pull gemma4 and ollama pull nomic-embed-text, then confirm both appear in ollama list.</a:t>
            </a:r>
          </a:p>
        </p:txBody>
      </p:sp>
      <p:sp>
        <p:nvSpPr>
          <p:cNvPr id="16" name="Oval 15"/>
          <p:cNvSpPr/>
          <p:nvPr/>
        </p:nvSpPr>
        <p:spPr>
          <a:xfrm>
            <a:off x="6373368" y="309067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73368" y="3090672"/>
            <a:ext cx="53035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23176" y="2953512"/>
            <a:ext cx="4690872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33488" y="3044952"/>
            <a:ext cx="4279392" cy="11887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200" b="0">
                <a:solidFill>
                  <a:srgbClr val="161B26"/>
                </a:solidFill>
                <a:latin typeface="Arial"/>
              </a:defRPr>
            </a:pPr>
            <a:r>
              <a:t>Open http://localhost:5678 and create the n8n owner account. It is local only, and there is no password reset - write it down.</a:t>
            </a:r>
          </a:p>
        </p:txBody>
      </p:sp>
      <p:sp>
        <p:nvSpPr>
          <p:cNvPr id="20" name="Oval 19"/>
          <p:cNvSpPr/>
          <p:nvPr/>
        </p:nvSpPr>
        <p:spPr>
          <a:xfrm>
            <a:off x="658368" y="4718304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4718304"/>
            <a:ext cx="53035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408176" y="4581144"/>
            <a:ext cx="4690872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18488" y="4672583"/>
            <a:ext cx="4279392" cy="11887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200" b="0">
                <a:solidFill>
                  <a:srgbClr val="161B26"/>
                </a:solidFill>
                <a:latin typeface="Arial"/>
              </a:defRPr>
            </a:pPr>
            <a:r>
              <a:t>Create an Ollama credential named Ollama local with base URL http://host.docker.internal:11434, and press Test.</a:t>
            </a:r>
          </a:p>
        </p:txBody>
      </p:sp>
      <p:sp>
        <p:nvSpPr>
          <p:cNvPr id="24" name="Oval 23"/>
          <p:cNvSpPr/>
          <p:nvPr/>
        </p:nvSpPr>
        <p:spPr>
          <a:xfrm>
            <a:off x="6373368" y="4718304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73368" y="4718304"/>
            <a:ext cx="53035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23176" y="4581144"/>
            <a:ext cx="4690872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33488" y="4672583"/>
            <a:ext cx="4279392" cy="11887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200" b="0">
                <a:solidFill>
                  <a:srgbClr val="161B26"/>
                </a:solidFill>
                <a:latin typeface="Arial"/>
              </a:defRPr>
            </a:pPr>
            <a:r>
              <a:t>Learn the everyday commands: docker compose stop to pause, up -d to resume - and never down -v unless you mean to erase every workflow you own.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6053328"/>
            <a:ext cx="59436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500" b="1">
                <a:solidFill>
                  <a:srgbClr val="7C3AED"/>
                </a:solidFill>
                <a:latin typeface="Arial"/>
              </a:defRPr>
            </a:pPr>
            <a:r>
              <a:t>Build one observable behavior at a time.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6428232"/>
            <a:ext cx="11183112" cy="13716"/>
          </a:xfrm>
          <a:prstGeom prst="rect">
            <a:avLst/>
          </a:prstGeom>
          <a:solidFill>
            <a:srgbClr val="DCE5F0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6483096"/>
            <a:ext cx="5212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00" b="0">
                <a:solidFill>
                  <a:srgbClr val="5B6372"/>
                </a:solidFill>
                <a:latin typeface="Arial"/>
              </a:defRPr>
            </a:pPr>
            <a:r>
              <a:t>C500 - Voice and Video Agents with n8n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51960" y="6483096"/>
            <a:ext cx="3749039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800" b="0">
                <a:solidFill>
                  <a:srgbClr val="5B6372"/>
                </a:solidFill>
                <a:latin typeface="Arial"/>
              </a:defRPr>
            </a:pPr>
            <a:r>
              <a:t>Copyright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09960" y="6483096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800" b="1">
                <a:solidFill>
                  <a:srgbClr val="5B6372"/>
                </a:solidFill>
                <a:latin typeface="Arial"/>
              </a:defRPr>
            </a:pPr>
            <a:r>
              <a:t>020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01752"/>
            <a:ext cx="10972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1">
                <a:solidFill>
                  <a:srgbClr val="1F6FEB"/>
                </a:solidFill>
                <a:latin typeface="Arial"/>
              </a:defRPr>
            </a:pPr>
            <a:r>
              <a:t>LAB 0 - SET UP N8N LOCALLY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800" b="1">
                <a:solidFill>
                  <a:srgbClr val="161B26"/>
                </a:solidFill>
                <a:latin typeface="Arial"/>
              </a:defRPr>
            </a:pPr>
            <a:r>
              <a:t>The course workflows imported into local n8n.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667589" y="1271016"/>
            <a:ext cx="6856517" cy="427024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8n-workflow-l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2453" y="1325880"/>
            <a:ext cx="6746789" cy="4160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13232" y="5806440"/>
            <a:ext cx="1078992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500" b="0">
                <a:solidFill>
                  <a:srgbClr val="5B6372"/>
                </a:solidFill>
                <a:latin typeface="Arial"/>
              </a:defRPr>
            </a:pPr>
            <a:r>
              <a:t>The course workflows imported into local n8n.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28232"/>
            <a:ext cx="11183112" cy="13716"/>
          </a:xfrm>
          <a:prstGeom prst="rect">
            <a:avLst/>
          </a:prstGeom>
          <a:solidFill>
            <a:srgbClr val="DCE5F0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83096"/>
            <a:ext cx="5212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00" b="0">
                <a:solidFill>
                  <a:srgbClr val="5B6372"/>
                </a:solidFill>
                <a:latin typeface="Arial"/>
              </a:defRPr>
            </a:pPr>
            <a:r>
              <a:t>C500 - Voice and Video Agents with n8n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51960" y="6483096"/>
            <a:ext cx="3749039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800" b="0">
                <a:solidFill>
                  <a:srgbClr val="5B6372"/>
                </a:solidFill>
                <a:latin typeface="Arial"/>
              </a:defRPr>
            </a:pPr>
            <a:r>
              <a:t>Copyright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483096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800" b="1">
                <a:solidFill>
                  <a:srgbClr val="5B6372"/>
                </a:solidFill>
                <a:latin typeface="Arial"/>
              </a:defRPr>
            </a:pPr>
            <a:r>
              <a:t>021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01752"/>
            <a:ext cx="10972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1">
                <a:solidFill>
                  <a:srgbClr val="1F6FEB"/>
                </a:solidFill>
                <a:latin typeface="Arial"/>
              </a:defRPr>
            </a:pPr>
            <a:r>
              <a:t>QUALITY GATE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800" b="1">
                <a:solidFill>
                  <a:srgbClr val="161B26"/>
                </a:solidFill>
                <a:latin typeface="Arial"/>
              </a:defRPr>
            </a:pPr>
            <a:r>
              <a:t>Lab 0: Prove, Evaluate, Improve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" y="1353312"/>
            <a:ext cx="6995160" cy="4498848"/>
          </a:xfrm>
          <a:prstGeom prst="round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32688" y="1664208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664208"/>
            <a:ext cx="457200" cy="4572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27632" y="1645920"/>
            <a:ext cx="5440680" cy="7772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500" b="0">
                <a:solidFill>
                  <a:srgbClr val="161B26"/>
                </a:solidFill>
                <a:latin typeface="Arial"/>
              </a:defRPr>
            </a:pPr>
            <a:r>
              <a:t>docker compose ps shows the n8n and postgres containers running.</a:t>
            </a:r>
          </a:p>
        </p:txBody>
      </p:sp>
      <p:sp>
        <p:nvSpPr>
          <p:cNvPr id="8" name="Oval 7"/>
          <p:cNvSpPr/>
          <p:nvPr/>
        </p:nvSpPr>
        <p:spPr>
          <a:xfrm>
            <a:off x="932688" y="2496312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496312"/>
            <a:ext cx="457200" cy="4572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27632" y="2478024"/>
            <a:ext cx="5440680" cy="7772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500" b="0">
                <a:solidFill>
                  <a:srgbClr val="161B26"/>
                </a:solidFill>
                <a:latin typeface="Arial"/>
              </a:defRPr>
            </a:pPr>
            <a:r>
              <a:t>n8n opens at http://localhost:5678 and ollama list shows both models.</a:t>
            </a:r>
          </a:p>
        </p:txBody>
      </p:sp>
      <p:sp>
        <p:nvSpPr>
          <p:cNvPr id="11" name="Oval 10"/>
          <p:cNvSpPr/>
          <p:nvPr/>
        </p:nvSpPr>
        <p:spPr>
          <a:xfrm>
            <a:off x="932688" y="3328416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3328416"/>
            <a:ext cx="457200" cy="4572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27632" y="3310128"/>
            <a:ext cx="5440680" cy="7772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500" b="0">
                <a:solidFill>
                  <a:srgbClr val="161B26"/>
                </a:solidFill>
                <a:latin typeface="Arial"/>
              </a:defRPr>
            </a:pPr>
            <a:r>
              <a:t>The Ollama local credential test passes.</a:t>
            </a:r>
          </a:p>
        </p:txBody>
      </p:sp>
      <p:sp>
        <p:nvSpPr>
          <p:cNvPr id="14" name="Oval 13"/>
          <p:cNvSpPr/>
          <p:nvPr/>
        </p:nvSpPr>
        <p:spPr>
          <a:xfrm>
            <a:off x="932688" y="4160520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4160520"/>
            <a:ext cx="457200" cy="4572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OK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27632" y="4142232"/>
            <a:ext cx="5440680" cy="7772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500" b="0">
                <a:solidFill>
                  <a:srgbClr val="161B26"/>
                </a:solidFill>
                <a:latin typeface="Arial"/>
              </a:defRPr>
            </a:pPr>
            <a:r>
              <a:t>You can explain why the credential must not use localhost:11434.</a:t>
            </a:r>
          </a:p>
        </p:txBody>
      </p:sp>
      <p:sp>
        <p:nvSpPr>
          <p:cNvPr id="17" name="Oval 16"/>
          <p:cNvSpPr/>
          <p:nvPr/>
        </p:nvSpPr>
        <p:spPr>
          <a:xfrm>
            <a:off x="932688" y="4992624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" y="4992624"/>
            <a:ext cx="457200" cy="4572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OK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27632" y="4974336"/>
            <a:ext cx="5440680" cy="7772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500" b="0">
                <a:solidFill>
                  <a:srgbClr val="161B26"/>
                </a:solidFill>
                <a:latin typeface="Arial"/>
              </a:defRPr>
            </a:pPr>
            <a:r>
              <a:t>Run one edge case and record the change made after evaluation.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73568" y="1353312"/>
            <a:ext cx="3611880" cy="4498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02752" y="1682496"/>
            <a:ext cx="29260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1">
                <a:solidFill>
                  <a:srgbClr val="1F6FEB"/>
                </a:solidFill>
                <a:latin typeface="Arial"/>
              </a:defRPr>
            </a:pPr>
            <a:r>
              <a:t>EVIDENCE STACK</a:t>
            </a:r>
          </a:p>
        </p:txBody>
      </p:sp>
      <p:sp>
        <p:nvSpPr>
          <p:cNvPr id="22" name="Oval 21"/>
          <p:cNvSpPr/>
          <p:nvPr/>
        </p:nvSpPr>
        <p:spPr>
          <a:xfrm>
            <a:off x="8302752" y="2176272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02752" y="2176272"/>
            <a:ext cx="411480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87968" y="2157984"/>
            <a:ext cx="914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400" b="1">
                <a:solidFill>
                  <a:srgbClr val="161B26"/>
                </a:solidFill>
                <a:latin typeface="Arial"/>
              </a:defRPr>
            </a:pPr>
            <a:r>
              <a:t>Input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02368" y="2157984"/>
            <a:ext cx="1353312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0">
                <a:solidFill>
                  <a:srgbClr val="5B6372"/>
                </a:solidFill>
                <a:latin typeface="Arial"/>
              </a:defRPr>
            </a:pPr>
            <a:r>
              <a:t>Exact test payload</a:t>
            </a:r>
          </a:p>
        </p:txBody>
      </p:sp>
      <p:sp>
        <p:nvSpPr>
          <p:cNvPr id="26" name="Oval 25"/>
          <p:cNvSpPr/>
          <p:nvPr/>
        </p:nvSpPr>
        <p:spPr>
          <a:xfrm>
            <a:off x="8302752" y="2971800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2752" y="2971800"/>
            <a:ext cx="411480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87968" y="2953512"/>
            <a:ext cx="914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400" b="1">
                <a:solidFill>
                  <a:srgbClr val="161B26"/>
                </a:solidFill>
                <a:latin typeface="Arial"/>
              </a:defRPr>
            </a:pPr>
            <a:r>
              <a:t>Trace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02368" y="2953512"/>
            <a:ext cx="1353312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0">
                <a:solidFill>
                  <a:srgbClr val="5B6372"/>
                </a:solidFill>
                <a:latin typeface="Arial"/>
              </a:defRPr>
            </a:pPr>
            <a:r>
              <a:t>Node execution path</a:t>
            </a:r>
          </a:p>
        </p:txBody>
      </p:sp>
      <p:sp>
        <p:nvSpPr>
          <p:cNvPr id="30" name="Oval 29"/>
          <p:cNvSpPr/>
          <p:nvPr/>
        </p:nvSpPr>
        <p:spPr>
          <a:xfrm>
            <a:off x="8302752" y="3767328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02752" y="3767328"/>
            <a:ext cx="411480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87968" y="3749040"/>
            <a:ext cx="914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400" b="1">
                <a:solidFill>
                  <a:srgbClr val="161B26"/>
                </a:solidFill>
                <a:latin typeface="Arial"/>
              </a:defRPr>
            </a:pPr>
            <a:r>
              <a:t>Output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02368" y="3749040"/>
            <a:ext cx="1353312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0">
                <a:solidFill>
                  <a:srgbClr val="5B6372"/>
                </a:solidFill>
                <a:latin typeface="Arial"/>
              </a:defRPr>
            </a:pPr>
            <a:r>
              <a:t>Generated result</a:t>
            </a:r>
          </a:p>
        </p:txBody>
      </p:sp>
      <p:sp>
        <p:nvSpPr>
          <p:cNvPr id="34" name="Oval 33"/>
          <p:cNvSpPr/>
          <p:nvPr/>
        </p:nvSpPr>
        <p:spPr>
          <a:xfrm>
            <a:off x="8302752" y="4562856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02752" y="4562856"/>
            <a:ext cx="411480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87968" y="4544568"/>
            <a:ext cx="914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400" b="1">
                <a:solidFill>
                  <a:srgbClr val="161B26"/>
                </a:solidFill>
                <a:latin typeface="Arial"/>
              </a:defRPr>
            </a:pPr>
            <a:r>
              <a:t>Decision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02368" y="4544568"/>
            <a:ext cx="1353312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0">
                <a:solidFill>
                  <a:srgbClr val="5B6372"/>
                </a:solidFill>
                <a:latin typeface="Arial"/>
              </a:defRPr>
            </a:pPr>
            <a:r>
              <a:t>Rubric and revision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02752" y="5413248"/>
            <a:ext cx="9144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Arial"/>
              </a:defRPr>
            </a:pPr>
            <a:r>
              <a:t>PASS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253728" y="5458968"/>
            <a:ext cx="1938528" cy="10972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02920" y="6428232"/>
            <a:ext cx="11183112" cy="13716"/>
          </a:xfrm>
          <a:prstGeom prst="rect">
            <a:avLst/>
          </a:prstGeom>
          <a:solidFill>
            <a:srgbClr val="DCE5F0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8640" y="6483096"/>
            <a:ext cx="5212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00" b="0">
                <a:solidFill>
                  <a:srgbClr val="5B6372"/>
                </a:solidFill>
                <a:latin typeface="Arial"/>
              </a:defRPr>
            </a:pPr>
            <a:r>
              <a:t>C500 - Voice and Video Agents with n8n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51960" y="6483096"/>
            <a:ext cx="3749039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800" b="0">
                <a:solidFill>
                  <a:srgbClr val="5B6372"/>
                </a:solidFill>
                <a:latin typeface="Arial"/>
              </a:defRPr>
            </a:pPr>
            <a:r>
              <a:t>Copyright 2026 Tertiary Infotech Academy Pte Ltd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109960" y="6483096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800" b="1">
                <a:solidFill>
                  <a:srgbClr val="5B6372"/>
                </a:solidFill>
                <a:latin typeface="Arial"/>
              </a:defRPr>
            </a:pPr>
            <a:r>
              <a:t>022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01752"/>
            <a:ext cx="10972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1">
                <a:solidFill>
                  <a:srgbClr val="1F6FEB"/>
                </a:solidFill>
                <a:latin typeface="Arial"/>
              </a:defRPr>
            </a:pPr>
            <a:r>
              <a:t>TROUBLESHOOTING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800" b="1">
                <a:solidFill>
                  <a:srgbClr val="161B26"/>
                </a:solidFill>
                <a:latin typeface="Arial"/>
              </a:defRPr>
            </a:pPr>
            <a:r>
              <a:t>Lab 0: Diagnose Before Rebuilding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" y="1344168"/>
            <a:ext cx="3456432" cy="438912"/>
          </a:xfrm>
          <a:prstGeom prst="roundRect">
            <a:avLst/>
          </a:prstGeom>
          <a:solidFill>
            <a:srgbClr val="E25555"/>
          </a:solidFill>
          <a:ln>
            <a:solidFill>
              <a:srgbClr val="E2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408176"/>
            <a:ext cx="345643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SYMPTOM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15968" y="1344168"/>
            <a:ext cx="3456432" cy="438912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15968" y="1408176"/>
            <a:ext cx="345643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LIKELY CAUSE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10144" y="1344168"/>
            <a:ext cx="3456432" cy="43891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10144" y="1408176"/>
            <a:ext cx="345643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TARGETED FIX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993392"/>
            <a:ext cx="3456432" cy="1024128"/>
          </a:xfrm>
          <a:prstGeom prst="roundRect">
            <a:avLst/>
          </a:prstGeom>
          <a:solidFill>
            <a:srgbClr val="FFF4F4"/>
          </a:solidFill>
          <a:ln>
            <a:solidFill>
              <a:srgbClr val="FF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2084832"/>
            <a:ext cx="3127248" cy="8412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200" b="1">
                <a:solidFill>
                  <a:srgbClr val="161B26"/>
                </a:solidFill>
                <a:latin typeface="Arial"/>
              </a:defRPr>
            </a:pPr>
            <a:r>
              <a:t>n8n cannot connect to Ollama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15968" y="1993392"/>
            <a:ext cx="3456432" cy="1024128"/>
          </a:xfrm>
          <a:prstGeom prst="roundRect">
            <a:avLst/>
          </a:prstGeom>
          <a:solidFill>
            <a:srgbClr val="FFF8E8"/>
          </a:solidFill>
          <a:ln>
            <a:solidFill>
              <a:srgbClr val="FFF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59" y="2084832"/>
            <a:ext cx="3127248" cy="8412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200" b="0">
                <a:solidFill>
                  <a:srgbClr val="161B26"/>
                </a:solidFill>
                <a:latin typeface="Arial"/>
              </a:defRPr>
            </a:pPr>
            <a:r>
              <a:t>The credential uses localhost from inside Docker.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10144" y="1993392"/>
            <a:ext cx="3456432" cy="1024128"/>
          </a:xfrm>
          <a:prstGeom prst="roundRect">
            <a:avLst/>
          </a:prstGeom>
          <a:solidFill>
            <a:srgbClr val="ECFDF5"/>
          </a:solidFill>
          <a:ln>
            <a:solidFill>
              <a:srgbClr val="ECF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74736" y="2084832"/>
            <a:ext cx="3127248" cy="8412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200" b="0">
                <a:solidFill>
                  <a:srgbClr val="161B26"/>
                </a:solidFill>
                <a:latin typeface="Arial"/>
              </a:defRPr>
            </a:pPr>
            <a:r>
              <a:t>Use http://host.docker.internal:11434.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" y="3300984"/>
            <a:ext cx="3456432" cy="1024128"/>
          </a:xfrm>
          <a:prstGeom prst="roundRect">
            <a:avLst/>
          </a:prstGeom>
          <a:solidFill>
            <a:srgbClr val="FFF4F4"/>
          </a:solidFill>
          <a:ln>
            <a:solidFill>
              <a:srgbClr val="FF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" y="3392424"/>
            <a:ext cx="3127248" cy="8412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200" b="1">
                <a:solidFill>
                  <a:srgbClr val="161B26"/>
                </a:solidFill>
                <a:latin typeface="Arial"/>
              </a:defRPr>
            </a:pPr>
            <a:r>
              <a:t>Command not recognized (Windows)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15968" y="3300984"/>
            <a:ext cx="3456432" cy="1024128"/>
          </a:xfrm>
          <a:prstGeom prst="roundRect">
            <a:avLst/>
          </a:prstGeom>
          <a:solidFill>
            <a:srgbClr val="FFF8E8"/>
          </a:solidFill>
          <a:ln>
            <a:solidFill>
              <a:srgbClr val="FFF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59" y="3392424"/>
            <a:ext cx="3127248" cy="8412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200" b="0">
                <a:solidFill>
                  <a:srgbClr val="161B26"/>
                </a:solidFill>
                <a:latin typeface="Arial"/>
              </a:defRPr>
            </a:pPr>
            <a:r>
              <a:t>PowerShell was already open during the install.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10144" y="3300984"/>
            <a:ext cx="3456432" cy="1024128"/>
          </a:xfrm>
          <a:prstGeom prst="roundRect">
            <a:avLst/>
          </a:prstGeom>
          <a:solidFill>
            <a:srgbClr val="ECFDF5"/>
          </a:solidFill>
          <a:ln>
            <a:solidFill>
              <a:srgbClr val="ECF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74736" y="3392424"/>
            <a:ext cx="3127248" cy="8412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200" b="0">
                <a:solidFill>
                  <a:srgbClr val="161B26"/>
                </a:solidFill>
                <a:latin typeface="Arial"/>
              </a:defRPr>
            </a:pPr>
            <a:r>
              <a:t>Close and reopen PowerShell - a new program is not on your PATH until you do.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" y="4608576"/>
            <a:ext cx="3456432" cy="1024128"/>
          </a:xfrm>
          <a:prstGeom prst="roundRect">
            <a:avLst/>
          </a:prstGeom>
          <a:solidFill>
            <a:srgbClr val="FFF4F4"/>
          </a:solidFill>
          <a:ln>
            <a:solidFill>
              <a:srgbClr val="FF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6384" y="4700016"/>
            <a:ext cx="3127248" cy="8412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200" b="1">
                <a:solidFill>
                  <a:srgbClr val="161B26"/>
                </a:solidFill>
                <a:latin typeface="Arial"/>
              </a:defRPr>
            </a:pPr>
            <a:r>
              <a:t>Port 5678 is busy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15968" y="4608576"/>
            <a:ext cx="3456432" cy="1024128"/>
          </a:xfrm>
          <a:prstGeom prst="roundRect">
            <a:avLst/>
          </a:prstGeom>
          <a:solidFill>
            <a:srgbClr val="FFF8E8"/>
          </a:solidFill>
          <a:ln>
            <a:solidFill>
              <a:srgbClr val="FFF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80559" y="4700016"/>
            <a:ext cx="3127248" cy="8412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200" b="0">
                <a:solidFill>
                  <a:srgbClr val="161B26"/>
                </a:solidFill>
                <a:latin typeface="Arial"/>
              </a:defRPr>
            </a:pPr>
            <a:r>
              <a:t>An older n8n container is still running.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10144" y="4608576"/>
            <a:ext cx="3456432" cy="1024128"/>
          </a:xfrm>
          <a:prstGeom prst="roundRect">
            <a:avLst/>
          </a:prstGeom>
          <a:solidFill>
            <a:srgbClr val="ECFDF5"/>
          </a:solidFill>
          <a:ln>
            <a:solidFill>
              <a:srgbClr val="ECF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74736" y="4700016"/>
            <a:ext cx="3127248" cy="8412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200" b="0">
                <a:solidFill>
                  <a:srgbClr val="161B26"/>
                </a:solidFill>
                <a:latin typeface="Arial"/>
              </a:defRPr>
            </a:pPr>
            <a:r>
              <a:t>Run docker ps, stop the old container, or change the compose port.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5989320"/>
            <a:ext cx="86868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600" b="1">
                <a:solidFill>
                  <a:srgbClr val="7C3AED"/>
                </a:solidFill>
                <a:latin typeface="Arial"/>
              </a:defRPr>
            </a:pPr>
            <a:r>
              <a:t>Change one variable, rerun the same test, compare the trace.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6428232"/>
            <a:ext cx="11183112" cy="13716"/>
          </a:xfrm>
          <a:prstGeom prst="rect">
            <a:avLst/>
          </a:prstGeom>
          <a:solidFill>
            <a:srgbClr val="DCE5F0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6483096"/>
            <a:ext cx="5212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00" b="0">
                <a:solidFill>
                  <a:srgbClr val="5B6372"/>
                </a:solidFill>
                <a:latin typeface="Arial"/>
              </a:defRPr>
            </a:pPr>
            <a:r>
              <a:t>C500 - Voice and Video Agents with n8n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51960" y="6483096"/>
            <a:ext cx="3749039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800" b="0">
                <a:solidFill>
                  <a:srgbClr val="5B6372"/>
                </a:solidFill>
                <a:latin typeface="Arial"/>
              </a:defRPr>
            </a:pPr>
            <a:r>
              <a:t>Copyright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09960" y="6483096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800" b="1">
                <a:solidFill>
                  <a:srgbClr val="5B6372"/>
                </a:solidFill>
                <a:latin typeface="Arial"/>
              </a:defRPr>
            </a:pPr>
            <a:r>
              <a:t>023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01752"/>
            <a:ext cx="10972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1">
                <a:solidFill>
                  <a:srgbClr val="1F6FEB"/>
                </a:solidFill>
                <a:latin typeface="Arial"/>
              </a:defRPr>
            </a:pPr>
            <a:r>
              <a:t>BUILD TARGET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800" b="1">
                <a:solidFill>
                  <a:srgbClr val="161B26"/>
                </a:solidFill>
                <a:latin typeface="Arial"/>
              </a:defRPr>
            </a:pPr>
            <a:r>
              <a:t>Lab 1: Your First AI Agent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417320"/>
            <a:ext cx="7360920" cy="3246120"/>
          </a:xfrm>
          <a:prstGeom prst="round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4400" y="1755648"/>
            <a:ext cx="1078992" cy="107899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55648"/>
            <a:ext cx="1078992" cy="10789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31720" y="1719072"/>
            <a:ext cx="21945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1">
                <a:solidFill>
                  <a:srgbClr val="1F6FEB"/>
                </a:solidFill>
                <a:latin typeface="Arial"/>
              </a:defRPr>
            </a:pPr>
            <a:r>
              <a:t>YOU WILL BUILD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31720" y="2048256"/>
            <a:ext cx="5074920" cy="131673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2000" b="1">
                <a:solidFill>
                  <a:srgbClr val="161B26"/>
                </a:solidFill>
                <a:latin typeface="Arial"/>
              </a:defRPr>
            </a:pPr>
            <a:r>
              <a:t>The smallest possible working agent: chat trigger, AI Agent node, and local gemma4 - with a system prompt you control.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1720" y="3474720"/>
            <a:ext cx="19202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  <a:latin typeface="Arial"/>
              </a:defRPr>
            </a:pPr>
            <a:r>
              <a:t>DELIVERABLE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3822191"/>
            <a:ext cx="507492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500" b="0">
                <a:solidFill>
                  <a:srgbClr val="5B6372"/>
                </a:solidFill>
                <a:latin typeface="Arial"/>
              </a:defRPr>
            </a:pPr>
            <a:r>
              <a:t>A working local agent plus a one-line note on how the system prompt changed its behaviour.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02752" y="1417320"/>
            <a:ext cx="32918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02752" y="1417320"/>
            <a:ext cx="73152" cy="96012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540496" y="1636776"/>
            <a:ext cx="438912" cy="43891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40496" y="1636776"/>
            <a:ext cx="438912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07424" y="1554480"/>
            <a:ext cx="226771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600" b="1">
                <a:solidFill>
                  <a:srgbClr val="161B26"/>
                </a:solidFill>
                <a:latin typeface="Arial"/>
              </a:defRPr>
            </a:pPr>
            <a:r>
              <a:t>TIMEBOX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07424" y="1920240"/>
            <a:ext cx="2267712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0">
                <a:solidFill>
                  <a:srgbClr val="5B6372"/>
                </a:solidFill>
                <a:latin typeface="Arial"/>
              </a:defRPr>
            </a:pPr>
            <a:r>
              <a:t>45 minutes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02752" y="2606040"/>
            <a:ext cx="32918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302752" y="2606040"/>
            <a:ext cx="73152" cy="96012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540496" y="2825496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40496" y="2825496"/>
            <a:ext cx="438912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07424" y="2743200"/>
            <a:ext cx="226771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600" b="1">
                <a:solidFill>
                  <a:srgbClr val="161B26"/>
                </a:solidFill>
                <a:latin typeface="Arial"/>
              </a:defRPr>
            </a:pPr>
            <a:r>
              <a:t>MODE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07424" y="3108960"/>
            <a:ext cx="2267712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0">
                <a:solidFill>
                  <a:srgbClr val="5B6372"/>
                </a:solidFill>
                <a:latin typeface="Arial"/>
              </a:defRPr>
            </a:pPr>
            <a:r>
              <a:t>Demo, guided build, independent test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302752" y="3794760"/>
            <a:ext cx="32918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302752" y="3794760"/>
            <a:ext cx="73152" cy="96012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540496" y="4014216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40496" y="4014216"/>
            <a:ext cx="438912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07424" y="3931920"/>
            <a:ext cx="226771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600" b="1">
                <a:solidFill>
                  <a:srgbClr val="161B26"/>
                </a:solidFill>
                <a:latin typeface="Arial"/>
              </a:defRPr>
            </a:pPr>
            <a:r>
              <a:t>EVIDENCE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07424" y="4297680"/>
            <a:ext cx="2267712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0">
                <a:solidFill>
                  <a:srgbClr val="5B6372"/>
                </a:solidFill>
                <a:latin typeface="Arial"/>
              </a:defRPr>
            </a:pPr>
            <a:r>
              <a:t>Execution trace plus learner artifact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5230368"/>
            <a:ext cx="731520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000" b="1">
                <a:solidFill>
                  <a:srgbClr val="7C3AED"/>
                </a:solidFill>
                <a:latin typeface="Arial"/>
              </a:defRPr>
            </a:pPr>
            <a:r>
              <a:t>Success is demonstrated, not assumed.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6428232"/>
            <a:ext cx="11183112" cy="13716"/>
          </a:xfrm>
          <a:prstGeom prst="rect">
            <a:avLst/>
          </a:prstGeom>
          <a:solidFill>
            <a:srgbClr val="DCE5F0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6483096"/>
            <a:ext cx="5212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00" b="0">
                <a:solidFill>
                  <a:srgbClr val="5B6372"/>
                </a:solidFill>
                <a:latin typeface="Arial"/>
              </a:defRPr>
            </a:pPr>
            <a:r>
              <a:t>C500 - Voice and Video Agents with n8n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6483096"/>
            <a:ext cx="3749039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800" b="0">
                <a:solidFill>
                  <a:srgbClr val="5B6372"/>
                </a:solidFill>
                <a:latin typeface="Arial"/>
              </a:defRPr>
            </a:pPr>
            <a:r>
              <a:t>Copyright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09960" y="6483096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800" b="1">
                <a:solidFill>
                  <a:srgbClr val="5B6372"/>
                </a:solidFill>
                <a:latin typeface="Arial"/>
              </a:defRPr>
            </a:pPr>
            <a:r>
              <a:t>024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01752"/>
            <a:ext cx="10972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1">
                <a:solidFill>
                  <a:srgbClr val="1F6FEB"/>
                </a:solidFill>
                <a:latin typeface="Arial"/>
              </a:defRPr>
            </a:pPr>
            <a:r>
              <a:t>CONCEPT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800" b="1">
                <a:solidFill>
                  <a:srgbClr val="161B26"/>
                </a:solidFill>
                <a:latin typeface="Arial"/>
              </a:defRPr>
            </a:pPr>
            <a:r>
              <a:t>Lab 1: Four Ideas That Make It Work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" y="1389888"/>
            <a:ext cx="5349240" cy="1901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1792" y="1389888"/>
            <a:ext cx="73152" cy="190195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59536" y="1609344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609344"/>
            <a:ext cx="438912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26464" y="1591056"/>
            <a:ext cx="432511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700" b="1">
                <a:solidFill>
                  <a:srgbClr val="161B26"/>
                </a:solidFill>
                <a:latin typeface="Arial"/>
              </a:defRPr>
            </a:pPr>
            <a:r>
              <a:t>Chat trigger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048256"/>
            <a:ext cx="4846320" cy="10789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400" b="0">
                <a:solidFill>
                  <a:srgbClr val="5B6372"/>
                </a:solidFill>
                <a:latin typeface="Arial"/>
              </a:defRPr>
            </a:pPr>
            <a:r>
              <a:t>n8n's built-in chat window - a test surface with no website needed.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389888"/>
            <a:ext cx="5349240" cy="1901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99632" y="1389888"/>
            <a:ext cx="73152" cy="19019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37376" y="1609344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37376" y="1609344"/>
            <a:ext cx="438912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4304" y="1591056"/>
            <a:ext cx="432511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700" b="1">
                <a:solidFill>
                  <a:srgbClr val="161B26"/>
                </a:solidFill>
                <a:latin typeface="Arial"/>
              </a:defRPr>
            </a:pPr>
            <a:r>
              <a:t>AI Agent node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2" y="2048256"/>
            <a:ext cx="4846320" cy="10789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400" b="0">
                <a:solidFill>
                  <a:srgbClr val="5B6372"/>
                </a:solidFill>
                <a:latin typeface="Arial"/>
              </a:defRPr>
            </a:pPr>
            <a:r>
              <a:t>Holds the system prompt, the memory and, later, the tools.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" y="3675887"/>
            <a:ext cx="5349240" cy="1901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" y="3675887"/>
            <a:ext cx="73152" cy="1901952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59536" y="3895344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6" y="3895344"/>
            <a:ext cx="438912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26464" y="3877055"/>
            <a:ext cx="432511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700" b="1">
                <a:solidFill>
                  <a:srgbClr val="161B26"/>
                </a:solidFill>
                <a:latin typeface="Arial"/>
              </a:defRPr>
            </a:pPr>
            <a:r>
              <a:t>System prompt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" y="4334255"/>
            <a:ext cx="4846320" cy="10789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400" b="0">
                <a:solidFill>
                  <a:srgbClr val="5B6372"/>
                </a:solidFill>
                <a:latin typeface="Arial"/>
              </a:defRPr>
            </a:pPr>
            <a:r>
              <a:t>The standing instruction that shapes every reply - your main control surface.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9632" y="3675887"/>
            <a:ext cx="5349240" cy="1901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99632" y="3675887"/>
            <a:ext cx="73152" cy="19019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37376" y="3895344"/>
            <a:ext cx="438912" cy="43891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37376" y="3895344"/>
            <a:ext cx="438912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04304" y="3877055"/>
            <a:ext cx="432511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700" b="1">
                <a:solidFill>
                  <a:srgbClr val="161B26"/>
                </a:solidFill>
                <a:latin typeface="Arial"/>
              </a:defRPr>
            </a:pPr>
            <a:r>
              <a:t>Execution trace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73952" y="4334255"/>
            <a:ext cx="4846320" cy="10789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400" b="0">
                <a:solidFill>
                  <a:srgbClr val="5B6372"/>
                </a:solidFill>
                <a:latin typeface="Arial"/>
              </a:defRPr>
            </a:pPr>
            <a:r>
              <a:t>What the model actually received and returned. A fluent answer is not evidence; the trace is.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5806440"/>
            <a:ext cx="80467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600" b="0">
                <a:solidFill>
                  <a:srgbClr val="5B6372"/>
                </a:solidFill>
                <a:latin typeface="Arial"/>
              </a:defRPr>
            </a:pPr>
            <a:r>
              <a:t>Connect the four ideas before touching the workflow canvas.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6428232"/>
            <a:ext cx="11183112" cy="13716"/>
          </a:xfrm>
          <a:prstGeom prst="rect">
            <a:avLst/>
          </a:prstGeom>
          <a:solidFill>
            <a:srgbClr val="DCE5F0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6483096"/>
            <a:ext cx="5212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00" b="0">
                <a:solidFill>
                  <a:srgbClr val="5B6372"/>
                </a:solidFill>
                <a:latin typeface="Arial"/>
              </a:defRPr>
            </a:pPr>
            <a:r>
              <a:t>C500 - Voice and Video Agents with n8n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51960" y="6483096"/>
            <a:ext cx="3749039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800" b="0">
                <a:solidFill>
                  <a:srgbClr val="5B6372"/>
                </a:solidFill>
                <a:latin typeface="Arial"/>
              </a:defRPr>
            </a:pPr>
            <a:r>
              <a:t>Copyright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09960" y="6483096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800" b="1">
                <a:solidFill>
                  <a:srgbClr val="5B6372"/>
                </a:solidFill>
                <a:latin typeface="Arial"/>
              </a:defRPr>
            </a:pPr>
            <a:r>
              <a:t>025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01752"/>
            <a:ext cx="10972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1">
                <a:solidFill>
                  <a:srgbClr val="1F6FEB"/>
                </a:solidFill>
                <a:latin typeface="Arial"/>
              </a:defRPr>
            </a:pPr>
            <a:r>
              <a:t>WORKFLOW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800" b="1">
                <a:solidFill>
                  <a:srgbClr val="161B26"/>
                </a:solidFill>
                <a:latin typeface="Arial"/>
              </a:defRPr>
            </a:pPr>
            <a:r>
              <a:t>Lab 1: Build Sequence</a:t>
            </a:r>
          </a:p>
        </p:txBody>
      </p:sp>
      <p:sp>
        <p:nvSpPr>
          <p:cNvPr id="4" name="Oval 3"/>
          <p:cNvSpPr/>
          <p:nvPr/>
        </p:nvSpPr>
        <p:spPr>
          <a:xfrm>
            <a:off x="658368" y="1463039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463039"/>
            <a:ext cx="53035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08176" y="1325880"/>
            <a:ext cx="4690872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8488" y="1417320"/>
            <a:ext cx="4279392" cy="11887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200" b="0">
                <a:solidFill>
                  <a:srgbClr val="161B26"/>
                </a:solidFill>
                <a:latin typeface="Arial"/>
              </a:defRPr>
            </a:pPr>
            <a:r>
              <a:t>Import lab1/ai-agent.json. Open the Ollama Chat Model node and confirm the credential is Ollama local and the model is gemma4:latest.</a:t>
            </a:r>
          </a:p>
        </p:txBody>
      </p:sp>
      <p:sp>
        <p:nvSpPr>
          <p:cNvPr id="8" name="Oval 7"/>
          <p:cNvSpPr/>
          <p:nvPr/>
        </p:nvSpPr>
        <p:spPr>
          <a:xfrm>
            <a:off x="6373368" y="1463039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73368" y="1463039"/>
            <a:ext cx="53035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23176" y="1325880"/>
            <a:ext cx="4690872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33488" y="1417320"/>
            <a:ext cx="4279392" cy="11887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200" b="0">
                <a:solidFill>
                  <a:srgbClr val="161B26"/>
                </a:solidFill>
                <a:latin typeface="Arial"/>
              </a:defRPr>
            </a:pPr>
            <a:r>
              <a:t>Click Chat at the bottom of the canvas and say hello. Confirm a reply arrives.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309067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3090672"/>
            <a:ext cx="53035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08176" y="2953512"/>
            <a:ext cx="4690872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18488" y="3044952"/>
            <a:ext cx="4279392" cy="11887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200" b="0">
                <a:solidFill>
                  <a:srgbClr val="161B26"/>
                </a:solidFill>
                <a:latin typeface="Arial"/>
              </a:defRPr>
            </a:pPr>
            <a:r>
              <a:t>Open the execution and read exactly what the model received - the whole prompt, not just your message.</a:t>
            </a:r>
          </a:p>
        </p:txBody>
      </p:sp>
      <p:sp>
        <p:nvSpPr>
          <p:cNvPr id="16" name="Oval 15"/>
          <p:cNvSpPr/>
          <p:nvPr/>
        </p:nvSpPr>
        <p:spPr>
          <a:xfrm>
            <a:off x="6373368" y="309067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73368" y="3090672"/>
            <a:ext cx="53035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23176" y="2953512"/>
            <a:ext cx="4690872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33488" y="3044952"/>
            <a:ext cx="4279392" cy="11887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200" b="0">
                <a:solidFill>
                  <a:srgbClr val="161B26"/>
                </a:solidFill>
                <a:latin typeface="Arial"/>
              </a:defRPr>
            </a:pPr>
            <a:r>
              <a:t>Open the AI Agent node and set a system prompt: 'You are a terse assistant. Never use more than two sentences.'</a:t>
            </a:r>
          </a:p>
        </p:txBody>
      </p:sp>
      <p:sp>
        <p:nvSpPr>
          <p:cNvPr id="20" name="Oval 19"/>
          <p:cNvSpPr/>
          <p:nvPr/>
        </p:nvSpPr>
        <p:spPr>
          <a:xfrm>
            <a:off x="658368" y="4718304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4718304"/>
            <a:ext cx="53035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408176" y="4581144"/>
            <a:ext cx="4690872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18488" y="4672583"/>
            <a:ext cx="4279392" cy="11887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200" b="0">
                <a:solidFill>
                  <a:srgbClr val="161B26"/>
                </a:solidFill>
                <a:latin typeface="Arial"/>
              </a:defRPr>
            </a:pPr>
            <a:r>
              <a:t>Ask the same question again and watch the behaviour change.</a:t>
            </a:r>
          </a:p>
        </p:txBody>
      </p:sp>
      <p:sp>
        <p:nvSpPr>
          <p:cNvPr id="24" name="Oval 23"/>
          <p:cNvSpPr/>
          <p:nvPr/>
        </p:nvSpPr>
        <p:spPr>
          <a:xfrm>
            <a:off x="6373368" y="4718304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73368" y="4718304"/>
            <a:ext cx="53035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23176" y="4581144"/>
            <a:ext cx="4690872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33488" y="4672583"/>
            <a:ext cx="4279392" cy="11887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200" b="0">
                <a:solidFill>
                  <a:srgbClr val="161B26"/>
                </a:solidFill>
                <a:latin typeface="Arial"/>
              </a:defRPr>
            </a:pPr>
            <a:r>
              <a:t>Change one more instruction and re-test. One variable at a time - that habit is the course.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6053328"/>
            <a:ext cx="59436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500" b="1">
                <a:solidFill>
                  <a:srgbClr val="7C3AED"/>
                </a:solidFill>
                <a:latin typeface="Arial"/>
              </a:defRPr>
            </a:pPr>
            <a:r>
              <a:t>Build one observable behavior at a time.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6428232"/>
            <a:ext cx="11183112" cy="13716"/>
          </a:xfrm>
          <a:prstGeom prst="rect">
            <a:avLst/>
          </a:prstGeom>
          <a:solidFill>
            <a:srgbClr val="DCE5F0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6483096"/>
            <a:ext cx="5212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00" b="0">
                <a:solidFill>
                  <a:srgbClr val="5B6372"/>
                </a:solidFill>
                <a:latin typeface="Arial"/>
              </a:defRPr>
            </a:pPr>
            <a:r>
              <a:t>C500 - Voice and Video Agents with n8n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51960" y="6483096"/>
            <a:ext cx="3749039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800" b="0">
                <a:solidFill>
                  <a:srgbClr val="5B6372"/>
                </a:solidFill>
                <a:latin typeface="Arial"/>
              </a:defRPr>
            </a:pPr>
            <a:r>
              <a:t>Copyright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09960" y="6483096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800" b="1">
                <a:solidFill>
                  <a:srgbClr val="5B6372"/>
                </a:solidFill>
                <a:latin typeface="Arial"/>
              </a:defRPr>
            </a:pPr>
            <a:r>
              <a:t>026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01752"/>
            <a:ext cx="10972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1">
                <a:solidFill>
                  <a:srgbClr val="1F6FEB"/>
                </a:solidFill>
                <a:latin typeface="Arial"/>
              </a:defRPr>
            </a:pPr>
            <a:r>
              <a:t>LAB 1 - YOUR FIRST AI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800" b="1">
                <a:solidFill>
                  <a:srgbClr val="161B26"/>
                </a:solidFill>
                <a:latin typeface="Arial"/>
              </a:defRPr>
            </a:pPr>
            <a:r>
              <a:t>Lab 1 - AI Agent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667589" y="1271016"/>
            <a:ext cx="6856517" cy="427024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ab1-ai-agent-olla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2453" y="1325880"/>
            <a:ext cx="6746789" cy="4160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13232" y="5806440"/>
            <a:ext cx="1078992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500" b="0">
                <a:solidFill>
                  <a:srgbClr val="5B6372"/>
                </a:solidFill>
                <a:latin typeface="Arial"/>
              </a:defRPr>
            </a:pPr>
            <a:r>
              <a:t>Lab 1 - AI Agent: chat trigger, AI Agent and the local Ollama model.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28232"/>
            <a:ext cx="11183112" cy="13716"/>
          </a:xfrm>
          <a:prstGeom prst="rect">
            <a:avLst/>
          </a:prstGeom>
          <a:solidFill>
            <a:srgbClr val="DCE5F0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83096"/>
            <a:ext cx="5212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00" b="0">
                <a:solidFill>
                  <a:srgbClr val="5B6372"/>
                </a:solidFill>
                <a:latin typeface="Arial"/>
              </a:defRPr>
            </a:pPr>
            <a:r>
              <a:t>C500 - Voice and Video Agents with n8n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51960" y="6483096"/>
            <a:ext cx="3749039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800" b="0">
                <a:solidFill>
                  <a:srgbClr val="5B6372"/>
                </a:solidFill>
                <a:latin typeface="Arial"/>
              </a:defRPr>
            </a:pPr>
            <a:r>
              <a:t>Copyright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483096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800" b="1">
                <a:solidFill>
                  <a:srgbClr val="5B6372"/>
                </a:solidFill>
                <a:latin typeface="Arial"/>
              </a:defRPr>
            </a:pPr>
            <a:r>
              <a:t>027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01752"/>
            <a:ext cx="10972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1">
                <a:solidFill>
                  <a:srgbClr val="1F6FEB"/>
                </a:solidFill>
                <a:latin typeface="Arial"/>
              </a:defRPr>
            </a:pPr>
            <a:r>
              <a:t>QUALITY GATE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800" b="1">
                <a:solidFill>
                  <a:srgbClr val="161B26"/>
                </a:solidFill>
                <a:latin typeface="Arial"/>
              </a:defRPr>
            </a:pPr>
            <a:r>
              <a:t>Lab 1: Prove, Evaluate, Improve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" y="1353312"/>
            <a:ext cx="6995160" cy="4498848"/>
          </a:xfrm>
          <a:prstGeom prst="round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32688" y="1664208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664208"/>
            <a:ext cx="457200" cy="4572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27632" y="1645920"/>
            <a:ext cx="5440680" cy="7772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500" b="0">
                <a:solidFill>
                  <a:srgbClr val="161B26"/>
                </a:solidFill>
                <a:latin typeface="Arial"/>
              </a:defRPr>
            </a:pPr>
            <a:r>
              <a:t>The agent replies in the chat panel.</a:t>
            </a:r>
          </a:p>
        </p:txBody>
      </p:sp>
      <p:sp>
        <p:nvSpPr>
          <p:cNvPr id="8" name="Oval 7"/>
          <p:cNvSpPr/>
          <p:nvPr/>
        </p:nvSpPr>
        <p:spPr>
          <a:xfrm>
            <a:off x="932688" y="2496312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496312"/>
            <a:ext cx="457200" cy="4572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27632" y="2478024"/>
            <a:ext cx="5440680" cy="7772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500" b="0">
                <a:solidFill>
                  <a:srgbClr val="161B26"/>
                </a:solidFill>
                <a:latin typeface="Arial"/>
              </a:defRPr>
            </a:pPr>
            <a:r>
              <a:t>The execution list shows the run, and you can read what the model received.</a:t>
            </a:r>
          </a:p>
        </p:txBody>
      </p:sp>
      <p:sp>
        <p:nvSpPr>
          <p:cNvPr id="11" name="Oval 10"/>
          <p:cNvSpPr/>
          <p:nvPr/>
        </p:nvSpPr>
        <p:spPr>
          <a:xfrm>
            <a:off x="932688" y="3328416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3328416"/>
            <a:ext cx="457200" cy="4572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27632" y="3310128"/>
            <a:ext cx="5440680" cy="7772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500" b="0">
                <a:solidFill>
                  <a:srgbClr val="161B26"/>
                </a:solidFill>
                <a:latin typeface="Arial"/>
              </a:defRPr>
            </a:pPr>
            <a:r>
              <a:t>Changing the system prompt visibly changes the behaviour.</a:t>
            </a:r>
          </a:p>
        </p:txBody>
      </p:sp>
      <p:sp>
        <p:nvSpPr>
          <p:cNvPr id="14" name="Oval 13"/>
          <p:cNvSpPr/>
          <p:nvPr/>
        </p:nvSpPr>
        <p:spPr>
          <a:xfrm>
            <a:off x="932688" y="4160520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4160520"/>
            <a:ext cx="457200" cy="4572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OK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27632" y="4142232"/>
            <a:ext cx="5440680" cy="7772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500" b="0">
                <a:solidFill>
                  <a:srgbClr val="161B26"/>
                </a:solidFill>
                <a:latin typeface="Arial"/>
              </a:defRPr>
            </a:pPr>
            <a:r>
              <a:t>Run one edge case and record the change made after evaluation.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73568" y="1353312"/>
            <a:ext cx="3611880" cy="4498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2752" y="1682496"/>
            <a:ext cx="29260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1">
                <a:solidFill>
                  <a:srgbClr val="1F6FEB"/>
                </a:solidFill>
                <a:latin typeface="Arial"/>
              </a:defRPr>
            </a:pPr>
            <a:r>
              <a:t>EVIDENCE STACK</a:t>
            </a:r>
          </a:p>
        </p:txBody>
      </p:sp>
      <p:sp>
        <p:nvSpPr>
          <p:cNvPr id="19" name="Oval 18"/>
          <p:cNvSpPr/>
          <p:nvPr/>
        </p:nvSpPr>
        <p:spPr>
          <a:xfrm>
            <a:off x="8302752" y="2176272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02752" y="2176272"/>
            <a:ext cx="411480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87968" y="2157984"/>
            <a:ext cx="914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400" b="1">
                <a:solidFill>
                  <a:srgbClr val="161B26"/>
                </a:solidFill>
                <a:latin typeface="Arial"/>
              </a:defRPr>
            </a:pPr>
            <a:r>
              <a:t>Input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02368" y="2157984"/>
            <a:ext cx="1353312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0">
                <a:solidFill>
                  <a:srgbClr val="5B6372"/>
                </a:solidFill>
                <a:latin typeface="Arial"/>
              </a:defRPr>
            </a:pPr>
            <a:r>
              <a:t>Exact test payload</a:t>
            </a:r>
          </a:p>
        </p:txBody>
      </p:sp>
      <p:sp>
        <p:nvSpPr>
          <p:cNvPr id="23" name="Oval 22"/>
          <p:cNvSpPr/>
          <p:nvPr/>
        </p:nvSpPr>
        <p:spPr>
          <a:xfrm>
            <a:off x="8302752" y="2971800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02752" y="2971800"/>
            <a:ext cx="411480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87968" y="2953512"/>
            <a:ext cx="914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400" b="1">
                <a:solidFill>
                  <a:srgbClr val="161B26"/>
                </a:solidFill>
                <a:latin typeface="Arial"/>
              </a:defRPr>
            </a:pPr>
            <a:r>
              <a:t>Trace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02368" y="2953512"/>
            <a:ext cx="1353312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0">
                <a:solidFill>
                  <a:srgbClr val="5B6372"/>
                </a:solidFill>
                <a:latin typeface="Arial"/>
              </a:defRPr>
            </a:pPr>
            <a:r>
              <a:t>Node execution path</a:t>
            </a:r>
          </a:p>
        </p:txBody>
      </p:sp>
      <p:sp>
        <p:nvSpPr>
          <p:cNvPr id="27" name="Oval 26"/>
          <p:cNvSpPr/>
          <p:nvPr/>
        </p:nvSpPr>
        <p:spPr>
          <a:xfrm>
            <a:off x="8302752" y="3767328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02752" y="3767328"/>
            <a:ext cx="411480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87968" y="3749040"/>
            <a:ext cx="914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400" b="1">
                <a:solidFill>
                  <a:srgbClr val="161B26"/>
                </a:solidFill>
                <a:latin typeface="Arial"/>
              </a:defRPr>
            </a:pPr>
            <a:r>
              <a:t>Output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02368" y="3749040"/>
            <a:ext cx="1353312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0">
                <a:solidFill>
                  <a:srgbClr val="5B6372"/>
                </a:solidFill>
                <a:latin typeface="Arial"/>
              </a:defRPr>
            </a:pPr>
            <a:r>
              <a:t>Generated result</a:t>
            </a:r>
          </a:p>
        </p:txBody>
      </p:sp>
      <p:sp>
        <p:nvSpPr>
          <p:cNvPr id="31" name="Oval 30"/>
          <p:cNvSpPr/>
          <p:nvPr/>
        </p:nvSpPr>
        <p:spPr>
          <a:xfrm>
            <a:off x="8302752" y="4562856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2752" y="4562856"/>
            <a:ext cx="411480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87968" y="4544568"/>
            <a:ext cx="914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400" b="1">
                <a:solidFill>
                  <a:srgbClr val="161B26"/>
                </a:solidFill>
                <a:latin typeface="Arial"/>
              </a:defRPr>
            </a:pPr>
            <a:r>
              <a:t>Decision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02368" y="4544568"/>
            <a:ext cx="1353312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0">
                <a:solidFill>
                  <a:srgbClr val="5B6372"/>
                </a:solidFill>
                <a:latin typeface="Arial"/>
              </a:defRPr>
            </a:pPr>
            <a:r>
              <a:t>Rubric and revision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02752" y="5413248"/>
            <a:ext cx="9144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Arial"/>
              </a:defRPr>
            </a:pPr>
            <a:r>
              <a:t>PASS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253728" y="5458968"/>
            <a:ext cx="1938528" cy="10972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02920" y="6428232"/>
            <a:ext cx="11183112" cy="13716"/>
          </a:xfrm>
          <a:prstGeom prst="rect">
            <a:avLst/>
          </a:prstGeom>
          <a:solidFill>
            <a:srgbClr val="DCE5F0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6483096"/>
            <a:ext cx="5212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00" b="0">
                <a:solidFill>
                  <a:srgbClr val="5B6372"/>
                </a:solidFill>
                <a:latin typeface="Arial"/>
              </a:defRPr>
            </a:pPr>
            <a:r>
              <a:t>C500 - Voice and Video Agents with n8n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51960" y="6483096"/>
            <a:ext cx="3749039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800" b="0">
                <a:solidFill>
                  <a:srgbClr val="5B6372"/>
                </a:solidFill>
                <a:latin typeface="Arial"/>
              </a:defRPr>
            </a:pPr>
            <a:r>
              <a:t>Copyright 2026 Tertiary Infotech Academy Pte Ltd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109960" y="6483096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800" b="1">
                <a:solidFill>
                  <a:srgbClr val="5B6372"/>
                </a:solidFill>
                <a:latin typeface="Arial"/>
              </a:defRPr>
            </a:pPr>
            <a:r>
              <a:t>028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01752"/>
            <a:ext cx="10972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1">
                <a:solidFill>
                  <a:srgbClr val="1F6FEB"/>
                </a:solidFill>
                <a:latin typeface="Arial"/>
              </a:defRPr>
            </a:pPr>
            <a:r>
              <a:t>TROUBLESHOOTING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800" b="1">
                <a:solidFill>
                  <a:srgbClr val="161B26"/>
                </a:solidFill>
                <a:latin typeface="Arial"/>
              </a:defRPr>
            </a:pPr>
            <a:r>
              <a:t>Lab 1: Diagnose Before Rebuilding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" y="1344168"/>
            <a:ext cx="3456432" cy="438912"/>
          </a:xfrm>
          <a:prstGeom prst="roundRect">
            <a:avLst/>
          </a:prstGeom>
          <a:solidFill>
            <a:srgbClr val="E25555"/>
          </a:solidFill>
          <a:ln>
            <a:solidFill>
              <a:srgbClr val="E2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408176"/>
            <a:ext cx="345643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SYMPTOM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15968" y="1344168"/>
            <a:ext cx="3456432" cy="438912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15968" y="1408176"/>
            <a:ext cx="345643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LIKELY CAUSE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10144" y="1344168"/>
            <a:ext cx="3456432" cy="43891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10144" y="1408176"/>
            <a:ext cx="345643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TARGETED FIX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993392"/>
            <a:ext cx="3456432" cy="1024128"/>
          </a:xfrm>
          <a:prstGeom prst="roundRect">
            <a:avLst/>
          </a:prstGeom>
          <a:solidFill>
            <a:srgbClr val="FFF4F4"/>
          </a:solidFill>
          <a:ln>
            <a:solidFill>
              <a:srgbClr val="FF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2084832"/>
            <a:ext cx="3127248" cy="8412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200" b="1">
                <a:solidFill>
                  <a:srgbClr val="161B26"/>
                </a:solidFill>
                <a:latin typeface="Arial"/>
              </a:defRPr>
            </a:pPr>
            <a:r>
              <a:t>Empty reply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15968" y="1993392"/>
            <a:ext cx="3456432" cy="1024128"/>
          </a:xfrm>
          <a:prstGeom prst="roundRect">
            <a:avLst/>
          </a:prstGeom>
          <a:solidFill>
            <a:srgbClr val="FFF8E8"/>
          </a:solidFill>
          <a:ln>
            <a:solidFill>
              <a:srgbClr val="FFF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59" y="2084832"/>
            <a:ext cx="3127248" cy="8412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200" b="0">
                <a:solidFill>
                  <a:srgbClr val="161B26"/>
                </a:solidFill>
                <a:latin typeface="Arial"/>
              </a:defRPr>
            </a:pPr>
            <a:r>
              <a:t>The model name does not match what ollama list shows.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10144" y="1993392"/>
            <a:ext cx="3456432" cy="1024128"/>
          </a:xfrm>
          <a:prstGeom prst="roundRect">
            <a:avLst/>
          </a:prstGeom>
          <a:solidFill>
            <a:srgbClr val="ECFDF5"/>
          </a:solidFill>
          <a:ln>
            <a:solidFill>
              <a:srgbClr val="ECF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74736" y="2084832"/>
            <a:ext cx="3127248" cy="8412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200" b="0">
                <a:solidFill>
                  <a:srgbClr val="161B26"/>
                </a:solidFill>
                <a:latin typeface="Arial"/>
              </a:defRPr>
            </a:pPr>
            <a:r>
              <a:t>Select the exact tag, e.g. gemma4:latest.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" y="3300984"/>
            <a:ext cx="3456432" cy="1024128"/>
          </a:xfrm>
          <a:prstGeom prst="roundRect">
            <a:avLst/>
          </a:prstGeom>
          <a:solidFill>
            <a:srgbClr val="FFF4F4"/>
          </a:solidFill>
          <a:ln>
            <a:solidFill>
              <a:srgbClr val="FF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" y="3392424"/>
            <a:ext cx="3127248" cy="8412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200" b="1">
                <a:solidFill>
                  <a:srgbClr val="161B26"/>
                </a:solidFill>
                <a:latin typeface="Arial"/>
              </a:defRPr>
            </a:pPr>
            <a:r>
              <a:t>Connection refused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15968" y="3300984"/>
            <a:ext cx="3456432" cy="1024128"/>
          </a:xfrm>
          <a:prstGeom prst="roundRect">
            <a:avLst/>
          </a:prstGeom>
          <a:solidFill>
            <a:srgbClr val="FFF8E8"/>
          </a:solidFill>
          <a:ln>
            <a:solidFill>
              <a:srgbClr val="FFF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59" y="3392424"/>
            <a:ext cx="3127248" cy="8412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200" b="0">
                <a:solidFill>
                  <a:srgbClr val="161B26"/>
                </a:solidFill>
                <a:latin typeface="Arial"/>
              </a:defRPr>
            </a:pPr>
            <a:r>
              <a:t>Ollama is not running, or the base URL is wrong.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10144" y="3300984"/>
            <a:ext cx="3456432" cy="1024128"/>
          </a:xfrm>
          <a:prstGeom prst="roundRect">
            <a:avLst/>
          </a:prstGeom>
          <a:solidFill>
            <a:srgbClr val="ECFDF5"/>
          </a:solidFill>
          <a:ln>
            <a:solidFill>
              <a:srgbClr val="ECF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74736" y="3392424"/>
            <a:ext cx="3127248" cy="8412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200" b="0">
                <a:solidFill>
                  <a:srgbClr val="161B26"/>
                </a:solidFill>
                <a:latin typeface="Arial"/>
              </a:defRPr>
            </a:pPr>
            <a:r>
              <a:t>Start Ollama and use host.docker.internal:11434 in the credential.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" y="4608576"/>
            <a:ext cx="3456432" cy="1024128"/>
          </a:xfrm>
          <a:prstGeom prst="roundRect">
            <a:avLst/>
          </a:prstGeom>
          <a:solidFill>
            <a:srgbClr val="FFF4F4"/>
          </a:solidFill>
          <a:ln>
            <a:solidFill>
              <a:srgbClr val="FF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6384" y="4700016"/>
            <a:ext cx="3127248" cy="8412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200" b="1">
                <a:solidFill>
                  <a:srgbClr val="161B26"/>
                </a:solidFill>
                <a:latin typeface="Arial"/>
              </a:defRPr>
            </a:pPr>
            <a:r>
              <a:t>The first reply is very slow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15968" y="4608576"/>
            <a:ext cx="3456432" cy="1024128"/>
          </a:xfrm>
          <a:prstGeom prst="roundRect">
            <a:avLst/>
          </a:prstGeom>
          <a:solidFill>
            <a:srgbClr val="FFF8E8"/>
          </a:solidFill>
          <a:ln>
            <a:solidFill>
              <a:srgbClr val="FFF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80559" y="4700016"/>
            <a:ext cx="3127248" cy="8412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200" b="0">
                <a:solidFill>
                  <a:srgbClr val="161B26"/>
                </a:solidFill>
                <a:latin typeface="Arial"/>
              </a:defRPr>
            </a:pPr>
            <a:r>
              <a:t>A 9-GB model is cold-loading into memory.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10144" y="4608576"/>
            <a:ext cx="3456432" cy="1024128"/>
          </a:xfrm>
          <a:prstGeom prst="roundRect">
            <a:avLst/>
          </a:prstGeom>
          <a:solidFill>
            <a:srgbClr val="ECFDF5"/>
          </a:solidFill>
          <a:ln>
            <a:solidFill>
              <a:srgbClr val="ECF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74736" y="4700016"/>
            <a:ext cx="3127248" cy="8412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200" b="0">
                <a:solidFill>
                  <a:srgbClr val="161B26"/>
                </a:solidFill>
                <a:latin typeface="Arial"/>
              </a:defRPr>
            </a:pPr>
            <a:r>
              <a:t>Expected once per session - later replies are fast.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5989320"/>
            <a:ext cx="86868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600" b="1">
                <a:solidFill>
                  <a:srgbClr val="7C3AED"/>
                </a:solidFill>
                <a:latin typeface="Arial"/>
              </a:defRPr>
            </a:pPr>
            <a:r>
              <a:t>Change one variable, rerun the same test, compare the trace.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6428232"/>
            <a:ext cx="11183112" cy="13716"/>
          </a:xfrm>
          <a:prstGeom prst="rect">
            <a:avLst/>
          </a:prstGeom>
          <a:solidFill>
            <a:srgbClr val="DCE5F0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6483096"/>
            <a:ext cx="5212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00" b="0">
                <a:solidFill>
                  <a:srgbClr val="5B6372"/>
                </a:solidFill>
                <a:latin typeface="Arial"/>
              </a:defRPr>
            </a:pPr>
            <a:r>
              <a:t>C500 - Voice and Video Agents with n8n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51960" y="6483096"/>
            <a:ext cx="3749039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800" b="0">
                <a:solidFill>
                  <a:srgbClr val="5B6372"/>
                </a:solidFill>
                <a:latin typeface="Arial"/>
              </a:defRPr>
            </a:pPr>
            <a:r>
              <a:t>Copyright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09960" y="6483096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800" b="1">
                <a:solidFill>
                  <a:srgbClr val="5B6372"/>
                </a:solidFill>
                <a:latin typeface="Arial"/>
              </a:defRPr>
            </a:pPr>
            <a:r>
              <a:t>029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01752"/>
            <a:ext cx="10972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1">
                <a:solidFill>
                  <a:srgbClr val="1F6FEB"/>
                </a:solidFill>
                <a:latin typeface="Arial"/>
              </a:defRPr>
            </a:pPr>
            <a:r>
              <a:t>BUILD TARGET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800" b="1">
                <a:solidFill>
                  <a:srgbClr val="161B26"/>
                </a:solidFill>
                <a:latin typeface="Arial"/>
              </a:defRPr>
            </a:pPr>
            <a:r>
              <a:t>Lab 2: RAG IT Support Chatbot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417320"/>
            <a:ext cx="7360920" cy="3246120"/>
          </a:xfrm>
          <a:prstGeom prst="round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4400" y="1755648"/>
            <a:ext cx="1078992" cy="107899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55648"/>
            <a:ext cx="1078992" cy="10789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31720" y="1719072"/>
            <a:ext cx="21945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1">
                <a:solidFill>
                  <a:srgbClr val="1F6FEB"/>
                </a:solidFill>
                <a:latin typeface="Arial"/>
              </a:defRPr>
            </a:pPr>
            <a:r>
              <a:t>YOU WILL BUILD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31720" y="2048256"/>
            <a:ext cx="5074920" cy="131673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2000" b="1">
                <a:solidFill>
                  <a:srgbClr val="161B26"/>
                </a:solidFill>
                <a:latin typeface="Arial"/>
              </a:defRPr>
            </a:pPr>
            <a:r>
              <a:t>A chatbot that answers only from an uploaded IT FAQ PDF - and admits it when the answer is not in the document.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1720" y="3474720"/>
            <a:ext cx="19202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  <a:latin typeface="Arial"/>
              </a:defRPr>
            </a:pPr>
            <a:r>
              <a:t>DELIVERABLE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3822191"/>
            <a:ext cx="507492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500" b="0">
                <a:solidFill>
                  <a:srgbClr val="5B6372"/>
                </a:solidFill>
                <a:latin typeface="Arial"/>
              </a:defRPr>
            </a:pPr>
            <a:r>
              <a:t>A RAG chatbot answering from the IT FAQ, plus one provoked refusal captured in the execution trace.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02752" y="1417320"/>
            <a:ext cx="32918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02752" y="1417320"/>
            <a:ext cx="73152" cy="96012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540496" y="1636776"/>
            <a:ext cx="438912" cy="43891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40496" y="1636776"/>
            <a:ext cx="438912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07424" y="1554480"/>
            <a:ext cx="226771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600" b="1">
                <a:solidFill>
                  <a:srgbClr val="161B26"/>
                </a:solidFill>
                <a:latin typeface="Arial"/>
              </a:defRPr>
            </a:pPr>
            <a:r>
              <a:t>TIMEBOX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07424" y="1920240"/>
            <a:ext cx="2267712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0">
                <a:solidFill>
                  <a:srgbClr val="5B6372"/>
                </a:solidFill>
                <a:latin typeface="Arial"/>
              </a:defRPr>
            </a:pPr>
            <a:r>
              <a:t>60 minutes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02752" y="2606040"/>
            <a:ext cx="32918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302752" y="2606040"/>
            <a:ext cx="73152" cy="96012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540496" y="2825496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40496" y="2825496"/>
            <a:ext cx="438912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07424" y="2743200"/>
            <a:ext cx="226771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600" b="1">
                <a:solidFill>
                  <a:srgbClr val="161B26"/>
                </a:solidFill>
                <a:latin typeface="Arial"/>
              </a:defRPr>
            </a:pPr>
            <a:r>
              <a:t>MODE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07424" y="3108960"/>
            <a:ext cx="2267712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0">
                <a:solidFill>
                  <a:srgbClr val="5B6372"/>
                </a:solidFill>
                <a:latin typeface="Arial"/>
              </a:defRPr>
            </a:pPr>
            <a:r>
              <a:t>Demo, guided build, independent test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302752" y="3794760"/>
            <a:ext cx="32918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302752" y="3794760"/>
            <a:ext cx="73152" cy="96012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540496" y="4014216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40496" y="4014216"/>
            <a:ext cx="438912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07424" y="3931920"/>
            <a:ext cx="226771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600" b="1">
                <a:solidFill>
                  <a:srgbClr val="161B26"/>
                </a:solidFill>
                <a:latin typeface="Arial"/>
              </a:defRPr>
            </a:pPr>
            <a:r>
              <a:t>EVIDENCE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07424" y="4297680"/>
            <a:ext cx="2267712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0">
                <a:solidFill>
                  <a:srgbClr val="5B6372"/>
                </a:solidFill>
                <a:latin typeface="Arial"/>
              </a:defRPr>
            </a:pPr>
            <a:r>
              <a:t>Execution trace plus learner artifact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5230368"/>
            <a:ext cx="731520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000" b="1">
                <a:solidFill>
                  <a:srgbClr val="7C3AED"/>
                </a:solidFill>
                <a:latin typeface="Arial"/>
              </a:defRPr>
            </a:pPr>
            <a:r>
              <a:t>Success is demonstrated, not assumed.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6428232"/>
            <a:ext cx="11183112" cy="13716"/>
          </a:xfrm>
          <a:prstGeom prst="rect">
            <a:avLst/>
          </a:prstGeom>
          <a:solidFill>
            <a:srgbClr val="DCE5F0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6483096"/>
            <a:ext cx="5212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00" b="0">
                <a:solidFill>
                  <a:srgbClr val="5B6372"/>
                </a:solidFill>
                <a:latin typeface="Arial"/>
              </a:defRPr>
            </a:pPr>
            <a:r>
              <a:t>C500 - Voice and Video Agents with n8n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6483096"/>
            <a:ext cx="3749039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800" b="0">
                <a:solidFill>
                  <a:srgbClr val="5B6372"/>
                </a:solidFill>
                <a:latin typeface="Arial"/>
              </a:defRPr>
            </a:pPr>
            <a:r>
              <a:t>Copyright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09960" y="6483096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800" b="1">
                <a:solidFill>
                  <a:srgbClr val="5B6372"/>
                </a:solidFill>
                <a:latin typeface="Arial"/>
              </a:defRPr>
            </a:pPr>
            <a:r>
              <a:t>030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01752"/>
            <a:ext cx="10972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1">
                <a:solidFill>
                  <a:srgbClr val="1F6FEB"/>
                </a:solidFill>
                <a:latin typeface="Arial"/>
              </a:defRPr>
            </a:pPr>
            <a:r>
              <a:t>CONCEPT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800" b="1">
                <a:solidFill>
                  <a:srgbClr val="161B26"/>
                </a:solidFill>
                <a:latin typeface="Arial"/>
              </a:defRPr>
            </a:pPr>
            <a:r>
              <a:t>Lab 2: Four Ideas That Make It Work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" y="1389888"/>
            <a:ext cx="5349240" cy="1901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1792" y="1389888"/>
            <a:ext cx="73152" cy="190195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59536" y="1609344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609344"/>
            <a:ext cx="438912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26464" y="1591056"/>
            <a:ext cx="432511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700" b="1">
                <a:solidFill>
                  <a:srgbClr val="161B26"/>
                </a:solidFill>
                <a:latin typeface="Arial"/>
              </a:defRPr>
            </a:pPr>
            <a:r>
              <a:t>Ingest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048256"/>
            <a:ext cx="4846320" cy="10789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400" b="0">
                <a:solidFill>
                  <a:srgbClr val="5B6372"/>
                </a:solidFill>
                <a:latin typeface="Arial"/>
              </a:defRPr>
            </a:pPr>
            <a:r>
              <a:t>Split the PDF into chunks, embed each chunk with nomic-embed-text, store the vectors.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389888"/>
            <a:ext cx="5349240" cy="1901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99632" y="1389888"/>
            <a:ext cx="73152" cy="19019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37376" y="1609344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37376" y="1609344"/>
            <a:ext cx="438912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4304" y="1591056"/>
            <a:ext cx="432511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700" b="1">
                <a:solidFill>
                  <a:srgbClr val="161B26"/>
                </a:solidFill>
                <a:latin typeface="Arial"/>
              </a:defRPr>
            </a:pPr>
            <a:r>
              <a:t>Retrieve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2" y="2048256"/>
            <a:ext cx="4846320" cy="10789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400" b="0">
                <a:solidFill>
                  <a:srgbClr val="5B6372"/>
                </a:solidFill>
                <a:latin typeface="Arial"/>
              </a:defRPr>
            </a:pPr>
            <a:r>
              <a:t>Embed the question the same way and fetch the nearest chunks - search by meaning, not keywords.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" y="3675887"/>
            <a:ext cx="5349240" cy="1901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" y="3675887"/>
            <a:ext cx="73152" cy="1901952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59536" y="3895344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6" y="3895344"/>
            <a:ext cx="438912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26464" y="3877055"/>
            <a:ext cx="432511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700" b="1">
                <a:solidFill>
                  <a:srgbClr val="161B26"/>
                </a:solidFill>
                <a:latin typeface="Arial"/>
              </a:defRPr>
            </a:pPr>
            <a:r>
              <a:t>Grounded generation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" y="4334255"/>
            <a:ext cx="4846320" cy="10789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400" b="0">
                <a:solidFill>
                  <a:srgbClr val="5B6372"/>
                </a:solidFill>
                <a:latin typeface="Arial"/>
              </a:defRPr>
            </a:pPr>
            <a:r>
              <a:t>gemma4 answers ONLY from the retrieved chunks, or says it does not know.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9632" y="3675887"/>
            <a:ext cx="5349240" cy="1901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99632" y="3675887"/>
            <a:ext cx="73152" cy="19019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37376" y="3895344"/>
            <a:ext cx="438912" cy="43891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37376" y="3895344"/>
            <a:ext cx="438912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04304" y="3877055"/>
            <a:ext cx="432511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700" b="1">
                <a:solidFill>
                  <a:srgbClr val="161B26"/>
                </a:solidFill>
                <a:latin typeface="Arial"/>
              </a:defRPr>
            </a:pPr>
            <a:r>
              <a:t>The refusal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73952" y="4334255"/>
            <a:ext cx="4846320" cy="10789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400" b="0">
                <a:solidFill>
                  <a:srgbClr val="5B6372"/>
                </a:solidFill>
                <a:latin typeface="Arial"/>
              </a:defRPr>
            </a:pPr>
            <a:r>
              <a:t>A question outside the PDF must get an honest refusal, not an invention. This is the graded behaviour.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5806440"/>
            <a:ext cx="80467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600" b="0">
                <a:solidFill>
                  <a:srgbClr val="5B6372"/>
                </a:solidFill>
                <a:latin typeface="Arial"/>
              </a:defRPr>
            </a:pPr>
            <a:r>
              <a:t>Connect the four ideas before touching the workflow canvas.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6428232"/>
            <a:ext cx="11183112" cy="13716"/>
          </a:xfrm>
          <a:prstGeom prst="rect">
            <a:avLst/>
          </a:prstGeom>
          <a:solidFill>
            <a:srgbClr val="DCE5F0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6483096"/>
            <a:ext cx="5212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00" b="0">
                <a:solidFill>
                  <a:srgbClr val="5B6372"/>
                </a:solidFill>
                <a:latin typeface="Arial"/>
              </a:defRPr>
            </a:pPr>
            <a:r>
              <a:t>C500 - Voice and Video Agents with n8n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51960" y="6483096"/>
            <a:ext cx="3749039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800" b="0">
                <a:solidFill>
                  <a:srgbClr val="5B6372"/>
                </a:solidFill>
                <a:latin typeface="Arial"/>
              </a:defRPr>
            </a:pPr>
            <a:r>
              <a:t>Copyright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09960" y="6483096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800" b="1">
                <a:solidFill>
                  <a:srgbClr val="5B6372"/>
                </a:solidFill>
                <a:latin typeface="Arial"/>
              </a:defRPr>
            </a:pPr>
            <a:r>
              <a:t>031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01752"/>
            <a:ext cx="10972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1">
                <a:solidFill>
                  <a:srgbClr val="1F6FEB"/>
                </a:solidFill>
                <a:latin typeface="Arial"/>
              </a:defRPr>
            </a:pPr>
            <a:r>
              <a:t>WORKFLOW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800" b="1">
                <a:solidFill>
                  <a:srgbClr val="161B26"/>
                </a:solidFill>
                <a:latin typeface="Arial"/>
              </a:defRPr>
            </a:pPr>
            <a:r>
              <a:t>Lab 2: Build Sequence</a:t>
            </a:r>
          </a:p>
        </p:txBody>
      </p:sp>
      <p:sp>
        <p:nvSpPr>
          <p:cNvPr id="4" name="Oval 3"/>
          <p:cNvSpPr/>
          <p:nvPr/>
        </p:nvSpPr>
        <p:spPr>
          <a:xfrm>
            <a:off x="658368" y="1463039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463039"/>
            <a:ext cx="53035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08176" y="1325880"/>
            <a:ext cx="4690872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8488" y="1417320"/>
            <a:ext cx="4279392" cy="11887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200" b="0">
                <a:solidFill>
                  <a:srgbClr val="161B26"/>
                </a:solidFill>
                <a:latin typeface="Arial"/>
              </a:defRPr>
            </a:pPr>
            <a:r>
              <a:t>Import lab2/rag-flow.json and set it Active - both webhooks (/rag-upload, /rag-chat) exist only while it is Active.</a:t>
            </a:r>
          </a:p>
        </p:txBody>
      </p:sp>
      <p:sp>
        <p:nvSpPr>
          <p:cNvPr id="8" name="Oval 7"/>
          <p:cNvSpPr/>
          <p:nvPr/>
        </p:nvSpPr>
        <p:spPr>
          <a:xfrm>
            <a:off x="6373368" y="1463039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73368" y="1463039"/>
            <a:ext cx="53035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23176" y="1325880"/>
            <a:ext cx="4690872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33488" y="1417320"/>
            <a:ext cx="4279392" cy="11887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200" b="0">
                <a:solidFill>
                  <a:srgbClr val="161B26"/>
                </a:solidFill>
                <a:latin typeface="Arial"/>
              </a:defRPr>
            </a:pPr>
            <a:r>
              <a:t>Serve the page: from labs_local_n8n/lab2, run python3 -m http.server 8092 (Windows: python).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309067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3090672"/>
            <a:ext cx="53035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08176" y="2953512"/>
            <a:ext cx="4690872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18488" y="3044952"/>
            <a:ext cx="4279392" cy="11887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200" b="0">
                <a:solidFill>
                  <a:srgbClr val="161B26"/>
                </a:solidFill>
                <a:latin typeface="Arial"/>
              </a:defRPr>
            </a:pPr>
            <a:r>
              <a:t>Open http://localhost:8092 - never by double-clicking index.html - and upload it-faq.pdf. Wait for the confirmation.</a:t>
            </a:r>
          </a:p>
        </p:txBody>
      </p:sp>
      <p:sp>
        <p:nvSpPr>
          <p:cNvPr id="16" name="Oval 15"/>
          <p:cNvSpPr/>
          <p:nvPr/>
        </p:nvSpPr>
        <p:spPr>
          <a:xfrm>
            <a:off x="6373368" y="309067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73368" y="3090672"/>
            <a:ext cx="53035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23176" y="2953512"/>
            <a:ext cx="4690872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33488" y="3044952"/>
            <a:ext cx="4279392" cy="11887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200" b="0">
                <a:solidFill>
                  <a:srgbClr val="161B26"/>
                </a:solidFill>
                <a:latin typeface="Arial"/>
              </a:defRPr>
            </a:pPr>
            <a:r>
              <a:t>Ask a question the FAQ answers, and check the reply against the PDF.</a:t>
            </a:r>
          </a:p>
        </p:txBody>
      </p:sp>
      <p:sp>
        <p:nvSpPr>
          <p:cNvPr id="20" name="Oval 19"/>
          <p:cNvSpPr/>
          <p:nvPr/>
        </p:nvSpPr>
        <p:spPr>
          <a:xfrm>
            <a:off x="658368" y="4718304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4718304"/>
            <a:ext cx="53035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408176" y="4581144"/>
            <a:ext cx="4690872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18488" y="4672583"/>
            <a:ext cx="4279392" cy="11887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200" b="0">
                <a:solidFill>
                  <a:srgbClr val="161B26"/>
                </a:solidFill>
                <a:latin typeface="Arial"/>
              </a:defRPr>
            </a:pPr>
            <a:r>
              <a:t>Ask a question it does NOT answer - 'What is the CEO's salary?' - and demand a refusal.</a:t>
            </a:r>
          </a:p>
        </p:txBody>
      </p:sp>
      <p:sp>
        <p:nvSpPr>
          <p:cNvPr id="24" name="Oval 23"/>
          <p:cNvSpPr/>
          <p:nvPr/>
        </p:nvSpPr>
        <p:spPr>
          <a:xfrm>
            <a:off x="6373368" y="4718304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73368" y="4718304"/>
            <a:ext cx="53035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23176" y="4581144"/>
            <a:ext cx="4690872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33488" y="4672583"/>
            <a:ext cx="4279392" cy="11887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200" b="0">
                <a:solidFill>
                  <a:srgbClr val="161B26"/>
                </a:solidFill>
                <a:latin typeface="Arial"/>
              </a:defRPr>
            </a:pPr>
            <a:r>
              <a:t>Open the execution and read the retrieved chunks for both questions. If the right chunk never came back, no prompt rewrite will fix the answer.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6053328"/>
            <a:ext cx="59436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500" b="1">
                <a:solidFill>
                  <a:srgbClr val="7C3AED"/>
                </a:solidFill>
                <a:latin typeface="Arial"/>
              </a:defRPr>
            </a:pPr>
            <a:r>
              <a:t>Build one observable behavior at a time.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6428232"/>
            <a:ext cx="11183112" cy="13716"/>
          </a:xfrm>
          <a:prstGeom prst="rect">
            <a:avLst/>
          </a:prstGeom>
          <a:solidFill>
            <a:srgbClr val="DCE5F0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6483096"/>
            <a:ext cx="5212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00" b="0">
                <a:solidFill>
                  <a:srgbClr val="5B6372"/>
                </a:solidFill>
                <a:latin typeface="Arial"/>
              </a:defRPr>
            </a:pPr>
            <a:r>
              <a:t>C500 - Voice and Video Agents with n8n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51960" y="6483096"/>
            <a:ext cx="3749039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800" b="0">
                <a:solidFill>
                  <a:srgbClr val="5B6372"/>
                </a:solidFill>
                <a:latin typeface="Arial"/>
              </a:defRPr>
            </a:pPr>
            <a:r>
              <a:t>Copyright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09960" y="6483096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800" b="1">
                <a:solidFill>
                  <a:srgbClr val="5B6372"/>
                </a:solidFill>
                <a:latin typeface="Arial"/>
              </a:defRPr>
            </a:pPr>
            <a:r>
              <a:t>032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01752"/>
            <a:ext cx="10972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1">
                <a:solidFill>
                  <a:srgbClr val="1F6FEB"/>
                </a:solidFill>
                <a:latin typeface="Arial"/>
              </a:defRPr>
            </a:pPr>
            <a:r>
              <a:t>LAB 2 - RAG IT SUPPORT CHATBOT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800" b="1">
                <a:solidFill>
                  <a:srgbClr val="161B26"/>
                </a:solidFill>
                <a:latin typeface="Arial"/>
              </a:defRPr>
            </a:pPr>
            <a:r>
              <a:t>Lab 2 - RAG IT Support Chatbot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667589" y="1271016"/>
            <a:ext cx="6856517" cy="427024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ab2-rag-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2453" y="1325880"/>
            <a:ext cx="6746789" cy="4160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13232" y="5806440"/>
            <a:ext cx="1078992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500" b="0">
                <a:solidFill>
                  <a:srgbClr val="5B6372"/>
                </a:solidFill>
                <a:latin typeface="Arial"/>
              </a:defRPr>
            </a:pPr>
            <a:r>
              <a:t>Lab 2 - RAG IT Support Chatbot: ingestion, embeddings and the vector store.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28232"/>
            <a:ext cx="11183112" cy="13716"/>
          </a:xfrm>
          <a:prstGeom prst="rect">
            <a:avLst/>
          </a:prstGeom>
          <a:solidFill>
            <a:srgbClr val="DCE5F0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83096"/>
            <a:ext cx="5212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00" b="0">
                <a:solidFill>
                  <a:srgbClr val="5B6372"/>
                </a:solidFill>
                <a:latin typeface="Arial"/>
              </a:defRPr>
            </a:pPr>
            <a:r>
              <a:t>C500 - Voice and Video Agents with n8n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51960" y="6483096"/>
            <a:ext cx="3749039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800" b="0">
                <a:solidFill>
                  <a:srgbClr val="5B6372"/>
                </a:solidFill>
                <a:latin typeface="Arial"/>
              </a:defRPr>
            </a:pPr>
            <a:r>
              <a:t>Copyright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483096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800" b="1">
                <a:solidFill>
                  <a:srgbClr val="5B6372"/>
                </a:solidFill>
                <a:latin typeface="Arial"/>
              </a:defRPr>
            </a:pPr>
            <a:r>
              <a:t>033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01752"/>
            <a:ext cx="10972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1">
                <a:solidFill>
                  <a:srgbClr val="1F6FEB"/>
                </a:solidFill>
                <a:latin typeface="Arial"/>
              </a:defRPr>
            </a:pPr>
            <a:r>
              <a:t>LAB 2 - RAG IT SUPPORT CHATBOT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800" b="1">
                <a:solidFill>
                  <a:srgbClr val="161B26"/>
                </a:solidFill>
                <a:latin typeface="Arial"/>
              </a:defRPr>
            </a:pPr>
            <a:r>
              <a:t>The Lab 2 upload page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667589" y="1271016"/>
            <a:ext cx="6856517" cy="427024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ab2-brochure-uplo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2453" y="1325880"/>
            <a:ext cx="6746789" cy="4160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13232" y="5806440"/>
            <a:ext cx="1078992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500" b="0">
                <a:solidFill>
                  <a:srgbClr val="5B6372"/>
                </a:solidFill>
                <a:latin typeface="Arial"/>
              </a:defRPr>
            </a:pPr>
            <a:r>
              <a:t>The Lab 2 upload page: the learner pastes their OWN n8n webhook URL.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28232"/>
            <a:ext cx="11183112" cy="13716"/>
          </a:xfrm>
          <a:prstGeom prst="rect">
            <a:avLst/>
          </a:prstGeom>
          <a:solidFill>
            <a:srgbClr val="DCE5F0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83096"/>
            <a:ext cx="5212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00" b="0">
                <a:solidFill>
                  <a:srgbClr val="5B6372"/>
                </a:solidFill>
                <a:latin typeface="Arial"/>
              </a:defRPr>
            </a:pPr>
            <a:r>
              <a:t>C500 - Voice and Video Agents with n8n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51960" y="6483096"/>
            <a:ext cx="3749039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800" b="0">
                <a:solidFill>
                  <a:srgbClr val="5B6372"/>
                </a:solidFill>
                <a:latin typeface="Arial"/>
              </a:defRPr>
            </a:pPr>
            <a:r>
              <a:t>Copyright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483096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800" b="1">
                <a:solidFill>
                  <a:srgbClr val="5B6372"/>
                </a:solidFill>
                <a:latin typeface="Arial"/>
              </a:defRPr>
            </a:pPr>
            <a:r>
              <a:t>034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01752"/>
            <a:ext cx="10972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1">
                <a:solidFill>
                  <a:srgbClr val="1F6FEB"/>
                </a:solidFill>
                <a:latin typeface="Arial"/>
              </a:defRPr>
            </a:pPr>
            <a:r>
              <a:t>QUALITY GATE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800" b="1">
                <a:solidFill>
                  <a:srgbClr val="161B26"/>
                </a:solidFill>
                <a:latin typeface="Arial"/>
              </a:defRPr>
            </a:pPr>
            <a:r>
              <a:t>Lab 2: Prove, Evaluate, Improve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" y="1353312"/>
            <a:ext cx="6995160" cy="4498848"/>
          </a:xfrm>
          <a:prstGeom prst="round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32688" y="1664208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664208"/>
            <a:ext cx="457200" cy="4572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27632" y="1645920"/>
            <a:ext cx="5440680" cy="7772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500" b="0">
                <a:solidFill>
                  <a:srgbClr val="161B26"/>
                </a:solidFill>
                <a:latin typeface="Arial"/>
              </a:defRPr>
            </a:pPr>
            <a:r>
              <a:t>A question covered by the PDF gets a grounded, correct answer.</a:t>
            </a:r>
          </a:p>
        </p:txBody>
      </p:sp>
      <p:sp>
        <p:nvSpPr>
          <p:cNvPr id="8" name="Oval 7"/>
          <p:cNvSpPr/>
          <p:nvPr/>
        </p:nvSpPr>
        <p:spPr>
          <a:xfrm>
            <a:off x="932688" y="2496312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496312"/>
            <a:ext cx="457200" cy="4572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27632" y="2478024"/>
            <a:ext cx="5440680" cy="7772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500" b="0">
                <a:solidFill>
                  <a:srgbClr val="161B26"/>
                </a:solidFill>
                <a:latin typeface="Arial"/>
              </a:defRPr>
            </a:pPr>
            <a:r>
              <a:t>A question not covered gets a refusal, not an invention.</a:t>
            </a:r>
          </a:p>
        </p:txBody>
      </p:sp>
      <p:sp>
        <p:nvSpPr>
          <p:cNvPr id="11" name="Oval 10"/>
          <p:cNvSpPr/>
          <p:nvPr/>
        </p:nvSpPr>
        <p:spPr>
          <a:xfrm>
            <a:off x="932688" y="3328416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3328416"/>
            <a:ext cx="457200" cy="4572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27632" y="3310128"/>
            <a:ext cx="5440680" cy="7772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500" b="0">
                <a:solidFill>
                  <a:srgbClr val="161B26"/>
                </a:solidFill>
                <a:latin typeface="Arial"/>
              </a:defRPr>
            </a:pPr>
            <a:r>
              <a:t>You can point to the retrieved chunks in the execution trace.</a:t>
            </a:r>
          </a:p>
        </p:txBody>
      </p:sp>
      <p:sp>
        <p:nvSpPr>
          <p:cNvPr id="14" name="Oval 13"/>
          <p:cNvSpPr/>
          <p:nvPr/>
        </p:nvSpPr>
        <p:spPr>
          <a:xfrm>
            <a:off x="932688" y="4160520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4160520"/>
            <a:ext cx="457200" cy="4572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OK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27632" y="4142232"/>
            <a:ext cx="5440680" cy="7772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500" b="0">
                <a:solidFill>
                  <a:srgbClr val="161B26"/>
                </a:solidFill>
                <a:latin typeface="Arial"/>
              </a:defRPr>
            </a:pPr>
            <a:r>
              <a:t>Run one edge case and record the change made after evaluation.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73568" y="1353312"/>
            <a:ext cx="3611880" cy="4498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2752" y="1682496"/>
            <a:ext cx="29260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1">
                <a:solidFill>
                  <a:srgbClr val="1F6FEB"/>
                </a:solidFill>
                <a:latin typeface="Arial"/>
              </a:defRPr>
            </a:pPr>
            <a:r>
              <a:t>EVIDENCE STACK</a:t>
            </a:r>
          </a:p>
        </p:txBody>
      </p:sp>
      <p:sp>
        <p:nvSpPr>
          <p:cNvPr id="19" name="Oval 18"/>
          <p:cNvSpPr/>
          <p:nvPr/>
        </p:nvSpPr>
        <p:spPr>
          <a:xfrm>
            <a:off x="8302752" y="2176272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02752" y="2176272"/>
            <a:ext cx="411480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87968" y="2157984"/>
            <a:ext cx="914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400" b="1">
                <a:solidFill>
                  <a:srgbClr val="161B26"/>
                </a:solidFill>
                <a:latin typeface="Arial"/>
              </a:defRPr>
            </a:pPr>
            <a:r>
              <a:t>Input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02368" y="2157984"/>
            <a:ext cx="1353312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0">
                <a:solidFill>
                  <a:srgbClr val="5B6372"/>
                </a:solidFill>
                <a:latin typeface="Arial"/>
              </a:defRPr>
            </a:pPr>
            <a:r>
              <a:t>Exact test payload</a:t>
            </a:r>
          </a:p>
        </p:txBody>
      </p:sp>
      <p:sp>
        <p:nvSpPr>
          <p:cNvPr id="23" name="Oval 22"/>
          <p:cNvSpPr/>
          <p:nvPr/>
        </p:nvSpPr>
        <p:spPr>
          <a:xfrm>
            <a:off x="8302752" y="2971800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02752" y="2971800"/>
            <a:ext cx="411480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87968" y="2953512"/>
            <a:ext cx="914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400" b="1">
                <a:solidFill>
                  <a:srgbClr val="161B26"/>
                </a:solidFill>
                <a:latin typeface="Arial"/>
              </a:defRPr>
            </a:pPr>
            <a:r>
              <a:t>Trace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02368" y="2953512"/>
            <a:ext cx="1353312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0">
                <a:solidFill>
                  <a:srgbClr val="5B6372"/>
                </a:solidFill>
                <a:latin typeface="Arial"/>
              </a:defRPr>
            </a:pPr>
            <a:r>
              <a:t>Node execution path</a:t>
            </a:r>
          </a:p>
        </p:txBody>
      </p:sp>
      <p:sp>
        <p:nvSpPr>
          <p:cNvPr id="27" name="Oval 26"/>
          <p:cNvSpPr/>
          <p:nvPr/>
        </p:nvSpPr>
        <p:spPr>
          <a:xfrm>
            <a:off x="8302752" y="3767328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02752" y="3767328"/>
            <a:ext cx="411480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87968" y="3749040"/>
            <a:ext cx="914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400" b="1">
                <a:solidFill>
                  <a:srgbClr val="161B26"/>
                </a:solidFill>
                <a:latin typeface="Arial"/>
              </a:defRPr>
            </a:pPr>
            <a:r>
              <a:t>Output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02368" y="3749040"/>
            <a:ext cx="1353312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0">
                <a:solidFill>
                  <a:srgbClr val="5B6372"/>
                </a:solidFill>
                <a:latin typeface="Arial"/>
              </a:defRPr>
            </a:pPr>
            <a:r>
              <a:t>Generated result</a:t>
            </a:r>
          </a:p>
        </p:txBody>
      </p:sp>
      <p:sp>
        <p:nvSpPr>
          <p:cNvPr id="31" name="Oval 30"/>
          <p:cNvSpPr/>
          <p:nvPr/>
        </p:nvSpPr>
        <p:spPr>
          <a:xfrm>
            <a:off x="8302752" y="4562856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2752" y="4562856"/>
            <a:ext cx="411480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87968" y="4544568"/>
            <a:ext cx="914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400" b="1">
                <a:solidFill>
                  <a:srgbClr val="161B26"/>
                </a:solidFill>
                <a:latin typeface="Arial"/>
              </a:defRPr>
            </a:pPr>
            <a:r>
              <a:t>Decision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02368" y="4544568"/>
            <a:ext cx="1353312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0">
                <a:solidFill>
                  <a:srgbClr val="5B6372"/>
                </a:solidFill>
                <a:latin typeface="Arial"/>
              </a:defRPr>
            </a:pPr>
            <a:r>
              <a:t>Rubric and revision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02752" y="5413248"/>
            <a:ext cx="9144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Arial"/>
              </a:defRPr>
            </a:pPr>
            <a:r>
              <a:t>PASS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253728" y="5458968"/>
            <a:ext cx="1938528" cy="10972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02920" y="6428232"/>
            <a:ext cx="11183112" cy="13716"/>
          </a:xfrm>
          <a:prstGeom prst="rect">
            <a:avLst/>
          </a:prstGeom>
          <a:solidFill>
            <a:srgbClr val="DCE5F0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6483096"/>
            <a:ext cx="5212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00" b="0">
                <a:solidFill>
                  <a:srgbClr val="5B6372"/>
                </a:solidFill>
                <a:latin typeface="Arial"/>
              </a:defRPr>
            </a:pPr>
            <a:r>
              <a:t>C500 - Voice and Video Agents with n8n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51960" y="6483096"/>
            <a:ext cx="3749039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800" b="0">
                <a:solidFill>
                  <a:srgbClr val="5B6372"/>
                </a:solidFill>
                <a:latin typeface="Arial"/>
              </a:defRPr>
            </a:pPr>
            <a:r>
              <a:t>Copyright 2026 Tertiary Infotech Academy Pte Ltd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109960" y="6483096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800" b="1">
                <a:solidFill>
                  <a:srgbClr val="5B6372"/>
                </a:solidFill>
                <a:latin typeface="Arial"/>
              </a:defRPr>
            </a:pPr>
            <a:r>
              <a:t>035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01752"/>
            <a:ext cx="10972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1">
                <a:solidFill>
                  <a:srgbClr val="1F6FEB"/>
                </a:solidFill>
                <a:latin typeface="Arial"/>
              </a:defRPr>
            </a:pPr>
            <a:r>
              <a:t>TROUBLESHOOTING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800" b="1">
                <a:solidFill>
                  <a:srgbClr val="161B26"/>
                </a:solidFill>
                <a:latin typeface="Arial"/>
              </a:defRPr>
            </a:pPr>
            <a:r>
              <a:t>Lab 2: Diagnose Before Rebuilding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" y="1344168"/>
            <a:ext cx="3456432" cy="438912"/>
          </a:xfrm>
          <a:prstGeom prst="roundRect">
            <a:avLst/>
          </a:prstGeom>
          <a:solidFill>
            <a:srgbClr val="E25555"/>
          </a:solidFill>
          <a:ln>
            <a:solidFill>
              <a:srgbClr val="E2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408176"/>
            <a:ext cx="345643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SYMPTOM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15968" y="1344168"/>
            <a:ext cx="3456432" cy="438912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15968" y="1408176"/>
            <a:ext cx="345643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LIKELY CAUSE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10144" y="1344168"/>
            <a:ext cx="3456432" cy="43891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10144" y="1408176"/>
            <a:ext cx="345643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TARGETED FIX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993392"/>
            <a:ext cx="3456432" cy="1024128"/>
          </a:xfrm>
          <a:prstGeom prst="roundRect">
            <a:avLst/>
          </a:prstGeom>
          <a:solidFill>
            <a:srgbClr val="FFF4F4"/>
          </a:solidFill>
          <a:ln>
            <a:solidFill>
              <a:srgbClr val="FF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2084832"/>
            <a:ext cx="3127248" cy="8412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200" b="1">
                <a:solidFill>
                  <a:srgbClr val="161B26"/>
                </a:solidFill>
                <a:latin typeface="Arial"/>
              </a:defRPr>
            </a:pPr>
            <a:r>
              <a:t>Every button dies silently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15968" y="1993392"/>
            <a:ext cx="3456432" cy="1024128"/>
          </a:xfrm>
          <a:prstGeom prst="roundRect">
            <a:avLst/>
          </a:prstGeom>
          <a:solidFill>
            <a:srgbClr val="FFF8E8"/>
          </a:solidFill>
          <a:ln>
            <a:solidFill>
              <a:srgbClr val="FFF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59" y="2084832"/>
            <a:ext cx="3127248" cy="8412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200" b="0">
                <a:solidFill>
                  <a:srgbClr val="161B26"/>
                </a:solidFill>
                <a:latin typeface="Arial"/>
              </a:defRPr>
            </a:pPr>
            <a:r>
              <a:t>The page was opened from file://.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10144" y="1993392"/>
            <a:ext cx="3456432" cy="1024128"/>
          </a:xfrm>
          <a:prstGeom prst="roundRect">
            <a:avLst/>
          </a:prstGeom>
          <a:solidFill>
            <a:srgbClr val="ECFDF5"/>
          </a:solidFill>
          <a:ln>
            <a:solidFill>
              <a:srgbClr val="ECF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74736" y="2084832"/>
            <a:ext cx="3127248" cy="8412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200" b="0">
                <a:solidFill>
                  <a:srgbClr val="161B26"/>
                </a:solidFill>
                <a:latin typeface="Arial"/>
              </a:defRPr>
            </a:pPr>
            <a:r>
              <a:t>Serve it over http://localhost - the browser blocks fetch() on file URLs.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" y="3300984"/>
            <a:ext cx="3456432" cy="1024128"/>
          </a:xfrm>
          <a:prstGeom prst="roundRect">
            <a:avLst/>
          </a:prstGeom>
          <a:solidFill>
            <a:srgbClr val="FFF4F4"/>
          </a:solidFill>
          <a:ln>
            <a:solidFill>
              <a:srgbClr val="FF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" y="3392424"/>
            <a:ext cx="3127248" cy="8412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200" b="1">
                <a:solidFill>
                  <a:srgbClr val="161B26"/>
                </a:solidFill>
                <a:latin typeface="Arial"/>
              </a:defRPr>
            </a:pPr>
            <a:r>
              <a:t>The website cannot reach n8n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15968" y="3300984"/>
            <a:ext cx="3456432" cy="1024128"/>
          </a:xfrm>
          <a:prstGeom prst="roundRect">
            <a:avLst/>
          </a:prstGeom>
          <a:solidFill>
            <a:srgbClr val="FFF8E8"/>
          </a:solidFill>
          <a:ln>
            <a:solidFill>
              <a:srgbClr val="FFF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59" y="3392424"/>
            <a:ext cx="3127248" cy="8412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200" b="0">
                <a:solidFill>
                  <a:srgbClr val="161B26"/>
                </a:solidFill>
                <a:latin typeface="Arial"/>
              </a:defRPr>
            </a:pPr>
            <a:r>
              <a:t>The workflow is not Active.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10144" y="3300984"/>
            <a:ext cx="3456432" cy="1024128"/>
          </a:xfrm>
          <a:prstGeom prst="roundRect">
            <a:avLst/>
          </a:prstGeom>
          <a:solidFill>
            <a:srgbClr val="ECFDF5"/>
          </a:solidFill>
          <a:ln>
            <a:solidFill>
              <a:srgbClr val="ECF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74736" y="3392424"/>
            <a:ext cx="3127248" cy="8412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200" b="0">
                <a:solidFill>
                  <a:srgbClr val="161B26"/>
                </a:solidFill>
                <a:latin typeface="Arial"/>
              </a:defRPr>
            </a:pPr>
            <a:r>
              <a:t>Activate it - the production /webhook/ path does not exist until you do.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" y="4608576"/>
            <a:ext cx="3456432" cy="1024128"/>
          </a:xfrm>
          <a:prstGeom prst="roundRect">
            <a:avLst/>
          </a:prstGeom>
          <a:solidFill>
            <a:srgbClr val="FFF4F4"/>
          </a:solidFill>
          <a:ln>
            <a:solidFill>
              <a:srgbClr val="FF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6384" y="4700016"/>
            <a:ext cx="3127248" cy="8412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200" b="1">
                <a:solidFill>
                  <a:srgbClr val="161B26"/>
                </a:solidFill>
                <a:latin typeface="Arial"/>
              </a:defRPr>
            </a:pPr>
            <a:r>
              <a:t>Answers are wrong or missing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15968" y="4608576"/>
            <a:ext cx="3456432" cy="1024128"/>
          </a:xfrm>
          <a:prstGeom prst="roundRect">
            <a:avLst/>
          </a:prstGeom>
          <a:solidFill>
            <a:srgbClr val="FFF8E8"/>
          </a:solidFill>
          <a:ln>
            <a:solidFill>
              <a:srgbClr val="FFF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80559" y="4700016"/>
            <a:ext cx="3127248" cy="8412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200" b="0">
                <a:solidFill>
                  <a:srgbClr val="161B26"/>
                </a:solidFill>
                <a:latin typeface="Arial"/>
              </a:defRPr>
            </a:pPr>
            <a:r>
              <a:t>The right chunk was never retrieved.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10144" y="4608576"/>
            <a:ext cx="3456432" cy="1024128"/>
          </a:xfrm>
          <a:prstGeom prst="roundRect">
            <a:avLst/>
          </a:prstGeom>
          <a:solidFill>
            <a:srgbClr val="ECFDF5"/>
          </a:solidFill>
          <a:ln>
            <a:solidFill>
              <a:srgbClr val="ECF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74736" y="4700016"/>
            <a:ext cx="3127248" cy="8412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200" b="0">
                <a:solidFill>
                  <a:srgbClr val="161B26"/>
                </a:solidFill>
                <a:latin typeface="Arial"/>
              </a:defRPr>
            </a:pPr>
            <a:r>
              <a:t>Read the retrieved chunks first; fix chunking or top-k, not the prompt.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5989320"/>
            <a:ext cx="86868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600" b="1">
                <a:solidFill>
                  <a:srgbClr val="7C3AED"/>
                </a:solidFill>
                <a:latin typeface="Arial"/>
              </a:defRPr>
            </a:pPr>
            <a:r>
              <a:t>Change one variable, rerun the same test, compare the trace.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6428232"/>
            <a:ext cx="11183112" cy="13716"/>
          </a:xfrm>
          <a:prstGeom prst="rect">
            <a:avLst/>
          </a:prstGeom>
          <a:solidFill>
            <a:srgbClr val="DCE5F0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6483096"/>
            <a:ext cx="5212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00" b="0">
                <a:solidFill>
                  <a:srgbClr val="5B6372"/>
                </a:solidFill>
                <a:latin typeface="Arial"/>
              </a:defRPr>
            </a:pPr>
            <a:r>
              <a:t>C500 - Voice and Video Agents with n8n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51960" y="6483096"/>
            <a:ext cx="3749039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800" b="0">
                <a:solidFill>
                  <a:srgbClr val="5B6372"/>
                </a:solidFill>
                <a:latin typeface="Arial"/>
              </a:defRPr>
            </a:pPr>
            <a:r>
              <a:t>Copyright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09960" y="6483096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800" b="1">
                <a:solidFill>
                  <a:srgbClr val="5B6372"/>
                </a:solidFill>
                <a:latin typeface="Arial"/>
              </a:defRPr>
            </a:pPr>
            <a:r>
              <a:t>036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01752"/>
            <a:ext cx="10972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1">
                <a:solidFill>
                  <a:srgbClr val="1F6FEB"/>
                </a:solidFill>
                <a:latin typeface="Arial"/>
              </a:defRPr>
            </a:pPr>
            <a:r>
              <a:t>BUILD TARGET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800" b="1">
                <a:solidFill>
                  <a:srgbClr val="161B26"/>
                </a:solidFill>
                <a:latin typeface="Arial"/>
              </a:defRPr>
            </a:pPr>
            <a:r>
              <a:t>Lab 3: CX Agent with RAG (Cook &amp; Bake Academy)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417320"/>
            <a:ext cx="7360920" cy="3246120"/>
          </a:xfrm>
          <a:prstGeom prst="round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4400" y="1755648"/>
            <a:ext cx="1078992" cy="107899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55648"/>
            <a:ext cx="1078992" cy="10789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31720" y="1719072"/>
            <a:ext cx="21945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1">
                <a:solidFill>
                  <a:srgbClr val="1F6FEB"/>
                </a:solidFill>
                <a:latin typeface="Arial"/>
              </a:defRPr>
            </a:pPr>
            <a:r>
              <a:t>YOU WILL BUILD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31720" y="2048256"/>
            <a:ext cx="5074920" cy="131673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2000" b="1">
                <a:solidFill>
                  <a:srgbClr val="161B26"/>
                </a:solidFill>
                <a:latin typeface="Arial"/>
              </a:defRPr>
            </a:pPr>
            <a:r>
              <a:t>A customer-facing course advisor: a chat widget on a real-looking school website, grounded in the school's own course brochures.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1720" y="3474720"/>
            <a:ext cx="19202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  <a:latin typeface="Arial"/>
              </a:defRPr>
            </a:pPr>
            <a:r>
              <a:t>DELIVERABLE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3822191"/>
            <a:ext cx="507492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500" b="0">
                <a:solidFill>
                  <a:srgbClr val="5B6372"/>
                </a:solidFill>
                <a:latin typeface="Arial"/>
              </a:defRPr>
            </a:pPr>
            <a:r>
              <a:t>A working course-advisory chatbot on the site, with one grounded answer and one honest refusal in the trace.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02752" y="1417320"/>
            <a:ext cx="32918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02752" y="1417320"/>
            <a:ext cx="73152" cy="96012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540496" y="1636776"/>
            <a:ext cx="438912" cy="43891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40496" y="1636776"/>
            <a:ext cx="438912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07424" y="1554480"/>
            <a:ext cx="226771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600" b="1">
                <a:solidFill>
                  <a:srgbClr val="161B26"/>
                </a:solidFill>
                <a:latin typeface="Arial"/>
              </a:defRPr>
            </a:pPr>
            <a:r>
              <a:t>TIMEBOX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07424" y="1920240"/>
            <a:ext cx="2267712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0">
                <a:solidFill>
                  <a:srgbClr val="5B6372"/>
                </a:solidFill>
                <a:latin typeface="Arial"/>
              </a:defRPr>
            </a:pPr>
            <a:r>
              <a:t>60 minutes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02752" y="2606040"/>
            <a:ext cx="32918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302752" y="2606040"/>
            <a:ext cx="73152" cy="96012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540496" y="2825496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40496" y="2825496"/>
            <a:ext cx="438912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07424" y="2743200"/>
            <a:ext cx="226771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600" b="1">
                <a:solidFill>
                  <a:srgbClr val="161B26"/>
                </a:solidFill>
                <a:latin typeface="Arial"/>
              </a:defRPr>
            </a:pPr>
            <a:r>
              <a:t>MODE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07424" y="3108960"/>
            <a:ext cx="2267712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0">
                <a:solidFill>
                  <a:srgbClr val="5B6372"/>
                </a:solidFill>
                <a:latin typeface="Arial"/>
              </a:defRPr>
            </a:pPr>
            <a:r>
              <a:t>Demo, guided build, independent test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302752" y="3794760"/>
            <a:ext cx="32918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302752" y="3794760"/>
            <a:ext cx="73152" cy="96012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540496" y="4014216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40496" y="4014216"/>
            <a:ext cx="438912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07424" y="3931920"/>
            <a:ext cx="226771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600" b="1">
                <a:solidFill>
                  <a:srgbClr val="161B26"/>
                </a:solidFill>
                <a:latin typeface="Arial"/>
              </a:defRPr>
            </a:pPr>
            <a:r>
              <a:t>EVIDENCE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07424" y="4297680"/>
            <a:ext cx="2267712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0">
                <a:solidFill>
                  <a:srgbClr val="5B6372"/>
                </a:solidFill>
                <a:latin typeface="Arial"/>
              </a:defRPr>
            </a:pPr>
            <a:r>
              <a:t>Execution trace plus learner artifact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5230368"/>
            <a:ext cx="731520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000" b="1">
                <a:solidFill>
                  <a:srgbClr val="7C3AED"/>
                </a:solidFill>
                <a:latin typeface="Arial"/>
              </a:defRPr>
            </a:pPr>
            <a:r>
              <a:t>Success is demonstrated, not assumed.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6428232"/>
            <a:ext cx="11183112" cy="13716"/>
          </a:xfrm>
          <a:prstGeom prst="rect">
            <a:avLst/>
          </a:prstGeom>
          <a:solidFill>
            <a:srgbClr val="DCE5F0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6483096"/>
            <a:ext cx="5212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00" b="0">
                <a:solidFill>
                  <a:srgbClr val="5B6372"/>
                </a:solidFill>
                <a:latin typeface="Arial"/>
              </a:defRPr>
            </a:pPr>
            <a:r>
              <a:t>C500 - Voice and Video Agents with n8n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6483096"/>
            <a:ext cx="3749039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800" b="0">
                <a:solidFill>
                  <a:srgbClr val="5B6372"/>
                </a:solidFill>
                <a:latin typeface="Arial"/>
              </a:defRPr>
            </a:pPr>
            <a:r>
              <a:t>Copyright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09960" y="6483096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800" b="1">
                <a:solidFill>
                  <a:srgbClr val="5B6372"/>
                </a:solidFill>
                <a:latin typeface="Arial"/>
              </a:defRPr>
            </a:pPr>
            <a:r>
              <a:t>037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01752"/>
            <a:ext cx="10972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1">
                <a:solidFill>
                  <a:srgbClr val="1F6FEB"/>
                </a:solidFill>
                <a:latin typeface="Arial"/>
              </a:defRPr>
            </a:pPr>
            <a:r>
              <a:t>CONCEPT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800" b="1">
                <a:solidFill>
                  <a:srgbClr val="161B26"/>
                </a:solidFill>
                <a:latin typeface="Arial"/>
              </a:defRPr>
            </a:pPr>
            <a:r>
              <a:t>Lab 3: Four Ideas That Make It Work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" y="1389888"/>
            <a:ext cx="5349240" cy="1901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1792" y="1389888"/>
            <a:ext cx="73152" cy="190195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59536" y="1609344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609344"/>
            <a:ext cx="438912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26464" y="1591056"/>
            <a:ext cx="432511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700" b="1">
                <a:solidFill>
                  <a:srgbClr val="161B26"/>
                </a:solidFill>
                <a:latin typeface="Arial"/>
              </a:defRPr>
            </a:pPr>
            <a:r>
              <a:t>Brochure knowledge base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048256"/>
            <a:ext cx="4846320" cy="10789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400" b="0">
                <a:solidFill>
                  <a:srgbClr val="5B6372"/>
                </a:solidFill>
                <a:latin typeface="Arial"/>
              </a:defRPr>
            </a:pPr>
            <a:r>
              <a:t>The vector store is filled from real course brochures - the agent speaks for a business, not a toy FAQ.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389888"/>
            <a:ext cx="5349240" cy="1901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99632" y="1389888"/>
            <a:ext cx="73152" cy="19019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37376" y="1609344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37376" y="1609344"/>
            <a:ext cx="438912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4304" y="1591056"/>
            <a:ext cx="432511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700" b="1">
                <a:solidFill>
                  <a:srgbClr val="161B26"/>
                </a:solidFill>
                <a:latin typeface="Arial"/>
              </a:defRPr>
            </a:pPr>
            <a:r>
              <a:t>Customer tone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2" y="2048256"/>
            <a:ext cx="4846320" cy="10789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400" b="0">
                <a:solidFill>
                  <a:srgbClr val="5B6372"/>
                </a:solidFill>
                <a:latin typeface="Arial"/>
              </a:defRPr>
            </a:pPr>
            <a:r>
              <a:t>A CX agent answers as the business: specific courses, prices, schedules and next steps.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" y="3675887"/>
            <a:ext cx="5349240" cy="1901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" y="3675887"/>
            <a:ext cx="73152" cy="1901952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59536" y="3895344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6" y="3895344"/>
            <a:ext cx="438912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26464" y="3877055"/>
            <a:ext cx="432511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700" b="1">
                <a:solidFill>
                  <a:srgbClr val="161B26"/>
                </a:solidFill>
                <a:latin typeface="Arial"/>
              </a:defRPr>
            </a:pPr>
            <a:r>
              <a:t>Conversation memory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" y="4334255"/>
            <a:ext cx="4846320" cy="10789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400" b="0">
                <a:solidFill>
                  <a:srgbClr val="5B6372"/>
                </a:solidFill>
                <a:latin typeface="Arial"/>
              </a:defRPr>
            </a:pPr>
            <a:r>
              <a:t>A follow-up like 'how much is that one?' must resolve against the previous turn.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9632" y="3675887"/>
            <a:ext cx="5349240" cy="1901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99632" y="3675887"/>
            <a:ext cx="73152" cy="19019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37376" y="3895344"/>
            <a:ext cx="438912" cy="43891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37376" y="3895344"/>
            <a:ext cx="438912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04304" y="3877055"/>
            <a:ext cx="432511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700" b="1">
                <a:solidFill>
                  <a:srgbClr val="161B26"/>
                </a:solidFill>
                <a:latin typeface="Arial"/>
              </a:defRPr>
            </a:pPr>
            <a:r>
              <a:t>Honest limits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73952" y="4334255"/>
            <a:ext cx="4846320" cy="10789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400" b="0">
                <a:solidFill>
                  <a:srgbClr val="5B6372"/>
                </a:solidFill>
                <a:latin typeface="Arial"/>
              </a:defRPr>
            </a:pPr>
            <a:r>
              <a:t>Asked about a course that does not exist, the agent says so. No invented courses, no invented prices.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5806440"/>
            <a:ext cx="80467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600" b="0">
                <a:solidFill>
                  <a:srgbClr val="5B6372"/>
                </a:solidFill>
                <a:latin typeface="Arial"/>
              </a:defRPr>
            </a:pPr>
            <a:r>
              <a:t>Connect the four ideas before touching the workflow canvas.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6428232"/>
            <a:ext cx="11183112" cy="13716"/>
          </a:xfrm>
          <a:prstGeom prst="rect">
            <a:avLst/>
          </a:prstGeom>
          <a:solidFill>
            <a:srgbClr val="DCE5F0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6483096"/>
            <a:ext cx="5212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00" b="0">
                <a:solidFill>
                  <a:srgbClr val="5B6372"/>
                </a:solidFill>
                <a:latin typeface="Arial"/>
              </a:defRPr>
            </a:pPr>
            <a:r>
              <a:t>C500 - Voice and Video Agents with n8n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51960" y="6483096"/>
            <a:ext cx="3749039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800" b="0">
                <a:solidFill>
                  <a:srgbClr val="5B6372"/>
                </a:solidFill>
                <a:latin typeface="Arial"/>
              </a:defRPr>
            </a:pPr>
            <a:r>
              <a:t>Copyright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09960" y="6483096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800" b="1">
                <a:solidFill>
                  <a:srgbClr val="5B6372"/>
                </a:solidFill>
                <a:latin typeface="Arial"/>
              </a:defRPr>
            </a:pPr>
            <a:r>
              <a:t>038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01752"/>
            <a:ext cx="10972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1">
                <a:solidFill>
                  <a:srgbClr val="1F6FEB"/>
                </a:solidFill>
                <a:latin typeface="Arial"/>
              </a:defRPr>
            </a:pPr>
            <a:r>
              <a:t>WORKFLOW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800" b="1">
                <a:solidFill>
                  <a:srgbClr val="161B26"/>
                </a:solidFill>
                <a:latin typeface="Arial"/>
              </a:defRPr>
            </a:pPr>
            <a:r>
              <a:t>Lab 3: Build Sequence</a:t>
            </a:r>
          </a:p>
        </p:txBody>
      </p:sp>
      <p:sp>
        <p:nvSpPr>
          <p:cNvPr id="4" name="Oval 3"/>
          <p:cNvSpPr/>
          <p:nvPr/>
        </p:nvSpPr>
        <p:spPr>
          <a:xfrm>
            <a:off x="658368" y="1463039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463039"/>
            <a:ext cx="53035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08176" y="1325880"/>
            <a:ext cx="4690872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8488" y="1417320"/>
            <a:ext cx="4279392" cy="11887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200" b="0">
                <a:solidFill>
                  <a:srgbClr val="161B26"/>
                </a:solidFill>
                <a:latin typeface="Arial"/>
              </a:defRPr>
            </a:pPr>
            <a:r>
              <a:t>Import lab3/CX Agent with RAG.json and set it Active.</a:t>
            </a:r>
          </a:p>
        </p:txBody>
      </p:sp>
      <p:sp>
        <p:nvSpPr>
          <p:cNvPr id="8" name="Oval 7"/>
          <p:cNvSpPr/>
          <p:nvPr/>
        </p:nvSpPr>
        <p:spPr>
          <a:xfrm>
            <a:off x="6373368" y="1463039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73368" y="1463039"/>
            <a:ext cx="53035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23176" y="1325880"/>
            <a:ext cx="4690872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33488" y="1417320"/>
            <a:ext cx="4279392" cy="11887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200" b="0">
                <a:solidFill>
                  <a:srgbClr val="161B26"/>
                </a:solidFill>
                <a:latin typeface="Arial"/>
              </a:defRPr>
            </a:pPr>
            <a:r>
              <a:t>Open lab3/upload-brochures.html and upload the PDFs from lab3/brochures/ - this fills the vector store through /brochure-upload.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309067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3090672"/>
            <a:ext cx="53035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08176" y="2953512"/>
            <a:ext cx="4690872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18488" y="3044952"/>
            <a:ext cx="4279392" cy="11887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200" b="0">
                <a:solidFill>
                  <a:srgbClr val="161B26"/>
                </a:solidFill>
                <a:latin typeface="Arial"/>
              </a:defRPr>
            </a:pPr>
            <a:r>
              <a:t>Serve the site: from labs_local_n8n/lab3/website, run python3 -m http.server 8093, and open the chat widget.</a:t>
            </a:r>
          </a:p>
        </p:txBody>
      </p:sp>
      <p:sp>
        <p:nvSpPr>
          <p:cNvPr id="16" name="Oval 15"/>
          <p:cNvSpPr/>
          <p:nvPr/>
        </p:nvSpPr>
        <p:spPr>
          <a:xfrm>
            <a:off x="6373368" y="309067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73368" y="3090672"/>
            <a:ext cx="53035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23176" y="2953512"/>
            <a:ext cx="4690872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33488" y="3044952"/>
            <a:ext cx="4279392" cy="11887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200" b="0">
                <a:solidFill>
                  <a:srgbClr val="161B26"/>
                </a:solidFill>
                <a:latin typeface="Arial"/>
              </a:defRPr>
            </a:pPr>
            <a:r>
              <a:t>Ask about a course, its price and its schedule - and check every answer against a brochure.</a:t>
            </a:r>
          </a:p>
        </p:txBody>
      </p:sp>
      <p:sp>
        <p:nvSpPr>
          <p:cNvPr id="20" name="Oval 19"/>
          <p:cNvSpPr/>
          <p:nvPr/>
        </p:nvSpPr>
        <p:spPr>
          <a:xfrm>
            <a:off x="658368" y="4718304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4718304"/>
            <a:ext cx="53035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408176" y="4581144"/>
            <a:ext cx="4690872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18488" y="4672583"/>
            <a:ext cx="4279392" cy="11887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200" b="0">
                <a:solidFill>
                  <a:srgbClr val="161B26"/>
                </a:solidFill>
                <a:latin typeface="Arial"/>
              </a:defRPr>
            </a:pPr>
            <a:r>
              <a:t>Ask a follow-up that needs memory: 'how much is that one?'</a:t>
            </a:r>
          </a:p>
        </p:txBody>
      </p:sp>
      <p:sp>
        <p:nvSpPr>
          <p:cNvPr id="24" name="Oval 23"/>
          <p:cNvSpPr/>
          <p:nvPr/>
        </p:nvSpPr>
        <p:spPr>
          <a:xfrm>
            <a:off x="6373368" y="4718304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73368" y="4718304"/>
            <a:ext cx="53035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23176" y="4581144"/>
            <a:ext cx="4690872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33488" y="4672583"/>
            <a:ext cx="4279392" cy="11887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200" b="0">
                <a:solidFill>
                  <a:srgbClr val="161B26"/>
                </a:solidFill>
                <a:latin typeface="Arial"/>
              </a:defRPr>
            </a:pPr>
            <a:r>
              <a:t>Ask for a course that does not exist, and confirm the agent admits it rather than inventing one.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6053328"/>
            <a:ext cx="59436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500" b="1">
                <a:solidFill>
                  <a:srgbClr val="7C3AED"/>
                </a:solidFill>
                <a:latin typeface="Arial"/>
              </a:defRPr>
            </a:pPr>
            <a:r>
              <a:t>Build one observable behavior at a time.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6428232"/>
            <a:ext cx="11183112" cy="13716"/>
          </a:xfrm>
          <a:prstGeom prst="rect">
            <a:avLst/>
          </a:prstGeom>
          <a:solidFill>
            <a:srgbClr val="DCE5F0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6483096"/>
            <a:ext cx="5212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00" b="0">
                <a:solidFill>
                  <a:srgbClr val="5B6372"/>
                </a:solidFill>
                <a:latin typeface="Arial"/>
              </a:defRPr>
            </a:pPr>
            <a:r>
              <a:t>C500 - Voice and Video Agents with n8n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51960" y="6483096"/>
            <a:ext cx="3749039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800" b="0">
                <a:solidFill>
                  <a:srgbClr val="5B6372"/>
                </a:solidFill>
                <a:latin typeface="Arial"/>
              </a:defRPr>
            </a:pPr>
            <a:r>
              <a:t>Copyright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09960" y="6483096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800" b="1">
                <a:solidFill>
                  <a:srgbClr val="5B6372"/>
                </a:solidFill>
                <a:latin typeface="Arial"/>
              </a:defRPr>
            </a:pPr>
            <a:r>
              <a:t>039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01752"/>
            <a:ext cx="10972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1">
                <a:solidFill>
                  <a:srgbClr val="1F6FEB"/>
                </a:solidFill>
                <a:latin typeface="Arial"/>
              </a:defRPr>
            </a:pPr>
            <a:r>
              <a:t>LAB 3 - CX AGENT WITH RAG (COOK &amp; BAKE ACADEMY)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800" b="1">
                <a:solidFill>
                  <a:srgbClr val="161B26"/>
                </a:solidFill>
                <a:latin typeface="Arial"/>
              </a:defRPr>
            </a:pPr>
            <a:r>
              <a:t>Lab 3 - CX Agent with RAG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667589" y="1271016"/>
            <a:ext cx="6856517" cy="427024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ab3-cx-agent-r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2453" y="1325880"/>
            <a:ext cx="6746789" cy="4160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13232" y="5806440"/>
            <a:ext cx="1078992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500" b="0">
                <a:solidFill>
                  <a:srgbClr val="5B6372"/>
                </a:solidFill>
                <a:latin typeface="Arial"/>
              </a:defRPr>
            </a:pPr>
            <a:r>
              <a:t>Lab 3 - CX Agent with RAG: the agent plus its retrieval tool.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28232"/>
            <a:ext cx="11183112" cy="13716"/>
          </a:xfrm>
          <a:prstGeom prst="rect">
            <a:avLst/>
          </a:prstGeom>
          <a:solidFill>
            <a:srgbClr val="DCE5F0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83096"/>
            <a:ext cx="5212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00" b="0">
                <a:solidFill>
                  <a:srgbClr val="5B6372"/>
                </a:solidFill>
                <a:latin typeface="Arial"/>
              </a:defRPr>
            </a:pPr>
            <a:r>
              <a:t>C500 - Voice and Video Agents with n8n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51960" y="6483096"/>
            <a:ext cx="3749039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800" b="0">
                <a:solidFill>
                  <a:srgbClr val="5B6372"/>
                </a:solidFill>
                <a:latin typeface="Arial"/>
              </a:defRPr>
            </a:pPr>
            <a:r>
              <a:t>Copyright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483096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800" b="1">
                <a:solidFill>
                  <a:srgbClr val="5B6372"/>
                </a:solidFill>
                <a:latin typeface="Arial"/>
              </a:defRPr>
            </a:pPr>
            <a:r>
              <a:t>040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01752"/>
            <a:ext cx="10972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1">
                <a:solidFill>
                  <a:srgbClr val="1F6FEB"/>
                </a:solidFill>
                <a:latin typeface="Arial"/>
              </a:defRPr>
            </a:pPr>
            <a:r>
              <a:t>LAB 3 - CX AGENT WITH RAG (COOK &amp; BAKE ACADEMY)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800" b="1">
                <a:solidFill>
                  <a:srgbClr val="161B26"/>
                </a:solidFill>
                <a:latin typeface="Arial"/>
              </a:defRPr>
            </a:pPr>
            <a:r>
              <a:t>Lab 3 - Cook &amp; Bake Academy site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667589" y="1271016"/>
            <a:ext cx="6856517" cy="427024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ab3-website-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2453" y="1325880"/>
            <a:ext cx="6746789" cy="4160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13232" y="5806440"/>
            <a:ext cx="1078992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500" b="0">
                <a:solidFill>
                  <a:srgbClr val="5B6372"/>
                </a:solidFill>
                <a:latin typeface="Arial"/>
              </a:defRPr>
            </a:pPr>
            <a:r>
              <a:t>Lab 3 - Cook &amp; Bake Academy site: the customer-facing front end.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28232"/>
            <a:ext cx="11183112" cy="13716"/>
          </a:xfrm>
          <a:prstGeom prst="rect">
            <a:avLst/>
          </a:prstGeom>
          <a:solidFill>
            <a:srgbClr val="DCE5F0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83096"/>
            <a:ext cx="5212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00" b="0">
                <a:solidFill>
                  <a:srgbClr val="5B6372"/>
                </a:solidFill>
                <a:latin typeface="Arial"/>
              </a:defRPr>
            </a:pPr>
            <a:r>
              <a:t>C500 - Voice and Video Agents with n8n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51960" y="6483096"/>
            <a:ext cx="3749039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800" b="0">
                <a:solidFill>
                  <a:srgbClr val="5B6372"/>
                </a:solidFill>
                <a:latin typeface="Arial"/>
              </a:defRPr>
            </a:pPr>
            <a:r>
              <a:t>Copyright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483096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800" b="1">
                <a:solidFill>
                  <a:srgbClr val="5B6372"/>
                </a:solidFill>
                <a:latin typeface="Arial"/>
              </a:defRPr>
            </a:pPr>
            <a:r>
              <a:t>041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01752"/>
            <a:ext cx="10972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1">
                <a:solidFill>
                  <a:srgbClr val="1F6FEB"/>
                </a:solidFill>
                <a:latin typeface="Arial"/>
              </a:defRPr>
            </a:pPr>
            <a:r>
              <a:t>LAB 3 - CX AGENT WITH RAG (COOK &amp; BAKE ACADEMY)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800" b="1">
                <a:solidFill>
                  <a:srgbClr val="161B26"/>
                </a:solidFill>
                <a:latin typeface="Arial"/>
              </a:defRPr>
            </a:pPr>
            <a:r>
              <a:t>Lab 3 - the chat widget's gear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667589" y="1271016"/>
            <a:ext cx="6856517" cy="427024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ab3-chat-webhook-sett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2453" y="1325880"/>
            <a:ext cx="6746789" cy="4160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13232" y="5806440"/>
            <a:ext cx="1078992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500" b="0">
                <a:solidFill>
                  <a:srgbClr val="5B6372"/>
                </a:solidFill>
                <a:latin typeface="Arial"/>
              </a:defRPr>
            </a:pPr>
            <a:r>
              <a:t>Lab 3 - the chat widget's gear: each learner points it at their own n8n webhook.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28232"/>
            <a:ext cx="11183112" cy="13716"/>
          </a:xfrm>
          <a:prstGeom prst="rect">
            <a:avLst/>
          </a:prstGeom>
          <a:solidFill>
            <a:srgbClr val="DCE5F0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83096"/>
            <a:ext cx="5212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00" b="0">
                <a:solidFill>
                  <a:srgbClr val="5B6372"/>
                </a:solidFill>
                <a:latin typeface="Arial"/>
              </a:defRPr>
            </a:pPr>
            <a:r>
              <a:t>C500 - Voice and Video Agents with n8n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51960" y="6483096"/>
            <a:ext cx="3749039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800" b="0">
                <a:solidFill>
                  <a:srgbClr val="5B6372"/>
                </a:solidFill>
                <a:latin typeface="Arial"/>
              </a:defRPr>
            </a:pPr>
            <a:r>
              <a:t>Copyright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483096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800" b="1">
                <a:solidFill>
                  <a:srgbClr val="5B6372"/>
                </a:solidFill>
                <a:latin typeface="Arial"/>
              </a:defRPr>
            </a:pPr>
            <a:r>
              <a:t>042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01752"/>
            <a:ext cx="10972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1">
                <a:solidFill>
                  <a:srgbClr val="1F6FEB"/>
                </a:solidFill>
                <a:latin typeface="Arial"/>
              </a:defRPr>
            </a:pPr>
            <a:r>
              <a:t>QUALITY GATE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800" b="1">
                <a:solidFill>
                  <a:srgbClr val="161B26"/>
                </a:solidFill>
                <a:latin typeface="Arial"/>
              </a:defRPr>
            </a:pPr>
            <a:r>
              <a:t>Lab 3: Prove, Evaluate, Improve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" y="1353312"/>
            <a:ext cx="6995160" cy="4498848"/>
          </a:xfrm>
          <a:prstGeom prst="round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32688" y="1664208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664208"/>
            <a:ext cx="457200" cy="4572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27632" y="1645920"/>
            <a:ext cx="5440680" cy="7772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500" b="0">
                <a:solidFill>
                  <a:srgbClr val="161B26"/>
                </a:solidFill>
                <a:latin typeface="Arial"/>
              </a:defRPr>
            </a:pPr>
            <a:r>
              <a:t>The agent answers from the brochures, with specifics.</a:t>
            </a:r>
          </a:p>
        </p:txBody>
      </p:sp>
      <p:sp>
        <p:nvSpPr>
          <p:cNvPr id="8" name="Oval 7"/>
          <p:cNvSpPr/>
          <p:nvPr/>
        </p:nvSpPr>
        <p:spPr>
          <a:xfrm>
            <a:off x="932688" y="2496312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496312"/>
            <a:ext cx="457200" cy="4572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27632" y="2478024"/>
            <a:ext cx="5440680" cy="7772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500" b="0">
                <a:solidFill>
                  <a:srgbClr val="161B26"/>
                </a:solidFill>
                <a:latin typeface="Arial"/>
              </a:defRPr>
            </a:pPr>
            <a:r>
              <a:t>A non-existent course gets an honest 'we don't offer that'.</a:t>
            </a:r>
          </a:p>
        </p:txBody>
      </p:sp>
      <p:sp>
        <p:nvSpPr>
          <p:cNvPr id="11" name="Oval 10"/>
          <p:cNvSpPr/>
          <p:nvPr/>
        </p:nvSpPr>
        <p:spPr>
          <a:xfrm>
            <a:off x="932688" y="3328416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3328416"/>
            <a:ext cx="457200" cy="4572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27632" y="3310128"/>
            <a:ext cx="5440680" cy="7772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500" b="0">
                <a:solidFill>
                  <a:srgbClr val="161B26"/>
                </a:solidFill>
                <a:latin typeface="Arial"/>
              </a:defRPr>
            </a:pPr>
            <a:r>
              <a:t>The chat has memory - the follow-up resolves correctly.</a:t>
            </a:r>
          </a:p>
        </p:txBody>
      </p:sp>
      <p:sp>
        <p:nvSpPr>
          <p:cNvPr id="14" name="Oval 13"/>
          <p:cNvSpPr/>
          <p:nvPr/>
        </p:nvSpPr>
        <p:spPr>
          <a:xfrm>
            <a:off x="932688" y="4160520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4160520"/>
            <a:ext cx="457200" cy="4572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OK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27632" y="4142232"/>
            <a:ext cx="5440680" cy="7772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500" b="0">
                <a:solidFill>
                  <a:srgbClr val="161B26"/>
                </a:solidFill>
                <a:latin typeface="Arial"/>
              </a:defRPr>
            </a:pPr>
            <a:r>
              <a:t>Run one edge case and record the change made after evaluation.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73568" y="1353312"/>
            <a:ext cx="3611880" cy="4498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2752" y="1682496"/>
            <a:ext cx="29260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1">
                <a:solidFill>
                  <a:srgbClr val="1F6FEB"/>
                </a:solidFill>
                <a:latin typeface="Arial"/>
              </a:defRPr>
            </a:pPr>
            <a:r>
              <a:t>EVIDENCE STACK</a:t>
            </a:r>
          </a:p>
        </p:txBody>
      </p:sp>
      <p:sp>
        <p:nvSpPr>
          <p:cNvPr id="19" name="Oval 18"/>
          <p:cNvSpPr/>
          <p:nvPr/>
        </p:nvSpPr>
        <p:spPr>
          <a:xfrm>
            <a:off x="8302752" y="2176272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02752" y="2176272"/>
            <a:ext cx="411480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87968" y="2157984"/>
            <a:ext cx="914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400" b="1">
                <a:solidFill>
                  <a:srgbClr val="161B26"/>
                </a:solidFill>
                <a:latin typeface="Arial"/>
              </a:defRPr>
            </a:pPr>
            <a:r>
              <a:t>Input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02368" y="2157984"/>
            <a:ext cx="1353312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0">
                <a:solidFill>
                  <a:srgbClr val="5B6372"/>
                </a:solidFill>
                <a:latin typeface="Arial"/>
              </a:defRPr>
            </a:pPr>
            <a:r>
              <a:t>Exact test payload</a:t>
            </a:r>
          </a:p>
        </p:txBody>
      </p:sp>
      <p:sp>
        <p:nvSpPr>
          <p:cNvPr id="23" name="Oval 22"/>
          <p:cNvSpPr/>
          <p:nvPr/>
        </p:nvSpPr>
        <p:spPr>
          <a:xfrm>
            <a:off x="8302752" y="2971800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02752" y="2971800"/>
            <a:ext cx="411480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87968" y="2953512"/>
            <a:ext cx="914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400" b="1">
                <a:solidFill>
                  <a:srgbClr val="161B26"/>
                </a:solidFill>
                <a:latin typeface="Arial"/>
              </a:defRPr>
            </a:pPr>
            <a:r>
              <a:t>Trace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02368" y="2953512"/>
            <a:ext cx="1353312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0">
                <a:solidFill>
                  <a:srgbClr val="5B6372"/>
                </a:solidFill>
                <a:latin typeface="Arial"/>
              </a:defRPr>
            </a:pPr>
            <a:r>
              <a:t>Node execution path</a:t>
            </a:r>
          </a:p>
        </p:txBody>
      </p:sp>
      <p:sp>
        <p:nvSpPr>
          <p:cNvPr id="27" name="Oval 26"/>
          <p:cNvSpPr/>
          <p:nvPr/>
        </p:nvSpPr>
        <p:spPr>
          <a:xfrm>
            <a:off x="8302752" y="3767328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02752" y="3767328"/>
            <a:ext cx="411480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87968" y="3749040"/>
            <a:ext cx="914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400" b="1">
                <a:solidFill>
                  <a:srgbClr val="161B26"/>
                </a:solidFill>
                <a:latin typeface="Arial"/>
              </a:defRPr>
            </a:pPr>
            <a:r>
              <a:t>Output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02368" y="3749040"/>
            <a:ext cx="1353312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0">
                <a:solidFill>
                  <a:srgbClr val="5B6372"/>
                </a:solidFill>
                <a:latin typeface="Arial"/>
              </a:defRPr>
            </a:pPr>
            <a:r>
              <a:t>Generated result</a:t>
            </a:r>
          </a:p>
        </p:txBody>
      </p:sp>
      <p:sp>
        <p:nvSpPr>
          <p:cNvPr id="31" name="Oval 30"/>
          <p:cNvSpPr/>
          <p:nvPr/>
        </p:nvSpPr>
        <p:spPr>
          <a:xfrm>
            <a:off x="8302752" y="4562856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2752" y="4562856"/>
            <a:ext cx="411480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87968" y="4544568"/>
            <a:ext cx="914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400" b="1">
                <a:solidFill>
                  <a:srgbClr val="161B26"/>
                </a:solidFill>
                <a:latin typeface="Arial"/>
              </a:defRPr>
            </a:pPr>
            <a:r>
              <a:t>Decision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02368" y="4544568"/>
            <a:ext cx="1353312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0">
                <a:solidFill>
                  <a:srgbClr val="5B6372"/>
                </a:solidFill>
                <a:latin typeface="Arial"/>
              </a:defRPr>
            </a:pPr>
            <a:r>
              <a:t>Rubric and revision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02752" y="5413248"/>
            <a:ext cx="9144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Arial"/>
              </a:defRPr>
            </a:pPr>
            <a:r>
              <a:t>PASS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253728" y="5458968"/>
            <a:ext cx="1938528" cy="10972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02920" y="6428232"/>
            <a:ext cx="11183112" cy="13716"/>
          </a:xfrm>
          <a:prstGeom prst="rect">
            <a:avLst/>
          </a:prstGeom>
          <a:solidFill>
            <a:srgbClr val="DCE5F0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6483096"/>
            <a:ext cx="5212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00" b="0">
                <a:solidFill>
                  <a:srgbClr val="5B6372"/>
                </a:solidFill>
                <a:latin typeface="Arial"/>
              </a:defRPr>
            </a:pPr>
            <a:r>
              <a:t>C500 - Voice and Video Agents with n8n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51960" y="6483096"/>
            <a:ext cx="3749039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800" b="0">
                <a:solidFill>
                  <a:srgbClr val="5B6372"/>
                </a:solidFill>
                <a:latin typeface="Arial"/>
              </a:defRPr>
            </a:pPr>
            <a:r>
              <a:t>Copyright 2026 Tertiary Infotech Academy Pte Ltd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109960" y="6483096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800" b="1">
                <a:solidFill>
                  <a:srgbClr val="5B6372"/>
                </a:solidFill>
                <a:latin typeface="Arial"/>
              </a:defRPr>
            </a:pPr>
            <a:r>
              <a:t>043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01752"/>
            <a:ext cx="10972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1">
                <a:solidFill>
                  <a:srgbClr val="1F6FEB"/>
                </a:solidFill>
                <a:latin typeface="Arial"/>
              </a:defRPr>
            </a:pPr>
            <a:r>
              <a:t>TROUBLESHOOTING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800" b="1">
                <a:solidFill>
                  <a:srgbClr val="161B26"/>
                </a:solidFill>
                <a:latin typeface="Arial"/>
              </a:defRPr>
            </a:pPr>
            <a:r>
              <a:t>Lab 3: Diagnose Before Rebuilding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" y="1344168"/>
            <a:ext cx="3456432" cy="438912"/>
          </a:xfrm>
          <a:prstGeom prst="roundRect">
            <a:avLst/>
          </a:prstGeom>
          <a:solidFill>
            <a:srgbClr val="E25555"/>
          </a:solidFill>
          <a:ln>
            <a:solidFill>
              <a:srgbClr val="E2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408176"/>
            <a:ext cx="345643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SYMPTOM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15968" y="1344168"/>
            <a:ext cx="3456432" cy="438912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15968" y="1408176"/>
            <a:ext cx="345643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LIKELY CAUSE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10144" y="1344168"/>
            <a:ext cx="3456432" cy="43891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10144" y="1408176"/>
            <a:ext cx="345643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TARGETED FIX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993392"/>
            <a:ext cx="3456432" cy="1024128"/>
          </a:xfrm>
          <a:prstGeom prst="roundRect">
            <a:avLst/>
          </a:prstGeom>
          <a:solidFill>
            <a:srgbClr val="FFF4F4"/>
          </a:solidFill>
          <a:ln>
            <a:solidFill>
              <a:srgbClr val="FF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2084832"/>
            <a:ext cx="3127248" cy="8412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200" b="1">
                <a:solidFill>
                  <a:srgbClr val="161B26"/>
                </a:solidFill>
                <a:latin typeface="Arial"/>
              </a:defRPr>
            </a:pPr>
            <a:r>
              <a:t>The widget cannot reach n8n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15968" y="1993392"/>
            <a:ext cx="3456432" cy="1024128"/>
          </a:xfrm>
          <a:prstGeom prst="roundRect">
            <a:avLst/>
          </a:prstGeom>
          <a:solidFill>
            <a:srgbClr val="FFF8E8"/>
          </a:solidFill>
          <a:ln>
            <a:solidFill>
              <a:srgbClr val="FFF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59" y="2084832"/>
            <a:ext cx="3127248" cy="8412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200" b="0">
                <a:solidFill>
                  <a:srgbClr val="161B26"/>
                </a:solidFill>
                <a:latin typeface="Arial"/>
              </a:defRPr>
            </a:pPr>
            <a:r>
              <a:t>The workflow is inactive, or the webhook URL was changed.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10144" y="1993392"/>
            <a:ext cx="3456432" cy="1024128"/>
          </a:xfrm>
          <a:prstGeom prst="roundRect">
            <a:avLst/>
          </a:prstGeom>
          <a:solidFill>
            <a:srgbClr val="ECFDF5"/>
          </a:solidFill>
          <a:ln>
            <a:solidFill>
              <a:srgbClr val="ECF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74736" y="2084832"/>
            <a:ext cx="3127248" cy="8412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200" b="0">
                <a:solidFill>
                  <a:srgbClr val="161B26"/>
                </a:solidFill>
                <a:latin typeface="Arial"/>
              </a:defRPr>
            </a:pPr>
            <a:r>
              <a:t>Activate the flow - the widget already points at /webhook/cx-agent.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" y="3300984"/>
            <a:ext cx="3456432" cy="1024128"/>
          </a:xfrm>
          <a:prstGeom prst="roundRect">
            <a:avLst/>
          </a:prstGeom>
          <a:solidFill>
            <a:srgbClr val="FFF4F4"/>
          </a:solidFill>
          <a:ln>
            <a:solidFill>
              <a:srgbClr val="FF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" y="3392424"/>
            <a:ext cx="3127248" cy="8412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200" b="1">
                <a:solidFill>
                  <a:srgbClr val="161B26"/>
                </a:solidFill>
                <a:latin typeface="Arial"/>
              </a:defRPr>
            </a:pPr>
            <a:r>
              <a:t>Vague answers, no prices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15968" y="3300984"/>
            <a:ext cx="3456432" cy="1024128"/>
          </a:xfrm>
          <a:prstGeom prst="roundRect">
            <a:avLst/>
          </a:prstGeom>
          <a:solidFill>
            <a:srgbClr val="FFF8E8"/>
          </a:solidFill>
          <a:ln>
            <a:solidFill>
              <a:srgbClr val="FFF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59" y="3392424"/>
            <a:ext cx="3127248" cy="8412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200" b="0">
                <a:solidFill>
                  <a:srgbClr val="161B26"/>
                </a:solidFill>
                <a:latin typeface="Arial"/>
              </a:defRPr>
            </a:pPr>
            <a:r>
              <a:t>The brochures were never uploaded.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10144" y="3300984"/>
            <a:ext cx="3456432" cy="1024128"/>
          </a:xfrm>
          <a:prstGeom prst="roundRect">
            <a:avLst/>
          </a:prstGeom>
          <a:solidFill>
            <a:srgbClr val="ECFDF5"/>
          </a:solidFill>
          <a:ln>
            <a:solidFill>
              <a:srgbClr val="ECF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74736" y="3392424"/>
            <a:ext cx="3127248" cy="8412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200" b="0">
                <a:solidFill>
                  <a:srgbClr val="161B26"/>
                </a:solidFill>
                <a:latin typeface="Arial"/>
              </a:defRPr>
            </a:pPr>
            <a:r>
              <a:t>Run upload-brochures.html first and watch the upload executions succeed.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" y="4608576"/>
            <a:ext cx="3456432" cy="1024128"/>
          </a:xfrm>
          <a:prstGeom prst="roundRect">
            <a:avLst/>
          </a:prstGeom>
          <a:solidFill>
            <a:srgbClr val="FFF4F4"/>
          </a:solidFill>
          <a:ln>
            <a:solidFill>
              <a:srgbClr val="FF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6384" y="4700016"/>
            <a:ext cx="3127248" cy="8412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200" b="1">
                <a:solidFill>
                  <a:srgbClr val="161B26"/>
                </a:solidFill>
                <a:latin typeface="Arial"/>
              </a:defRPr>
            </a:pPr>
            <a:r>
              <a:t>Follow-ups lose the thread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15968" y="4608576"/>
            <a:ext cx="3456432" cy="1024128"/>
          </a:xfrm>
          <a:prstGeom prst="roundRect">
            <a:avLst/>
          </a:prstGeom>
          <a:solidFill>
            <a:srgbClr val="FFF8E8"/>
          </a:solidFill>
          <a:ln>
            <a:solidFill>
              <a:srgbClr val="FFF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80559" y="4700016"/>
            <a:ext cx="3127248" cy="8412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200" b="0">
                <a:solidFill>
                  <a:srgbClr val="161B26"/>
                </a:solidFill>
                <a:latin typeface="Arial"/>
              </a:defRPr>
            </a:pPr>
            <a:r>
              <a:t>Memory is not wired into the agent.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10144" y="4608576"/>
            <a:ext cx="3456432" cy="1024128"/>
          </a:xfrm>
          <a:prstGeom prst="roundRect">
            <a:avLst/>
          </a:prstGeom>
          <a:solidFill>
            <a:srgbClr val="ECFDF5"/>
          </a:solidFill>
          <a:ln>
            <a:solidFill>
              <a:srgbClr val="ECF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74736" y="4700016"/>
            <a:ext cx="3127248" cy="8412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200" b="0">
                <a:solidFill>
                  <a:srgbClr val="161B26"/>
                </a:solidFill>
                <a:latin typeface="Arial"/>
              </a:defRPr>
            </a:pPr>
            <a:r>
              <a:t>Check the memory node and its session key in the workflow.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5989320"/>
            <a:ext cx="86868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600" b="1">
                <a:solidFill>
                  <a:srgbClr val="7C3AED"/>
                </a:solidFill>
                <a:latin typeface="Arial"/>
              </a:defRPr>
            </a:pPr>
            <a:r>
              <a:t>Change one variable, rerun the same test, compare the trace.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6428232"/>
            <a:ext cx="11183112" cy="13716"/>
          </a:xfrm>
          <a:prstGeom prst="rect">
            <a:avLst/>
          </a:prstGeom>
          <a:solidFill>
            <a:srgbClr val="DCE5F0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6483096"/>
            <a:ext cx="5212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00" b="0">
                <a:solidFill>
                  <a:srgbClr val="5B6372"/>
                </a:solidFill>
                <a:latin typeface="Arial"/>
              </a:defRPr>
            </a:pPr>
            <a:r>
              <a:t>C500 - Voice and Video Agents with n8n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51960" y="6483096"/>
            <a:ext cx="3749039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800" b="0">
                <a:solidFill>
                  <a:srgbClr val="5B6372"/>
                </a:solidFill>
                <a:latin typeface="Arial"/>
              </a:defRPr>
            </a:pPr>
            <a:r>
              <a:t>Copyright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09960" y="6483096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800" b="1">
                <a:solidFill>
                  <a:srgbClr val="5B6372"/>
                </a:solidFill>
                <a:latin typeface="Arial"/>
              </a:defRPr>
            </a:pPr>
            <a:r>
              <a:t>044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01752"/>
            <a:ext cx="10972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1">
                <a:solidFill>
                  <a:srgbClr val="1F6FEB"/>
                </a:solidFill>
                <a:latin typeface="Arial"/>
              </a:defRPr>
            </a:pPr>
            <a:r>
              <a:t>TOPIC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800" b="1">
                <a:solidFill>
                  <a:srgbClr val="161B26"/>
                </a:solidFill>
                <a:latin typeface="Arial"/>
              </a:defRPr>
            </a:pPr>
            <a:r>
              <a:t>Topic 02 - Voice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52560" y="868680"/>
            <a:ext cx="2286000" cy="1508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7400" b="1">
                <a:solidFill>
                  <a:srgbClr val="E7EFFA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08760"/>
            <a:ext cx="7086600" cy="1828800"/>
          </a:xfrm>
          <a:prstGeom prst="round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56231"/>
            <a:ext cx="6355080" cy="10972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2000" b="0">
                <a:solidFill>
                  <a:srgbClr val="161B26"/>
                </a:solidFill>
                <a:latin typeface="Arial"/>
              </a:defRPr>
            </a:pPr>
            <a:r>
              <a:t>Two vendors, two architectures: ElevenLabs runs the model and calls your n8n tools; with Vapi your n8n workflow IS the model. The contrast is the lesson. Labs 4-5.</a:t>
            </a:r>
          </a:p>
        </p:txBody>
      </p:sp>
      <p:sp>
        <p:nvSpPr>
          <p:cNvPr id="7" name="Oval 6"/>
          <p:cNvSpPr/>
          <p:nvPr/>
        </p:nvSpPr>
        <p:spPr>
          <a:xfrm>
            <a:off x="658368" y="4005072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4005072"/>
            <a:ext cx="438912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4" y="4572000"/>
            <a:ext cx="10058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100" b="1">
                <a:solidFill>
                  <a:srgbClr val="161B26"/>
                </a:solidFill>
                <a:latin typeface="Arial"/>
              </a:defRPr>
            </a:pPr>
            <a:r>
              <a:t>Define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4197096"/>
            <a:ext cx="566927" cy="41148"/>
          </a:xfrm>
          <a:prstGeom prst="rect">
            <a:avLst/>
          </a:prstGeom>
          <a:solidFill>
            <a:srgbClr val="DCE5F0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728216" y="4005072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28216" y="4005072"/>
            <a:ext cx="438912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44751" y="4572000"/>
            <a:ext cx="10058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100" b="1">
                <a:solidFill>
                  <a:srgbClr val="161B26"/>
                </a:solidFill>
                <a:latin typeface="Arial"/>
              </a:defRPr>
            </a:pPr>
            <a:r>
              <a:t>Build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12848" y="4197096"/>
            <a:ext cx="566927" cy="41148"/>
          </a:xfrm>
          <a:prstGeom prst="rect">
            <a:avLst/>
          </a:prstGeom>
          <a:solidFill>
            <a:srgbClr val="DCE5F0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798063" y="4005072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98063" y="4005072"/>
            <a:ext cx="438912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14599" y="4572000"/>
            <a:ext cx="10058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100" b="1">
                <a:solidFill>
                  <a:srgbClr val="161B26"/>
                </a:solidFill>
                <a:latin typeface="Arial"/>
              </a:defRPr>
            </a:pPr>
            <a:r>
              <a:t>Observe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82696" y="4197096"/>
            <a:ext cx="566927" cy="41148"/>
          </a:xfrm>
          <a:prstGeom prst="rect">
            <a:avLst/>
          </a:prstGeom>
          <a:solidFill>
            <a:srgbClr val="DCE5F0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867911" y="4005072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67911" y="4005072"/>
            <a:ext cx="438912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84447" y="4572000"/>
            <a:ext cx="10058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100" b="1">
                <a:solidFill>
                  <a:srgbClr val="161B26"/>
                </a:solidFill>
                <a:latin typeface="Arial"/>
              </a:defRPr>
            </a:pPr>
            <a:r>
              <a:t>Evaluate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52544" y="4197096"/>
            <a:ext cx="566927" cy="41148"/>
          </a:xfrm>
          <a:prstGeom prst="rect">
            <a:avLst/>
          </a:prstGeom>
          <a:solidFill>
            <a:srgbClr val="DCE5F0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937759" y="4005072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37759" y="4005072"/>
            <a:ext cx="438912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54296" y="4572000"/>
            <a:ext cx="10058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100" b="1">
                <a:solidFill>
                  <a:srgbClr val="161B26"/>
                </a:solidFill>
                <a:latin typeface="Arial"/>
              </a:defRPr>
            </a:pPr>
            <a:r>
              <a:t>Improve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22392" y="4197096"/>
            <a:ext cx="566927" cy="41148"/>
          </a:xfrm>
          <a:prstGeom prst="rect">
            <a:avLst/>
          </a:prstGeom>
          <a:solidFill>
            <a:srgbClr val="DCE5F0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007607" y="4005072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07607" y="4005072"/>
            <a:ext cx="438912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24144" y="4572000"/>
            <a:ext cx="10058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100" b="1">
                <a:solidFill>
                  <a:srgbClr val="161B26"/>
                </a:solidFill>
                <a:latin typeface="Arial"/>
              </a:defRPr>
            </a:pPr>
            <a:r>
              <a:t>Guardrail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92240" y="4197096"/>
            <a:ext cx="566927" cy="41148"/>
          </a:xfrm>
          <a:prstGeom prst="rect">
            <a:avLst/>
          </a:prstGeom>
          <a:solidFill>
            <a:srgbClr val="DCE5F0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077455" y="4005072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077455" y="4005072"/>
            <a:ext cx="438912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93992" y="4572000"/>
            <a:ext cx="10058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100" b="1">
                <a:solidFill>
                  <a:srgbClr val="161B26"/>
                </a:solidFill>
                <a:latin typeface="Arial"/>
              </a:defRPr>
            </a:pPr>
            <a:r>
              <a:t>Document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5230368"/>
            <a:ext cx="685800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700" b="1">
                <a:solidFill>
                  <a:srgbClr val="10B981"/>
                </a:solidFill>
                <a:latin typeface="Arial"/>
              </a:defRPr>
            </a:pPr>
            <a:r>
              <a:t>Every lab produces visible evidence for trainer review.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366760" y="2907792"/>
            <a:ext cx="283464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86800" y="3218688"/>
            <a:ext cx="21945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1">
                <a:solidFill>
                  <a:srgbClr val="7C3AED"/>
                </a:solidFill>
                <a:latin typeface="Arial"/>
              </a:defRPr>
            </a:pPr>
            <a:r>
              <a:t>LEARNING ARC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0" y="3703320"/>
            <a:ext cx="21031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800" b="1">
                <a:solidFill>
                  <a:srgbClr val="161B26"/>
                </a:solidFill>
                <a:latin typeface="Arial"/>
              </a:defRPr>
            </a:pPr>
            <a:r>
              <a:t>Concept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0" y="4133087"/>
            <a:ext cx="21031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800" b="1">
                <a:solidFill>
                  <a:srgbClr val="161B26"/>
                </a:solidFill>
                <a:latin typeface="Arial"/>
              </a:defRPr>
            </a:pPr>
            <a:r>
              <a:t>Practice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86800" y="4562856"/>
            <a:ext cx="21031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800" b="1">
                <a:solidFill>
                  <a:srgbClr val="161B26"/>
                </a:solidFill>
                <a:latin typeface="Arial"/>
              </a:defRPr>
            </a:pPr>
            <a:r>
              <a:t>Evidence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86800" y="4992624"/>
            <a:ext cx="21031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800" b="1">
                <a:solidFill>
                  <a:srgbClr val="161B26"/>
                </a:solidFill>
                <a:latin typeface="Arial"/>
              </a:defRPr>
            </a:pPr>
            <a:r>
              <a:t>Reflection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2920" y="6428232"/>
            <a:ext cx="11183112" cy="13716"/>
          </a:xfrm>
          <a:prstGeom prst="rect">
            <a:avLst/>
          </a:prstGeom>
          <a:solidFill>
            <a:srgbClr val="DCE5F0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8640" y="6483096"/>
            <a:ext cx="5212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00" b="0">
                <a:solidFill>
                  <a:srgbClr val="5B6372"/>
                </a:solidFill>
                <a:latin typeface="Arial"/>
              </a:defRPr>
            </a:pPr>
            <a:r>
              <a:t>C500 - Voice and Video Agents with n8n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51960" y="6483096"/>
            <a:ext cx="3749039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800" b="0">
                <a:solidFill>
                  <a:srgbClr val="5B6372"/>
                </a:solidFill>
                <a:latin typeface="Arial"/>
              </a:defRPr>
            </a:pPr>
            <a:r>
              <a:t>Copyright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109960" y="6483096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800" b="1">
                <a:solidFill>
                  <a:srgbClr val="5B6372"/>
                </a:solidFill>
                <a:latin typeface="Arial"/>
              </a:defRPr>
            </a:pPr>
            <a:r>
              <a:t>045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01752"/>
            <a:ext cx="10972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1">
                <a:solidFill>
                  <a:srgbClr val="1F6FEB"/>
                </a:solidFill>
                <a:latin typeface="Arial"/>
              </a:defRPr>
            </a:pPr>
            <a:r>
              <a:t>VOICE - THE CONTRAST IS THE LESSON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800" b="1">
                <a:solidFill>
                  <a:srgbClr val="161B26"/>
                </a:solidFill>
                <a:latin typeface="Arial"/>
              </a:defRPr>
            </a:pPr>
            <a:r>
              <a:t>Two Vendors, Two Architectures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600200"/>
            <a:ext cx="5349240" cy="3977639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1600200"/>
            <a:ext cx="5349240" cy="457200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00784"/>
            <a:ext cx="53492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ELEVENLABS - LAB 4 (GG HAIR SALON)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2286000"/>
            <a:ext cx="192024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0">
                <a:solidFill>
                  <a:srgbClr val="5B6372"/>
                </a:solidFill>
                <a:latin typeface="Arial"/>
              </a:defRPr>
            </a:pPr>
            <a:r>
              <a:t>Who runs the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98648" y="2286000"/>
            <a:ext cx="297180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1">
                <a:solidFill>
                  <a:srgbClr val="161B26"/>
                </a:solidFill>
                <a:latin typeface="Arial"/>
              </a:defRPr>
            </a:pPr>
            <a:r>
              <a:t>ElevenLabs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926080"/>
            <a:ext cx="192024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0">
                <a:solidFill>
                  <a:srgbClr val="5B6372"/>
                </a:solidFill>
                <a:latin typeface="Arial"/>
              </a:defRPr>
            </a:pPr>
            <a:r>
              <a:t>What n8n does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98648" y="2926080"/>
            <a:ext cx="297180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1">
                <a:solidFill>
                  <a:srgbClr val="161B26"/>
                </a:solidFill>
                <a:latin typeface="Arial"/>
              </a:defRPr>
            </a:pPr>
            <a:r>
              <a:t>mints a signed URL, serves the tools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566160"/>
            <a:ext cx="192024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0">
                <a:solidFill>
                  <a:srgbClr val="5B6372"/>
                </a:solidFill>
                <a:latin typeface="Arial"/>
              </a:defRPr>
            </a:pPr>
            <a:r>
              <a:t>Call path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98648" y="3566160"/>
            <a:ext cx="297180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1">
                <a:solidFill>
                  <a:srgbClr val="161B26"/>
                </a:solidFill>
                <a:latin typeface="Arial"/>
              </a:defRPr>
            </a:pPr>
            <a:r>
              <a:t>browser -&gt; n8n -&gt; signed URL -&gt; WebSocket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4206240"/>
            <a:ext cx="192024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0">
                <a:solidFill>
                  <a:srgbClr val="5B6372"/>
                </a:solidFill>
                <a:latin typeface="Arial"/>
              </a:defRPr>
            </a:pPr>
            <a:r>
              <a:t>Browser receives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98648" y="4206240"/>
            <a:ext cx="297180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1">
                <a:solidFill>
                  <a:srgbClr val="161B26"/>
                </a:solidFill>
                <a:latin typeface="Arial"/>
              </a:defRPr>
            </a:pPr>
            <a:r>
              <a:t>a short-lived SIGNED URL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846320"/>
            <a:ext cx="192024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0">
                <a:solidFill>
                  <a:srgbClr val="5B6372"/>
                </a:solidFill>
                <a:latin typeface="Arial"/>
              </a:defRPr>
            </a:pPr>
            <a:r>
              <a:t>Browser never sees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98648" y="4846320"/>
            <a:ext cx="297180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1">
                <a:solidFill>
                  <a:srgbClr val="161B26"/>
                </a:solidFill>
                <a:latin typeface="Arial"/>
              </a:defRPr>
            </a:pPr>
            <a:r>
              <a:t>your xi-api-key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6207" y="1600200"/>
            <a:ext cx="5349240" cy="3977639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36207" y="1600200"/>
            <a:ext cx="5349240" cy="45720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36207" y="1700784"/>
            <a:ext cx="53492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VAPI - LAB 5 (MEDIREFILL)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64807" y="2286000"/>
            <a:ext cx="192024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0">
                <a:solidFill>
                  <a:srgbClr val="5B6372"/>
                </a:solidFill>
                <a:latin typeface="Arial"/>
              </a:defRPr>
            </a:pPr>
            <a:r>
              <a:t>Who runs the model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76488" y="2286000"/>
            <a:ext cx="297180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1">
                <a:solidFill>
                  <a:srgbClr val="161B26"/>
                </a:solidFill>
                <a:latin typeface="Arial"/>
              </a:defRPr>
            </a:pPr>
            <a:r>
              <a:t>YOUR n8n workflow (Custom LLM)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64807" y="2926080"/>
            <a:ext cx="192024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0">
                <a:solidFill>
                  <a:srgbClr val="5B6372"/>
                </a:solidFill>
                <a:latin typeface="Arial"/>
              </a:defRPr>
            </a:pPr>
            <a:r>
              <a:t>What n8n does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76488" y="2926080"/>
            <a:ext cx="297180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1">
                <a:solidFill>
                  <a:srgbClr val="161B26"/>
                </a:solidFill>
                <a:latin typeface="Arial"/>
              </a:defRPr>
            </a:pPr>
            <a:r>
              <a:t>IS the brain - and the guardrail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64807" y="3566160"/>
            <a:ext cx="192024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0">
                <a:solidFill>
                  <a:srgbClr val="5B6372"/>
                </a:solidFill>
                <a:latin typeface="Arial"/>
              </a:defRPr>
            </a:pPr>
            <a:r>
              <a:t>Call path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76488" y="3566160"/>
            <a:ext cx="297180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1">
                <a:solidFill>
                  <a:srgbClr val="161B26"/>
                </a:solidFill>
                <a:latin typeface="Arial"/>
              </a:defRPr>
            </a:pPr>
            <a:r>
              <a:t>browser -&gt; Vapi, then Vapi -&gt; your n8n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64807" y="4206240"/>
            <a:ext cx="192024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0">
                <a:solidFill>
                  <a:srgbClr val="5B6372"/>
                </a:solidFill>
                <a:latin typeface="Arial"/>
              </a:defRPr>
            </a:pPr>
            <a:r>
              <a:t>Browser receives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76488" y="4206240"/>
            <a:ext cx="297180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1">
                <a:solidFill>
                  <a:srgbClr val="161B26"/>
                </a:solidFill>
                <a:latin typeface="Arial"/>
              </a:defRPr>
            </a:pPr>
            <a:r>
              <a:t>the Vapi PUBLIC key only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64807" y="4846320"/>
            <a:ext cx="192024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0">
                <a:solidFill>
                  <a:srgbClr val="5B6372"/>
                </a:solidFill>
                <a:latin typeface="Arial"/>
              </a:defRPr>
            </a:pPr>
            <a:r>
              <a:t>Browser never sees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76488" y="4846320"/>
            <a:ext cx="297180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1">
                <a:solidFill>
                  <a:srgbClr val="161B26"/>
                </a:solidFill>
                <a:latin typeface="Arial"/>
              </a:defRPr>
            </a:pPr>
            <a:r>
              <a:t>your Vapi private key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5687568"/>
            <a:ext cx="10881360" cy="621792"/>
          </a:xfrm>
          <a:prstGeom prst="round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0120" y="5779008"/>
            <a:ext cx="10332720" cy="4572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400" b="1">
                <a:solidFill>
                  <a:srgbClr val="7C3AED"/>
                </a:solidFill>
                <a:latin typeface="Arial"/>
              </a:defRPr>
            </a:pPr>
            <a:r>
              <a:t>Either way, the browser only ever holds a short-lived, single-purpose token - never a vendor key.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6428232"/>
            <a:ext cx="11183112" cy="13716"/>
          </a:xfrm>
          <a:prstGeom prst="rect">
            <a:avLst/>
          </a:prstGeom>
          <a:solidFill>
            <a:srgbClr val="DCE5F0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6483096"/>
            <a:ext cx="5212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00" b="0">
                <a:solidFill>
                  <a:srgbClr val="5B6372"/>
                </a:solidFill>
                <a:latin typeface="Arial"/>
              </a:defRPr>
            </a:pPr>
            <a:r>
              <a:t>C500 - Voice and Video Agents with n8n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51960" y="6483096"/>
            <a:ext cx="3749039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800" b="0">
                <a:solidFill>
                  <a:srgbClr val="5B6372"/>
                </a:solidFill>
                <a:latin typeface="Arial"/>
              </a:defRPr>
            </a:pPr>
            <a:r>
              <a:t>Copyright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09960" y="6483096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800" b="1">
                <a:solidFill>
                  <a:srgbClr val="5B6372"/>
                </a:solidFill>
                <a:latin typeface="Arial"/>
              </a:defRPr>
            </a:pPr>
            <a:r>
              <a:t>046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01752"/>
            <a:ext cx="10972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1">
                <a:solidFill>
                  <a:srgbClr val="1F6FEB"/>
                </a:solidFill>
                <a:latin typeface="Arial"/>
              </a:defRPr>
            </a:pPr>
            <a:r>
              <a:t>TUNNEL - 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800" b="1">
                <a:solidFill>
                  <a:srgbClr val="161B26"/>
                </a:solidFill>
                <a:latin typeface="Arial"/>
              </a:defRPr>
            </a:pPr>
            <a:r>
              <a:t>Why localhost Stops Working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98448"/>
            <a:ext cx="108813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700" b="0">
                <a:solidFill>
                  <a:srgbClr val="5B6372"/>
                </a:solidFill>
                <a:latin typeface="Arial"/>
              </a:defRPr>
            </a:pPr>
            <a:r>
              <a:t>In Labs 4 and 5 something OUTSIDE your machine calls INTO n8n for the first time.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828800"/>
            <a:ext cx="5394960" cy="22860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28800"/>
            <a:ext cx="5394960" cy="45720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929384"/>
            <a:ext cx="53949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WORKS - your own browser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487168"/>
            <a:ext cx="48463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500" b="1">
                <a:solidFill>
                  <a:srgbClr val="161B26"/>
                </a:solidFill>
                <a:latin typeface="Arial"/>
              </a:defRPr>
            </a:pPr>
            <a:r>
              <a:t>Labs 1-3  ·  Book by Voice  ·  curl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880360"/>
            <a:ext cx="4846320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400" b="0">
                <a:solidFill>
                  <a:srgbClr val="5B6372"/>
                </a:solidFill>
                <a:latin typeface="Arial"/>
              </a:defRPr>
            </a:pPr>
            <a:r>
              <a:t>Your browser and n8n are on the SAME machine,</a:t>
            </a:r>
            <a:br/>
            <a:r>
              <a:t>so http://localhost:5678 resolves correctly.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675887"/>
            <a:ext cx="48463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Arial"/>
              </a:defRPr>
            </a:pPr>
            <a:r>
              <a:t>No tunnel needed. Do not change this.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1828800"/>
            <a:ext cx="5193792" cy="22860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55080" y="1828800"/>
            <a:ext cx="5193792" cy="457200"/>
          </a:xfrm>
          <a:prstGeom prst="roundRect">
            <a:avLst/>
          </a:prstGeom>
          <a:solidFill>
            <a:srgbClr val="E25555"/>
          </a:solidFill>
          <a:ln>
            <a:solidFill>
              <a:srgbClr val="E2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929384"/>
            <a:ext cx="519379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FAILS - ElevenLabs / Vapi servers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56832" y="2468880"/>
            <a:ext cx="46634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1">
                <a:solidFill>
                  <a:srgbClr val="161B26"/>
                </a:solidFill>
                <a:latin typeface="Arial"/>
              </a:defRPr>
            </a:pPr>
            <a:r>
              <a:t>check_availability · book_appointment · Custom LLM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56832" y="2834640"/>
            <a:ext cx="4663440" cy="8686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400" b="0">
                <a:solidFill>
                  <a:srgbClr val="5B6372"/>
                </a:solidFill>
                <a:latin typeface="Arial"/>
              </a:defRPr>
            </a:pPr>
            <a:r>
              <a:t>To a datacenter in another country, “localhost”</a:t>
            </a:r>
            <a:br/>
            <a:r>
              <a:t>means ITS OWN machine. The request never</a:t>
            </a:r>
            <a:br/>
            <a:r>
              <a:t>leaves their building.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56832" y="3703320"/>
            <a:ext cx="46634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400" b="1">
                <a:solidFill>
                  <a:srgbClr val="E25555"/>
                </a:solidFill>
                <a:latin typeface="Arial"/>
              </a:defRPr>
            </a:pPr>
            <a:r>
              <a:t>Tunnel required.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389120"/>
            <a:ext cx="10881360" cy="1371600"/>
          </a:xfrm>
          <a:prstGeom prst="round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4526280"/>
            <a:ext cx="54864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1">
                <a:solidFill>
                  <a:srgbClr val="7C3AED"/>
                </a:solidFill>
                <a:latin typeface="Arial"/>
              </a:defRPr>
            </a:pPr>
            <a:r>
              <a:t>THE SYMPTOM YOU WILL ACTUALLY SEE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4864608"/>
            <a:ext cx="10241280" cy="7772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500" b="1">
                <a:solidFill>
                  <a:srgbClr val="161B26"/>
                </a:solidFill>
                <a:latin typeface="Arial"/>
              </a:defRPr>
            </a:pPr>
            <a:r>
              <a:t>Nina says “let me check that for you” … then silence. Nothing appears in the n8n executions list, because the</a:t>
            </a:r>
            <a:br/>
            <a:r>
              <a:t>request never arrived. That is not a prompt bug. It is a networking bug.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6428232"/>
            <a:ext cx="11183112" cy="13716"/>
          </a:xfrm>
          <a:prstGeom prst="rect">
            <a:avLst/>
          </a:prstGeom>
          <a:solidFill>
            <a:srgbClr val="DCE5F0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6483096"/>
            <a:ext cx="5212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00" b="0">
                <a:solidFill>
                  <a:srgbClr val="5B6372"/>
                </a:solidFill>
                <a:latin typeface="Arial"/>
              </a:defRPr>
            </a:pPr>
            <a:r>
              <a:t>C500 - Voice and Video Agents with n8n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51960" y="6483096"/>
            <a:ext cx="3749039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800" b="0">
                <a:solidFill>
                  <a:srgbClr val="5B6372"/>
                </a:solidFill>
                <a:latin typeface="Arial"/>
              </a:defRPr>
            </a:pPr>
            <a:r>
              <a:t>Copyright 2026 Tertiary Infotech Academy Pte Ltd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09960" y="6483096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800" b="1">
                <a:solidFill>
                  <a:srgbClr val="5B6372"/>
                </a:solidFill>
                <a:latin typeface="Arial"/>
              </a:defRPr>
            </a:pPr>
            <a:r>
              <a:t>047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01752"/>
            <a:ext cx="10972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1">
                <a:solidFill>
                  <a:srgbClr val="1F6FEB"/>
                </a:solidFill>
                <a:latin typeface="Arial"/>
              </a:defRPr>
            </a:pPr>
            <a:r>
              <a:t>TUNNEL -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800" b="1">
                <a:solidFill>
                  <a:srgbClr val="161B26"/>
                </a:solidFill>
                <a:latin typeface="Arial"/>
              </a:defRPr>
            </a:pPr>
            <a:r>
              <a:t>Expose n8n With ngrok</a:t>
            </a:r>
          </a:p>
        </p:txBody>
      </p:sp>
      <p:sp>
        <p:nvSpPr>
          <p:cNvPr id="4" name="Oval 3"/>
          <p:cNvSpPr/>
          <p:nvPr/>
        </p:nvSpPr>
        <p:spPr>
          <a:xfrm>
            <a:off x="713232" y="1426464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426464"/>
            <a:ext cx="512064" cy="51206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63040" y="1353312"/>
            <a:ext cx="10058400" cy="7863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91640" y="1408176"/>
            <a:ext cx="18288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500" b="1">
                <a:solidFill>
                  <a:srgbClr val="161B26"/>
                </a:solidFill>
                <a:latin typeface="Arial"/>
              </a:defRPr>
            </a:pPr>
            <a:r>
              <a:t>Install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1399032"/>
            <a:ext cx="7680960" cy="6949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0">
                <a:solidFill>
                  <a:srgbClr val="5B6372"/>
                </a:solidFill>
                <a:latin typeface="Arial"/>
              </a:defRPr>
            </a:pPr>
            <a:r>
              <a:t>brew install ngrok</a:t>
            </a:r>
            <a:br/>
            <a:r>
              <a:t>(Windows: ngrok.com/download)</a:t>
            </a:r>
          </a:p>
        </p:txBody>
      </p:sp>
      <p:sp>
        <p:nvSpPr>
          <p:cNvPr id="9" name="Oval 8"/>
          <p:cNvSpPr/>
          <p:nvPr/>
        </p:nvSpPr>
        <p:spPr>
          <a:xfrm>
            <a:off x="713232" y="2322576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2322576"/>
            <a:ext cx="512064" cy="51206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63040" y="2249424"/>
            <a:ext cx="10058400" cy="7863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91640" y="2304288"/>
            <a:ext cx="18288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500" b="1">
                <a:solidFill>
                  <a:srgbClr val="161B26"/>
                </a:solidFill>
                <a:latin typeface="Arial"/>
              </a:defRPr>
            </a:pPr>
            <a:r>
              <a:t>Authtoken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295144"/>
            <a:ext cx="7680960" cy="6949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0">
                <a:solidFill>
                  <a:srgbClr val="5B6372"/>
                </a:solidFill>
                <a:latin typeface="Arial"/>
              </a:defRPr>
            </a:pPr>
            <a:r>
              <a:t>Free signup, then:</a:t>
            </a:r>
            <a:br/>
            <a:r>
              <a:t>ngrok config add-authtoken &lt;TOKEN&gt;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218688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3218688"/>
            <a:ext cx="512064" cy="51206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463040" y="3145536"/>
            <a:ext cx="10058400" cy="7863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691640" y="3200400"/>
            <a:ext cx="18288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500" b="1">
                <a:solidFill>
                  <a:srgbClr val="161B26"/>
                </a:solidFill>
                <a:latin typeface="Arial"/>
              </a:defRPr>
            </a:pPr>
            <a:r>
              <a:t>Start 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3191256"/>
            <a:ext cx="7680960" cy="6949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0">
                <a:solidFill>
                  <a:srgbClr val="5B6372"/>
                </a:solidFill>
                <a:latin typeface="Arial"/>
              </a:defRPr>
            </a:pPr>
            <a:r>
              <a:t>ngrok http 5678</a:t>
            </a:r>
            <a:br/>
            <a:r>
              <a:t>Leave this window OPEN all session</a:t>
            </a:r>
          </a:p>
        </p:txBody>
      </p:sp>
      <p:sp>
        <p:nvSpPr>
          <p:cNvPr id="19" name="Oval 18"/>
          <p:cNvSpPr/>
          <p:nvPr/>
        </p:nvSpPr>
        <p:spPr>
          <a:xfrm>
            <a:off x="713232" y="4114800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" y="4114800"/>
            <a:ext cx="512064" cy="51206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463040" y="4041648"/>
            <a:ext cx="10058400" cy="7863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691640" y="4096511"/>
            <a:ext cx="18288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500" b="1">
                <a:solidFill>
                  <a:srgbClr val="161B26"/>
                </a:solidFill>
                <a:latin typeface="Arial"/>
              </a:defRPr>
            </a:pPr>
            <a:r>
              <a:t>Read the URL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4087368"/>
            <a:ext cx="7680960" cy="6949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0">
                <a:solidFill>
                  <a:srgbClr val="5B6372"/>
                </a:solidFill>
                <a:latin typeface="Arial"/>
              </a:defRPr>
            </a:pPr>
            <a:r>
              <a:t>Forwarding  https://&lt;id&gt;.ngrok-free.app</a:t>
            </a:r>
            <a:br/>
            <a:r>
              <a:t>-&gt; http://localhost:5678</a:t>
            </a:r>
          </a:p>
        </p:txBody>
      </p:sp>
      <p:sp>
        <p:nvSpPr>
          <p:cNvPr id="24" name="Oval 23"/>
          <p:cNvSpPr/>
          <p:nvPr/>
        </p:nvSpPr>
        <p:spPr>
          <a:xfrm>
            <a:off x="713232" y="5010912"/>
            <a:ext cx="512064" cy="512064"/>
          </a:xfrm>
          <a:prstGeom prst="ellipse">
            <a:avLst/>
          </a:prstGeom>
          <a:solidFill>
            <a:srgbClr val="E2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" y="5010912"/>
            <a:ext cx="512064" cy="51206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463040" y="4937760"/>
            <a:ext cx="10058400" cy="7863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91640" y="4992624"/>
            <a:ext cx="18288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500" b="1">
                <a:solidFill>
                  <a:srgbClr val="161B26"/>
                </a:solidFill>
                <a:latin typeface="Arial"/>
              </a:defRPr>
            </a:pPr>
            <a:r>
              <a:t>Inspect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4983480"/>
            <a:ext cx="7680960" cy="6949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0">
                <a:solidFill>
                  <a:srgbClr val="5B6372"/>
                </a:solidFill>
                <a:latin typeface="Arial"/>
              </a:defRPr>
            </a:pPr>
            <a:r>
              <a:t>http://127.0.0.1:4040   &lt;- bookmark this</a:t>
            </a:r>
            <a:br/>
            <a:r>
              <a:t>Status tab = your public URL.  Inspect tab = every request as it arrives.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5961888"/>
            <a:ext cx="107899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400" b="1">
                <a:solidFill>
                  <a:srgbClr val="7C3AED"/>
                </a:solidFill>
                <a:latin typeface="Arial"/>
              </a:defRPr>
            </a:pPr>
            <a:r>
              <a:t>Prove it with curl BEFORE touching the voice platform - HTTP is far easier to debug than audio.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6428232"/>
            <a:ext cx="11183112" cy="13716"/>
          </a:xfrm>
          <a:prstGeom prst="rect">
            <a:avLst/>
          </a:prstGeom>
          <a:solidFill>
            <a:srgbClr val="DCE5F0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6483096"/>
            <a:ext cx="5212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00" b="0">
                <a:solidFill>
                  <a:srgbClr val="5B6372"/>
                </a:solidFill>
                <a:latin typeface="Arial"/>
              </a:defRPr>
            </a:pPr>
            <a:r>
              <a:t>C500 - Voice and Video Agents with n8n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6483096"/>
            <a:ext cx="3749039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800" b="0">
                <a:solidFill>
                  <a:srgbClr val="5B6372"/>
                </a:solidFill>
                <a:latin typeface="Arial"/>
              </a:defRPr>
            </a:pPr>
            <a:r>
              <a:t>Copyright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09960" y="6483096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800" b="1">
                <a:solidFill>
                  <a:srgbClr val="5B6372"/>
                </a:solidFill>
                <a:latin typeface="Arial"/>
              </a:defRPr>
            </a:pPr>
            <a:r>
              <a:t>048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01752"/>
            <a:ext cx="10972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1">
                <a:solidFill>
                  <a:srgbClr val="1F6FEB"/>
                </a:solidFill>
                <a:latin typeface="Arial"/>
              </a:defRPr>
            </a:pPr>
            <a:r>
              <a:t>TUNNEL - THE URL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800" b="1">
                <a:solidFill>
                  <a:srgbClr val="161B26"/>
                </a:solidFill>
                <a:latin typeface="Arial"/>
              </a:defRPr>
            </a:pPr>
            <a:r>
              <a:t>Building the URL You Paste Into the Vendor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98448"/>
            <a:ext cx="108813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600" b="0">
                <a:solidFill>
                  <a:srgbClr val="5B6372"/>
                </a:solidFill>
                <a:latin typeface="Arial"/>
              </a:defRPr>
            </a:pPr>
            <a:r>
              <a:t>You are gluing two halves together: ngrok supplies the address, the n8n Webhook node supplies the path.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5852160" cy="777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93392"/>
            <a:ext cx="5486400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600" b="1">
                <a:solidFill>
                  <a:srgbClr val="1F6FEB"/>
                </a:solidFill>
                <a:latin typeface="Arial"/>
              </a:defRPr>
            </a:pPr>
            <a:r>
              <a:t>https://3af5-…ngrok-free.app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633472"/>
            <a:ext cx="54864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0">
                <a:solidFill>
                  <a:srgbClr val="5B6372"/>
                </a:solidFill>
                <a:latin typeface="Arial"/>
              </a:defRPr>
            </a:pPr>
            <a:r>
              <a:t>from ngrok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12280" y="1828800"/>
            <a:ext cx="4754880" cy="777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95160" y="1993392"/>
            <a:ext cx="4389120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Arial"/>
              </a:defRPr>
            </a:pPr>
            <a:r>
              <a:t>/webhook/check-availability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5160" y="2633472"/>
            <a:ext cx="43891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0">
                <a:solidFill>
                  <a:srgbClr val="5B6372"/>
                </a:solidFill>
                <a:latin typeface="Arial"/>
              </a:defRPr>
            </a:pPr>
            <a:r>
              <a:t>from the n8n Webhook node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108960"/>
            <a:ext cx="10835640" cy="658368"/>
          </a:xfrm>
          <a:prstGeom prst="round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200400"/>
            <a:ext cx="10332720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600" b="1">
                <a:solidFill>
                  <a:srgbClr val="7C3AED"/>
                </a:solidFill>
                <a:latin typeface="Arial"/>
              </a:defRPr>
            </a:pPr>
            <a:r>
              <a:t>THE RULE:  take the node's PRODUCTION URL and swap http://localhost:5678 for your ngrok address.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" y="4023360"/>
            <a:ext cx="384048" cy="38404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4023360"/>
            <a:ext cx="384048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005072"/>
            <a:ext cx="4937760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400" b="1">
                <a:solidFill>
                  <a:srgbClr val="161B26"/>
                </a:solidFill>
                <a:latin typeface="Arial"/>
              </a:defRPr>
            </a:pPr>
            <a:r>
              <a:t>The free URL changes on every restart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4005072"/>
            <a:ext cx="5029200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400" b="0">
                <a:solidFill>
                  <a:srgbClr val="5B6372"/>
                </a:solidFill>
                <a:latin typeface="Arial"/>
              </a:defRPr>
            </a:pPr>
            <a:r>
              <a:t>Re-paste it and PUBLISH the agent again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" y="4681728"/>
            <a:ext cx="384048" cy="384048"/>
          </a:xfrm>
          <a:prstGeom prst="ellipse">
            <a:avLst/>
          </a:prstGeom>
          <a:solidFill>
            <a:srgbClr val="E2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681728"/>
            <a:ext cx="384048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!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663440"/>
            <a:ext cx="4937760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400" b="1">
                <a:solidFill>
                  <a:srgbClr val="161B26"/>
                </a:solidFill>
                <a:latin typeface="Arial"/>
              </a:defRPr>
            </a:pPr>
            <a:r>
              <a:t>Test URL instead of Production URL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663440"/>
            <a:ext cx="5029200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400" b="0">
                <a:solidFill>
                  <a:srgbClr val="5B6372"/>
                </a:solidFill>
                <a:latin typeface="Arial"/>
              </a:defRPr>
            </a:pPr>
            <a:r>
              <a:t>Use /webhook/ - never /webhook-test/</a:t>
            </a:r>
          </a:p>
        </p:txBody>
      </p:sp>
      <p:sp>
        <p:nvSpPr>
          <p:cNvPr id="21" name="Oval 20"/>
          <p:cNvSpPr/>
          <p:nvPr/>
        </p:nvSpPr>
        <p:spPr>
          <a:xfrm>
            <a:off x="777240" y="5340096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5340096"/>
            <a:ext cx="384048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!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5321808"/>
            <a:ext cx="4937760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400" b="1">
                <a:solidFill>
                  <a:srgbClr val="161B26"/>
                </a:solidFill>
                <a:latin typeface="Arial"/>
              </a:defRPr>
            </a:pPr>
            <a:r>
              <a:t>Workflow not published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5321808"/>
            <a:ext cx="5029200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400" b="0">
                <a:solidFill>
                  <a:srgbClr val="5B6372"/>
                </a:solidFill>
                <a:latin typeface="Arial"/>
              </a:defRPr>
            </a:pPr>
            <a:r>
              <a:t>404 'not registered' - publish, then retest</a:t>
            </a:r>
          </a:p>
        </p:txBody>
      </p:sp>
      <p:sp>
        <p:nvSpPr>
          <p:cNvPr id="25" name="Oval 24"/>
          <p:cNvSpPr/>
          <p:nvPr/>
        </p:nvSpPr>
        <p:spPr>
          <a:xfrm>
            <a:off x="777240" y="5998464"/>
            <a:ext cx="384048" cy="38404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998464"/>
            <a:ext cx="384048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!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5980176"/>
            <a:ext cx="4937760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400" b="1">
                <a:solidFill>
                  <a:srgbClr val="161B26"/>
                </a:solidFill>
                <a:latin typeface="Arial"/>
              </a:defRPr>
            </a:pPr>
            <a:r>
              <a:t>Setting WEBHOOK_URL on the container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5980176"/>
            <a:ext cx="5029200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400" b="0">
                <a:solidFill>
                  <a:srgbClr val="5B6372"/>
                </a:solidFill>
                <a:latin typeface="Arial"/>
              </a:defRPr>
            </a:pPr>
            <a:r>
              <a:t>Do NOT. It breaks localhost for Labs 1-3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6428232"/>
            <a:ext cx="11183112" cy="13716"/>
          </a:xfrm>
          <a:prstGeom prst="rect">
            <a:avLst/>
          </a:prstGeom>
          <a:solidFill>
            <a:srgbClr val="DCE5F0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6483096"/>
            <a:ext cx="5212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00" b="0">
                <a:solidFill>
                  <a:srgbClr val="5B6372"/>
                </a:solidFill>
                <a:latin typeface="Arial"/>
              </a:defRPr>
            </a:pPr>
            <a:r>
              <a:t>C500 - Voice and Video Agents with n8n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51960" y="6483096"/>
            <a:ext cx="3749039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800" b="0">
                <a:solidFill>
                  <a:srgbClr val="5B6372"/>
                </a:solidFill>
                <a:latin typeface="Arial"/>
              </a:defRPr>
            </a:pPr>
            <a:r>
              <a:t>Copyright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09960" y="6483096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800" b="1">
                <a:solidFill>
                  <a:srgbClr val="5B6372"/>
                </a:solidFill>
                <a:latin typeface="Arial"/>
              </a:defRPr>
            </a:pPr>
            <a:r>
              <a:t>049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01752"/>
            <a:ext cx="10972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1">
                <a:solidFill>
                  <a:srgbClr val="1F6FEB"/>
                </a:solidFill>
                <a:latin typeface="Arial"/>
              </a:defRPr>
            </a:pPr>
            <a:r>
              <a:t>BUILD TARGET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800" b="1">
                <a:solidFill>
                  <a:srgbClr val="161B26"/>
                </a:solidFill>
                <a:latin typeface="Arial"/>
              </a:defRPr>
            </a:pPr>
            <a:r>
              <a:t>Lab 4: Voice Booking Agent with ElevenLabs (GG Hair Salon)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417320"/>
            <a:ext cx="7360920" cy="3246120"/>
          </a:xfrm>
          <a:prstGeom prst="round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4400" y="1755648"/>
            <a:ext cx="1078992" cy="107899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55648"/>
            <a:ext cx="1078992" cy="10789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31720" y="1719072"/>
            <a:ext cx="21945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1">
                <a:solidFill>
                  <a:srgbClr val="1F6FEB"/>
                </a:solidFill>
                <a:latin typeface="Arial"/>
              </a:defRPr>
            </a:pPr>
            <a:r>
              <a:t>YOU WILL BUILD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31720" y="2048256"/>
            <a:ext cx="5074920" cy="131673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2000" b="1">
                <a:solidFill>
                  <a:srgbClr val="161B26"/>
                </a:solidFill>
                <a:latin typeface="Arial"/>
              </a:defRPr>
            </a:pPr>
            <a:r>
              <a:t>Nina, a voice receptionist who answers by voice, checks a real Google Calendar for free slots, and books a real appointment.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1720" y="3474720"/>
            <a:ext cx="19202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  <a:latin typeface="Arial"/>
              </a:defRPr>
            </a:pPr>
            <a:r>
              <a:t>DELIVERABLE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3822191"/>
            <a:ext cx="507492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500" b="0">
                <a:solidFill>
                  <a:srgbClr val="5B6372"/>
                </a:solidFill>
                <a:latin typeface="Arial"/>
              </a:defRPr>
            </a:pPr>
            <a:r>
              <a:t>A real calendar booking made by voice: the calendar event, the call transcript, and the n8n tool execution.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02752" y="1417320"/>
            <a:ext cx="32918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02752" y="1417320"/>
            <a:ext cx="73152" cy="96012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540496" y="1636776"/>
            <a:ext cx="438912" cy="43891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40496" y="1636776"/>
            <a:ext cx="438912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07424" y="1554480"/>
            <a:ext cx="226771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600" b="1">
                <a:solidFill>
                  <a:srgbClr val="161B26"/>
                </a:solidFill>
                <a:latin typeface="Arial"/>
              </a:defRPr>
            </a:pPr>
            <a:r>
              <a:t>TIMEBOX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07424" y="1920240"/>
            <a:ext cx="2267712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0">
                <a:solidFill>
                  <a:srgbClr val="5B6372"/>
                </a:solidFill>
                <a:latin typeface="Arial"/>
              </a:defRPr>
            </a:pPr>
            <a:r>
              <a:t>120 minutes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02752" y="2606040"/>
            <a:ext cx="32918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302752" y="2606040"/>
            <a:ext cx="73152" cy="96012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540496" y="2825496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40496" y="2825496"/>
            <a:ext cx="438912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07424" y="2743200"/>
            <a:ext cx="226771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600" b="1">
                <a:solidFill>
                  <a:srgbClr val="161B26"/>
                </a:solidFill>
                <a:latin typeface="Arial"/>
              </a:defRPr>
            </a:pPr>
            <a:r>
              <a:t>MODE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07424" y="3108960"/>
            <a:ext cx="2267712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0">
                <a:solidFill>
                  <a:srgbClr val="5B6372"/>
                </a:solidFill>
                <a:latin typeface="Arial"/>
              </a:defRPr>
            </a:pPr>
            <a:r>
              <a:t>Demo, guided build, independent test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302752" y="3794760"/>
            <a:ext cx="32918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302752" y="3794760"/>
            <a:ext cx="73152" cy="96012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540496" y="4014216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40496" y="4014216"/>
            <a:ext cx="438912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07424" y="3931920"/>
            <a:ext cx="226771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600" b="1">
                <a:solidFill>
                  <a:srgbClr val="161B26"/>
                </a:solidFill>
                <a:latin typeface="Arial"/>
              </a:defRPr>
            </a:pPr>
            <a:r>
              <a:t>EVIDENCE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07424" y="4297680"/>
            <a:ext cx="2267712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0">
                <a:solidFill>
                  <a:srgbClr val="5B6372"/>
                </a:solidFill>
                <a:latin typeface="Arial"/>
              </a:defRPr>
            </a:pPr>
            <a:r>
              <a:t>Execution trace plus learner artifact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5230368"/>
            <a:ext cx="731520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000" b="1">
                <a:solidFill>
                  <a:srgbClr val="7C3AED"/>
                </a:solidFill>
                <a:latin typeface="Arial"/>
              </a:defRPr>
            </a:pPr>
            <a:r>
              <a:t>Success is demonstrated, not assumed.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6428232"/>
            <a:ext cx="11183112" cy="13716"/>
          </a:xfrm>
          <a:prstGeom prst="rect">
            <a:avLst/>
          </a:prstGeom>
          <a:solidFill>
            <a:srgbClr val="DCE5F0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6483096"/>
            <a:ext cx="5212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00" b="0">
                <a:solidFill>
                  <a:srgbClr val="5B6372"/>
                </a:solidFill>
                <a:latin typeface="Arial"/>
              </a:defRPr>
            </a:pPr>
            <a:r>
              <a:t>C500 - Voice and Video Agents with n8n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6483096"/>
            <a:ext cx="3749039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800" b="0">
                <a:solidFill>
                  <a:srgbClr val="5B6372"/>
                </a:solidFill>
                <a:latin typeface="Arial"/>
              </a:defRPr>
            </a:pPr>
            <a:r>
              <a:t>Copyright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09960" y="6483096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800" b="1">
                <a:solidFill>
                  <a:srgbClr val="5B6372"/>
                </a:solidFill>
                <a:latin typeface="Arial"/>
              </a:defRPr>
            </a:pPr>
            <a:r>
              <a:t>050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01752"/>
            <a:ext cx="10972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1">
                <a:solidFill>
                  <a:srgbClr val="1F6FEB"/>
                </a:solidFill>
                <a:latin typeface="Arial"/>
              </a:defRPr>
            </a:pPr>
            <a:r>
              <a:t>CONCEPT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800" b="1">
                <a:solidFill>
                  <a:srgbClr val="161B26"/>
                </a:solidFill>
                <a:latin typeface="Arial"/>
              </a:defRPr>
            </a:pPr>
            <a:r>
              <a:t>Lab 4: Four Ideas That Make It Work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" y="1389888"/>
            <a:ext cx="5349240" cy="1901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1792" y="1389888"/>
            <a:ext cx="73152" cy="190195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59536" y="1609344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609344"/>
            <a:ext cx="438912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26464" y="1591056"/>
            <a:ext cx="432511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700" b="1">
                <a:solidFill>
                  <a:srgbClr val="161B26"/>
                </a:solidFill>
                <a:latin typeface="Arial"/>
              </a:defRPr>
            </a:pPr>
            <a:r>
              <a:t>Signed URL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048256"/>
            <a:ext cx="4846320" cy="10789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400" b="0">
                <a:solidFill>
                  <a:srgbClr val="5B6372"/>
                </a:solidFill>
                <a:latin typeface="Arial"/>
              </a:defRPr>
            </a:pPr>
            <a:r>
              <a:t>n8n asks ElevenLabs for a short-lived signed URL server-side, using the xi-api-key - the key never reaches the browser.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389888"/>
            <a:ext cx="5349240" cy="1901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99632" y="1389888"/>
            <a:ext cx="73152" cy="19019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37376" y="1609344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37376" y="1609344"/>
            <a:ext cx="438912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4304" y="1591056"/>
            <a:ext cx="432511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700" b="1">
                <a:solidFill>
                  <a:srgbClr val="161B26"/>
                </a:solidFill>
                <a:latin typeface="Arial"/>
              </a:defRPr>
            </a:pPr>
            <a:r>
              <a:t>Agent tools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2" y="2048256"/>
            <a:ext cx="4846320" cy="10789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400" b="0">
                <a:solidFill>
                  <a:srgbClr val="5B6372"/>
                </a:solidFill>
                <a:latin typeface="Arial"/>
              </a:defRPr>
            </a:pPr>
            <a:r>
              <a:t>check_availability and book_appointment are n8n webhooks that ElevenLabs' SERVERS call during the conversation.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" y="3675887"/>
            <a:ext cx="5349240" cy="1901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" y="3675887"/>
            <a:ext cx="73152" cy="1901952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59536" y="3895344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6" y="3895344"/>
            <a:ext cx="438912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26464" y="3877055"/>
            <a:ext cx="432511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700" b="1">
                <a:solidFill>
                  <a:srgbClr val="161B26"/>
                </a:solidFill>
                <a:latin typeface="Arial"/>
              </a:defRPr>
            </a:pPr>
            <a:r>
              <a:t>Call direction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" y="4334255"/>
            <a:ext cx="4846320" cy="10789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400" b="0">
                <a:solidFill>
                  <a:srgbClr val="5B6372"/>
                </a:solidFill>
                <a:latin typeface="Arial"/>
              </a:defRPr>
            </a:pPr>
            <a:r>
              <a:t>Browser-to-n8n needs no tunnel; ElevenLabs-to-n8n needs ngrok. Before debugging any webhook, ask: who is dialling?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9632" y="3675887"/>
            <a:ext cx="5349240" cy="1901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99632" y="3675887"/>
            <a:ext cx="73152" cy="19019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37376" y="3895344"/>
            <a:ext cx="438912" cy="43891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37376" y="3895344"/>
            <a:ext cx="438912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04304" y="3877055"/>
            <a:ext cx="432511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700" b="1">
                <a:solidFill>
                  <a:srgbClr val="161B26"/>
                </a:solidFill>
                <a:latin typeface="Arial"/>
              </a:defRPr>
            </a:pPr>
            <a:r>
              <a:t>Grounded voice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73952" y="4334255"/>
            <a:ext cx="4846320" cy="10789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400" b="0">
                <a:solidFill>
                  <a:srgbClr val="5B6372"/>
                </a:solidFill>
                <a:latin typeface="Arial"/>
              </a:defRPr>
            </a:pPr>
            <a:r>
              <a:t>The salon handbook PDF in the agent's Knowledge Base is why Nina quotes real prices instead of inventing them.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5806440"/>
            <a:ext cx="80467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600" b="0">
                <a:solidFill>
                  <a:srgbClr val="5B6372"/>
                </a:solidFill>
                <a:latin typeface="Arial"/>
              </a:defRPr>
            </a:pPr>
            <a:r>
              <a:t>Connect the four ideas before touching the workflow canvas.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6428232"/>
            <a:ext cx="11183112" cy="13716"/>
          </a:xfrm>
          <a:prstGeom prst="rect">
            <a:avLst/>
          </a:prstGeom>
          <a:solidFill>
            <a:srgbClr val="DCE5F0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6483096"/>
            <a:ext cx="5212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00" b="0">
                <a:solidFill>
                  <a:srgbClr val="5B6372"/>
                </a:solidFill>
                <a:latin typeface="Arial"/>
              </a:defRPr>
            </a:pPr>
            <a:r>
              <a:t>C500 - Voice and Video Agents with n8n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51960" y="6483096"/>
            <a:ext cx="3749039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800" b="0">
                <a:solidFill>
                  <a:srgbClr val="5B6372"/>
                </a:solidFill>
                <a:latin typeface="Arial"/>
              </a:defRPr>
            </a:pPr>
            <a:r>
              <a:t>Copyright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09960" y="6483096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800" b="1">
                <a:solidFill>
                  <a:srgbClr val="5B6372"/>
                </a:solidFill>
                <a:latin typeface="Arial"/>
              </a:defRPr>
            </a:pPr>
            <a:r>
              <a:t>051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01752"/>
            <a:ext cx="10972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1">
                <a:solidFill>
                  <a:srgbClr val="1F6FEB"/>
                </a:solidFill>
                <a:latin typeface="Arial"/>
              </a:defRPr>
            </a:pPr>
            <a:r>
              <a:t>WORKFLOW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800" b="1">
                <a:solidFill>
                  <a:srgbClr val="161B26"/>
                </a:solidFill>
                <a:latin typeface="Arial"/>
              </a:defRPr>
            </a:pPr>
            <a:r>
              <a:t>Lab 4: Build Sequence</a:t>
            </a:r>
          </a:p>
        </p:txBody>
      </p:sp>
      <p:sp>
        <p:nvSpPr>
          <p:cNvPr id="4" name="Oval 3"/>
          <p:cNvSpPr/>
          <p:nvPr/>
        </p:nvSpPr>
        <p:spPr>
          <a:xfrm>
            <a:off x="658368" y="1463039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463039"/>
            <a:ext cx="53035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08176" y="1325880"/>
            <a:ext cx="4690872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8488" y="1417320"/>
            <a:ext cx="4279392" cy="11887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100" b="0">
                <a:solidFill>
                  <a:srgbClr val="161B26"/>
                </a:solidFill>
                <a:latin typeface="Arial"/>
              </a:defRPr>
            </a:pPr>
            <a:r>
              <a:t>Import BOTH flows - elevenlabs-web-call-flow.json and elevenlabs-booking-tools-flow.json - and set both Active.</a:t>
            </a:r>
          </a:p>
        </p:txBody>
      </p:sp>
      <p:sp>
        <p:nvSpPr>
          <p:cNvPr id="8" name="Oval 7"/>
          <p:cNvSpPr/>
          <p:nvPr/>
        </p:nvSpPr>
        <p:spPr>
          <a:xfrm>
            <a:off x="6373368" y="1463039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73368" y="1463039"/>
            <a:ext cx="53035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23176" y="1325880"/>
            <a:ext cx="4690872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33488" y="1417320"/>
            <a:ext cx="4279392" cy="11887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100" b="0">
                <a:solidFill>
                  <a:srgbClr val="161B26"/>
                </a:solidFill>
                <a:latin typeface="Arial"/>
              </a:defRPr>
            </a:pPr>
            <a:r>
              <a:t>On the Get Signed URL node, add a Header Auth credential named ElevenLabs API: name xi-api-key, value your key.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309067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3090672"/>
            <a:ext cx="53035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08176" y="2953512"/>
            <a:ext cx="4690872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18488" y="3044952"/>
            <a:ext cx="4279392" cy="11887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100" b="0">
                <a:solidFill>
                  <a:srgbClr val="161B26"/>
                </a:solidFill>
                <a:latin typeface="Arial"/>
              </a:defRPr>
            </a:pPr>
            <a:r>
              <a:t>Connect YOUR OWN Google account on the two Google Calendar nodes - the flow ships without a calendar credential on purpose.</a:t>
            </a:r>
          </a:p>
        </p:txBody>
      </p:sp>
      <p:sp>
        <p:nvSpPr>
          <p:cNvPr id="16" name="Oval 15"/>
          <p:cNvSpPr/>
          <p:nvPr/>
        </p:nvSpPr>
        <p:spPr>
          <a:xfrm>
            <a:off x="6373368" y="309067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73368" y="3090672"/>
            <a:ext cx="53035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23176" y="2953512"/>
            <a:ext cx="4690872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33488" y="3044952"/>
            <a:ext cx="4279392" cy="11887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100" b="0">
                <a:solidFill>
                  <a:srgbClr val="161B26"/>
                </a:solidFill>
                <a:latin typeface="Arial"/>
              </a:defRPr>
            </a:pPr>
            <a:r>
              <a:t>In the ElevenLabs dashboard, create the agent (Nina), upload knowledge-base/gg-hair-salon-handbook.pdf to her Knowledge Base, and put her agent ID into the page's Settings.</a:t>
            </a:r>
          </a:p>
        </p:txBody>
      </p:sp>
      <p:sp>
        <p:nvSpPr>
          <p:cNvPr id="20" name="Oval 19"/>
          <p:cNvSpPr/>
          <p:nvPr/>
        </p:nvSpPr>
        <p:spPr>
          <a:xfrm>
            <a:off x="658368" y="4718304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4718304"/>
            <a:ext cx="53035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408176" y="4581144"/>
            <a:ext cx="4690872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18488" y="4672583"/>
            <a:ext cx="4279392" cy="11887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100" b="0">
                <a:solidFill>
                  <a:srgbClr val="161B26"/>
                </a:solidFill>
                <a:latin typeface="Arial"/>
              </a:defRPr>
            </a:pPr>
            <a:r>
              <a:t>Start the tunnel with ngrok http 5678, and register the two tools in the agent as https://&lt;id&gt;.ngrok-free.app/webhook/check-availability and .../book-appointment.</a:t>
            </a:r>
          </a:p>
        </p:txBody>
      </p:sp>
      <p:sp>
        <p:nvSpPr>
          <p:cNvPr id="24" name="Oval 23"/>
          <p:cNvSpPr/>
          <p:nvPr/>
        </p:nvSpPr>
        <p:spPr>
          <a:xfrm>
            <a:off x="6373368" y="4718304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73368" y="4718304"/>
            <a:ext cx="53035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23176" y="4581144"/>
            <a:ext cx="4690872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33488" y="4672583"/>
            <a:ext cx="4279392" cy="11887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100" b="0">
                <a:solidFill>
                  <a:srgbClr val="161B26"/>
                </a:solidFill>
                <a:latin typeface="Arial"/>
              </a:defRPr>
            </a:pPr>
            <a:r>
              <a:t>Serve the site (python3 -m http.server 8090 from lab4/website), click Book by Voice, and book a Thursday 2 PM haircut end to end.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6053328"/>
            <a:ext cx="59436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500" b="1">
                <a:solidFill>
                  <a:srgbClr val="7C3AED"/>
                </a:solidFill>
                <a:latin typeface="Arial"/>
              </a:defRPr>
            </a:pPr>
            <a:r>
              <a:t>Build one observable behavior at a time.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6428232"/>
            <a:ext cx="11183112" cy="13716"/>
          </a:xfrm>
          <a:prstGeom prst="rect">
            <a:avLst/>
          </a:prstGeom>
          <a:solidFill>
            <a:srgbClr val="DCE5F0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6483096"/>
            <a:ext cx="5212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00" b="0">
                <a:solidFill>
                  <a:srgbClr val="5B6372"/>
                </a:solidFill>
                <a:latin typeface="Arial"/>
              </a:defRPr>
            </a:pPr>
            <a:r>
              <a:t>C500 - Voice and Video Agents with n8n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51960" y="6483096"/>
            <a:ext cx="3749039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800" b="0">
                <a:solidFill>
                  <a:srgbClr val="5B6372"/>
                </a:solidFill>
                <a:latin typeface="Arial"/>
              </a:defRPr>
            </a:pPr>
            <a:r>
              <a:t>Copyright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09960" y="6483096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800" b="1">
                <a:solidFill>
                  <a:srgbClr val="5B6372"/>
                </a:solidFill>
                <a:latin typeface="Arial"/>
              </a:defRPr>
            </a:pPr>
            <a:r>
              <a:t>052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01752"/>
            <a:ext cx="10972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1">
                <a:solidFill>
                  <a:srgbClr val="1F6FEB"/>
                </a:solidFill>
                <a:latin typeface="Arial"/>
              </a:defRPr>
            </a:pPr>
            <a:r>
              <a:t>LAB 4 - VOICE BOOKING AGENT WITH ELEVENLABS (GG HAIR SALON)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800" b="1">
                <a:solidFill>
                  <a:srgbClr val="161B26"/>
                </a:solidFill>
                <a:latin typeface="Arial"/>
              </a:defRPr>
            </a:pPr>
            <a:r>
              <a:t>Lab 4 - GG Hair Salon site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667589" y="1271016"/>
            <a:ext cx="6856517" cy="427024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ab4-website-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2453" y="1325880"/>
            <a:ext cx="6746789" cy="4160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13232" y="5806440"/>
            <a:ext cx="1078992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500" b="0">
                <a:solidFill>
                  <a:srgbClr val="5B6372"/>
                </a:solidFill>
                <a:latin typeface="Arial"/>
              </a:defRPr>
            </a:pPr>
            <a:r>
              <a:t>Lab 4 - GG Hair Salon site: the Book by Voice call to action.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28232"/>
            <a:ext cx="11183112" cy="13716"/>
          </a:xfrm>
          <a:prstGeom prst="rect">
            <a:avLst/>
          </a:prstGeom>
          <a:solidFill>
            <a:srgbClr val="DCE5F0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83096"/>
            <a:ext cx="5212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00" b="0">
                <a:solidFill>
                  <a:srgbClr val="5B6372"/>
                </a:solidFill>
                <a:latin typeface="Arial"/>
              </a:defRPr>
            </a:pPr>
            <a:r>
              <a:t>C500 - Voice and Video Agents with n8n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51960" y="6483096"/>
            <a:ext cx="3749039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800" b="0">
                <a:solidFill>
                  <a:srgbClr val="5B6372"/>
                </a:solidFill>
                <a:latin typeface="Arial"/>
              </a:defRPr>
            </a:pPr>
            <a:r>
              <a:t>Copyright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483096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800" b="1">
                <a:solidFill>
                  <a:srgbClr val="5B6372"/>
                </a:solidFill>
                <a:latin typeface="Arial"/>
              </a:defRPr>
            </a:pPr>
            <a:r>
              <a:t>053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01752"/>
            <a:ext cx="10972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1">
                <a:solidFill>
                  <a:srgbClr val="1F6FEB"/>
                </a:solidFill>
                <a:latin typeface="Arial"/>
              </a:defRPr>
            </a:pPr>
            <a:r>
              <a:t>LAB 4 - VOICE BOOKING AGENT WITH ELEVENLABS (GG HAIR SALON)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800" b="1">
                <a:solidFill>
                  <a:srgbClr val="161B26"/>
                </a:solidFill>
                <a:latin typeface="Arial"/>
              </a:defRPr>
            </a:pPr>
            <a:r>
              <a:t>Lab 4 - Settings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667589" y="1271016"/>
            <a:ext cx="6856517" cy="427024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ab4-webhook-sett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2453" y="1325880"/>
            <a:ext cx="6746789" cy="4160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13232" y="5806440"/>
            <a:ext cx="1078992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500" b="0">
                <a:solidFill>
                  <a:srgbClr val="5B6372"/>
                </a:solidFill>
                <a:latin typeface="Arial"/>
              </a:defRPr>
            </a:pPr>
            <a:r>
              <a:t>Lab 4 - Settings: the ElevenLabs Web Call Trigger webhook URL and optional agent ID. Nothing is hardcoded.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28232"/>
            <a:ext cx="11183112" cy="13716"/>
          </a:xfrm>
          <a:prstGeom prst="rect">
            <a:avLst/>
          </a:prstGeom>
          <a:solidFill>
            <a:srgbClr val="DCE5F0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83096"/>
            <a:ext cx="5212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00" b="0">
                <a:solidFill>
                  <a:srgbClr val="5B6372"/>
                </a:solidFill>
                <a:latin typeface="Arial"/>
              </a:defRPr>
            </a:pPr>
            <a:r>
              <a:t>C500 - Voice and Video Agents with n8n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51960" y="6483096"/>
            <a:ext cx="3749039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800" b="0">
                <a:solidFill>
                  <a:srgbClr val="5B6372"/>
                </a:solidFill>
                <a:latin typeface="Arial"/>
              </a:defRPr>
            </a:pPr>
            <a:r>
              <a:t>Copyright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483096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800" b="1">
                <a:solidFill>
                  <a:srgbClr val="5B6372"/>
                </a:solidFill>
                <a:latin typeface="Arial"/>
              </a:defRPr>
            </a:pPr>
            <a:r>
              <a:t>054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01752"/>
            <a:ext cx="10972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1">
                <a:solidFill>
                  <a:srgbClr val="1F6FEB"/>
                </a:solidFill>
                <a:latin typeface="Arial"/>
              </a:defRPr>
            </a:pPr>
            <a:r>
              <a:t>QUALITY GATE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800" b="1">
                <a:solidFill>
                  <a:srgbClr val="161B26"/>
                </a:solidFill>
                <a:latin typeface="Arial"/>
              </a:defRPr>
            </a:pPr>
            <a:r>
              <a:t>Lab 4: Prove, Evaluate, Improve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" y="1353312"/>
            <a:ext cx="6995160" cy="4498848"/>
          </a:xfrm>
          <a:prstGeom prst="round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32688" y="1664208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664208"/>
            <a:ext cx="457200" cy="4572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27632" y="1645920"/>
            <a:ext cx="5440680" cy="7772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500" b="0">
                <a:solidFill>
                  <a:srgbClr val="161B26"/>
                </a:solidFill>
                <a:latin typeface="Arial"/>
              </a:defRPr>
            </a:pPr>
            <a:r>
              <a:t>Nina answers by voice and quotes handbook prices.</a:t>
            </a:r>
          </a:p>
        </p:txBody>
      </p:sp>
      <p:sp>
        <p:nvSpPr>
          <p:cNvPr id="8" name="Oval 7"/>
          <p:cNvSpPr/>
          <p:nvPr/>
        </p:nvSpPr>
        <p:spPr>
          <a:xfrm>
            <a:off x="932688" y="2496312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496312"/>
            <a:ext cx="457200" cy="4572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27632" y="2478024"/>
            <a:ext cx="5440680" cy="7772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500" b="0">
                <a:solidFill>
                  <a:srgbClr val="161B26"/>
                </a:solidFill>
                <a:latin typeface="Arial"/>
              </a:defRPr>
            </a:pPr>
            <a:r>
              <a:t>Asked for a taken slot, she offers an alternative.</a:t>
            </a:r>
          </a:p>
        </p:txBody>
      </p:sp>
      <p:sp>
        <p:nvSpPr>
          <p:cNvPr id="11" name="Oval 10"/>
          <p:cNvSpPr/>
          <p:nvPr/>
        </p:nvSpPr>
        <p:spPr>
          <a:xfrm>
            <a:off x="932688" y="3328416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3328416"/>
            <a:ext cx="457200" cy="4572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27632" y="3310128"/>
            <a:ext cx="5440680" cy="7772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500" b="0">
                <a:solidFill>
                  <a:srgbClr val="161B26"/>
                </a:solidFill>
                <a:latin typeface="Arial"/>
              </a:defRPr>
            </a:pPr>
            <a:r>
              <a:t>The booking appears in YOUR Google Calendar - that event is the evidence.</a:t>
            </a:r>
          </a:p>
        </p:txBody>
      </p:sp>
      <p:sp>
        <p:nvSpPr>
          <p:cNvPr id="14" name="Oval 13"/>
          <p:cNvSpPr/>
          <p:nvPr/>
        </p:nvSpPr>
        <p:spPr>
          <a:xfrm>
            <a:off x="932688" y="4160520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4160520"/>
            <a:ext cx="457200" cy="4572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OK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27632" y="4142232"/>
            <a:ext cx="5440680" cy="7772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500" b="0">
                <a:solidFill>
                  <a:srgbClr val="161B26"/>
                </a:solidFill>
                <a:latin typeface="Arial"/>
              </a:defRPr>
            </a:pPr>
            <a:r>
              <a:t>A tool execution appears in n8n DURING the call.</a:t>
            </a:r>
          </a:p>
        </p:txBody>
      </p:sp>
      <p:sp>
        <p:nvSpPr>
          <p:cNvPr id="17" name="Oval 16"/>
          <p:cNvSpPr/>
          <p:nvPr/>
        </p:nvSpPr>
        <p:spPr>
          <a:xfrm>
            <a:off x="932688" y="4992624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" y="4992624"/>
            <a:ext cx="457200" cy="4572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OK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27632" y="4974336"/>
            <a:ext cx="5440680" cy="7772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500" b="0">
                <a:solidFill>
                  <a:srgbClr val="161B26"/>
                </a:solidFill>
                <a:latin typeface="Arial"/>
              </a:defRPr>
            </a:pPr>
            <a:r>
              <a:t>Run one edge case and record the change made after evaluation.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73568" y="1353312"/>
            <a:ext cx="3611880" cy="4498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02752" y="1682496"/>
            <a:ext cx="29260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1">
                <a:solidFill>
                  <a:srgbClr val="1F6FEB"/>
                </a:solidFill>
                <a:latin typeface="Arial"/>
              </a:defRPr>
            </a:pPr>
            <a:r>
              <a:t>EVIDENCE STACK</a:t>
            </a:r>
          </a:p>
        </p:txBody>
      </p:sp>
      <p:sp>
        <p:nvSpPr>
          <p:cNvPr id="22" name="Oval 21"/>
          <p:cNvSpPr/>
          <p:nvPr/>
        </p:nvSpPr>
        <p:spPr>
          <a:xfrm>
            <a:off x="8302752" y="2176272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02752" y="2176272"/>
            <a:ext cx="411480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87968" y="2157984"/>
            <a:ext cx="914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400" b="1">
                <a:solidFill>
                  <a:srgbClr val="161B26"/>
                </a:solidFill>
                <a:latin typeface="Arial"/>
              </a:defRPr>
            </a:pPr>
            <a:r>
              <a:t>Input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02368" y="2157984"/>
            <a:ext cx="1353312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0">
                <a:solidFill>
                  <a:srgbClr val="5B6372"/>
                </a:solidFill>
                <a:latin typeface="Arial"/>
              </a:defRPr>
            </a:pPr>
            <a:r>
              <a:t>Exact test payload</a:t>
            </a:r>
          </a:p>
        </p:txBody>
      </p:sp>
      <p:sp>
        <p:nvSpPr>
          <p:cNvPr id="26" name="Oval 25"/>
          <p:cNvSpPr/>
          <p:nvPr/>
        </p:nvSpPr>
        <p:spPr>
          <a:xfrm>
            <a:off x="8302752" y="2971800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2752" y="2971800"/>
            <a:ext cx="411480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87968" y="2953512"/>
            <a:ext cx="914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400" b="1">
                <a:solidFill>
                  <a:srgbClr val="161B26"/>
                </a:solidFill>
                <a:latin typeface="Arial"/>
              </a:defRPr>
            </a:pPr>
            <a:r>
              <a:t>Trace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02368" y="2953512"/>
            <a:ext cx="1353312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0">
                <a:solidFill>
                  <a:srgbClr val="5B6372"/>
                </a:solidFill>
                <a:latin typeface="Arial"/>
              </a:defRPr>
            </a:pPr>
            <a:r>
              <a:t>Node execution path</a:t>
            </a:r>
          </a:p>
        </p:txBody>
      </p:sp>
      <p:sp>
        <p:nvSpPr>
          <p:cNvPr id="30" name="Oval 29"/>
          <p:cNvSpPr/>
          <p:nvPr/>
        </p:nvSpPr>
        <p:spPr>
          <a:xfrm>
            <a:off x="8302752" y="3767328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02752" y="3767328"/>
            <a:ext cx="411480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87968" y="3749040"/>
            <a:ext cx="914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400" b="1">
                <a:solidFill>
                  <a:srgbClr val="161B26"/>
                </a:solidFill>
                <a:latin typeface="Arial"/>
              </a:defRPr>
            </a:pPr>
            <a:r>
              <a:t>Output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02368" y="3749040"/>
            <a:ext cx="1353312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0">
                <a:solidFill>
                  <a:srgbClr val="5B6372"/>
                </a:solidFill>
                <a:latin typeface="Arial"/>
              </a:defRPr>
            </a:pPr>
            <a:r>
              <a:t>Generated result</a:t>
            </a:r>
          </a:p>
        </p:txBody>
      </p:sp>
      <p:sp>
        <p:nvSpPr>
          <p:cNvPr id="34" name="Oval 33"/>
          <p:cNvSpPr/>
          <p:nvPr/>
        </p:nvSpPr>
        <p:spPr>
          <a:xfrm>
            <a:off x="8302752" y="4562856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02752" y="4562856"/>
            <a:ext cx="411480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87968" y="4544568"/>
            <a:ext cx="914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400" b="1">
                <a:solidFill>
                  <a:srgbClr val="161B26"/>
                </a:solidFill>
                <a:latin typeface="Arial"/>
              </a:defRPr>
            </a:pPr>
            <a:r>
              <a:t>Decision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02368" y="4544568"/>
            <a:ext cx="1353312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0">
                <a:solidFill>
                  <a:srgbClr val="5B6372"/>
                </a:solidFill>
                <a:latin typeface="Arial"/>
              </a:defRPr>
            </a:pPr>
            <a:r>
              <a:t>Rubric and revision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02752" y="5413248"/>
            <a:ext cx="9144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Arial"/>
              </a:defRPr>
            </a:pPr>
            <a:r>
              <a:t>PASS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253728" y="5458968"/>
            <a:ext cx="1938528" cy="10972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02920" y="6428232"/>
            <a:ext cx="11183112" cy="13716"/>
          </a:xfrm>
          <a:prstGeom prst="rect">
            <a:avLst/>
          </a:prstGeom>
          <a:solidFill>
            <a:srgbClr val="DCE5F0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8640" y="6483096"/>
            <a:ext cx="5212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00" b="0">
                <a:solidFill>
                  <a:srgbClr val="5B6372"/>
                </a:solidFill>
                <a:latin typeface="Arial"/>
              </a:defRPr>
            </a:pPr>
            <a:r>
              <a:t>C500 - Voice and Video Agents with n8n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51960" y="6483096"/>
            <a:ext cx="3749039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800" b="0">
                <a:solidFill>
                  <a:srgbClr val="5B6372"/>
                </a:solidFill>
                <a:latin typeface="Arial"/>
              </a:defRPr>
            </a:pPr>
            <a:r>
              <a:t>Copyright 2026 Tertiary Infotech Academy Pte Ltd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109960" y="6483096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800" b="1">
                <a:solidFill>
                  <a:srgbClr val="5B6372"/>
                </a:solidFill>
                <a:latin typeface="Arial"/>
              </a:defRPr>
            </a:pPr>
            <a:r>
              <a:t>055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01752"/>
            <a:ext cx="10972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1">
                <a:solidFill>
                  <a:srgbClr val="1F6FEB"/>
                </a:solidFill>
                <a:latin typeface="Arial"/>
              </a:defRPr>
            </a:pPr>
            <a:r>
              <a:t>TROUBLESHOOTING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800" b="1">
                <a:solidFill>
                  <a:srgbClr val="161B26"/>
                </a:solidFill>
                <a:latin typeface="Arial"/>
              </a:defRPr>
            </a:pPr>
            <a:r>
              <a:t>Lab 4: Diagnose Before Rebuilding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" y="1344168"/>
            <a:ext cx="3456432" cy="438912"/>
          </a:xfrm>
          <a:prstGeom prst="roundRect">
            <a:avLst/>
          </a:prstGeom>
          <a:solidFill>
            <a:srgbClr val="E25555"/>
          </a:solidFill>
          <a:ln>
            <a:solidFill>
              <a:srgbClr val="E2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408176"/>
            <a:ext cx="345643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SYMPTOM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15968" y="1344168"/>
            <a:ext cx="3456432" cy="438912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15968" y="1408176"/>
            <a:ext cx="345643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LIKELY CAUSE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10144" y="1344168"/>
            <a:ext cx="3456432" cy="43891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10144" y="1408176"/>
            <a:ext cx="345643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TARGETED FIX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993392"/>
            <a:ext cx="3456432" cy="1024128"/>
          </a:xfrm>
          <a:prstGeom prst="roundRect">
            <a:avLst/>
          </a:prstGeom>
          <a:solidFill>
            <a:srgbClr val="FFF4F4"/>
          </a:solidFill>
          <a:ln>
            <a:solidFill>
              <a:srgbClr val="FF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2084832"/>
            <a:ext cx="3127248" cy="8412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200" b="1">
                <a:solidFill>
                  <a:srgbClr val="161B26"/>
                </a:solidFill>
                <a:latin typeface="Arial"/>
              </a:defRPr>
            </a:pPr>
            <a:r>
              <a:t>Nina says 'let me check that' and stalls forever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15968" y="1993392"/>
            <a:ext cx="3456432" cy="1024128"/>
          </a:xfrm>
          <a:prstGeom prst="roundRect">
            <a:avLst/>
          </a:prstGeom>
          <a:solidFill>
            <a:srgbClr val="FFF8E8"/>
          </a:solidFill>
          <a:ln>
            <a:solidFill>
              <a:srgbClr val="FFF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59" y="2084832"/>
            <a:ext cx="3127248" cy="8412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200" b="0">
                <a:solidFill>
                  <a:srgbClr val="161B26"/>
                </a:solidFill>
                <a:latin typeface="Arial"/>
              </a:defRPr>
            </a:pPr>
            <a:r>
              <a:t>Her tool call went to localhost, which ElevenLabs' servers cannot see.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10144" y="1993392"/>
            <a:ext cx="3456432" cy="1024128"/>
          </a:xfrm>
          <a:prstGeom prst="roundRect">
            <a:avLst/>
          </a:prstGeom>
          <a:solidFill>
            <a:srgbClr val="ECFDF5"/>
          </a:solidFill>
          <a:ln>
            <a:solidFill>
              <a:srgbClr val="ECF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74736" y="2084832"/>
            <a:ext cx="3127248" cy="8412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200" b="0">
                <a:solidFill>
                  <a:srgbClr val="161B26"/>
                </a:solidFill>
                <a:latin typeface="Arial"/>
              </a:defRPr>
            </a:pPr>
            <a:r>
              <a:t>Register the tools with your ngrok URL, and keep the tunnel window open all session.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" y="3300984"/>
            <a:ext cx="3456432" cy="1024128"/>
          </a:xfrm>
          <a:prstGeom prst="roundRect">
            <a:avLst/>
          </a:prstGeom>
          <a:solidFill>
            <a:srgbClr val="FFF4F4"/>
          </a:solidFill>
          <a:ln>
            <a:solidFill>
              <a:srgbClr val="FF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" y="3392424"/>
            <a:ext cx="3127248" cy="8412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200" b="1">
                <a:solidFill>
                  <a:srgbClr val="161B26"/>
                </a:solidFill>
                <a:latin typeface="Arial"/>
              </a:defRPr>
            </a:pPr>
            <a:r>
              <a:t>The call never starts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15968" y="3300984"/>
            <a:ext cx="3456432" cy="1024128"/>
          </a:xfrm>
          <a:prstGeom prst="roundRect">
            <a:avLst/>
          </a:prstGeom>
          <a:solidFill>
            <a:srgbClr val="FFF8E8"/>
          </a:solidFill>
          <a:ln>
            <a:solidFill>
              <a:srgbClr val="FFF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59" y="3392424"/>
            <a:ext cx="3127248" cy="8412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200" b="0">
                <a:solidFill>
                  <a:srgbClr val="161B26"/>
                </a:solidFill>
                <a:latin typeface="Arial"/>
              </a:defRPr>
            </a:pPr>
            <a:r>
              <a:t>The web-call flow is inactive, or the Settings URL is wrong.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10144" y="3300984"/>
            <a:ext cx="3456432" cy="1024128"/>
          </a:xfrm>
          <a:prstGeom prst="roundRect">
            <a:avLst/>
          </a:prstGeom>
          <a:solidFill>
            <a:srgbClr val="ECFDF5"/>
          </a:solidFill>
          <a:ln>
            <a:solidFill>
              <a:srgbClr val="ECF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74736" y="3392424"/>
            <a:ext cx="3127248" cy="8412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200" b="0">
                <a:solidFill>
                  <a:srgbClr val="161B26"/>
                </a:solidFill>
                <a:latin typeface="Arial"/>
              </a:defRPr>
            </a:pPr>
            <a:r>
              <a:t>Activate the flow and paste the PRODUCTION URL - /webhook/, never /webhook-test/.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" y="4608576"/>
            <a:ext cx="3456432" cy="1024128"/>
          </a:xfrm>
          <a:prstGeom prst="roundRect">
            <a:avLst/>
          </a:prstGeom>
          <a:solidFill>
            <a:srgbClr val="FFF4F4"/>
          </a:solidFill>
          <a:ln>
            <a:solidFill>
              <a:srgbClr val="FF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6384" y="4700016"/>
            <a:ext cx="3127248" cy="8412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200" b="1">
                <a:solidFill>
                  <a:srgbClr val="161B26"/>
                </a:solidFill>
                <a:latin typeface="Arial"/>
              </a:defRPr>
            </a:pPr>
            <a:r>
              <a:t>She invents prices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15968" y="4608576"/>
            <a:ext cx="3456432" cy="1024128"/>
          </a:xfrm>
          <a:prstGeom prst="roundRect">
            <a:avLst/>
          </a:prstGeom>
          <a:solidFill>
            <a:srgbClr val="FFF8E8"/>
          </a:solidFill>
          <a:ln>
            <a:solidFill>
              <a:srgbClr val="FFF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80559" y="4700016"/>
            <a:ext cx="3127248" cy="8412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200" b="0">
                <a:solidFill>
                  <a:srgbClr val="161B26"/>
                </a:solidFill>
                <a:latin typeface="Arial"/>
              </a:defRPr>
            </a:pPr>
            <a:r>
              <a:t>The handbook is not attached to the agent.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10144" y="4608576"/>
            <a:ext cx="3456432" cy="1024128"/>
          </a:xfrm>
          <a:prstGeom prst="roundRect">
            <a:avLst/>
          </a:prstGeom>
          <a:solidFill>
            <a:srgbClr val="ECFDF5"/>
          </a:solidFill>
          <a:ln>
            <a:solidFill>
              <a:srgbClr val="ECF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74736" y="4700016"/>
            <a:ext cx="3127248" cy="8412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200" b="0">
                <a:solidFill>
                  <a:srgbClr val="161B26"/>
                </a:solidFill>
                <a:latin typeface="Arial"/>
              </a:defRPr>
            </a:pPr>
            <a:r>
              <a:t>Upload the PDF to the agent's Knowledge Base and save the agent again.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5989320"/>
            <a:ext cx="86868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600" b="1">
                <a:solidFill>
                  <a:srgbClr val="7C3AED"/>
                </a:solidFill>
                <a:latin typeface="Arial"/>
              </a:defRPr>
            </a:pPr>
            <a:r>
              <a:t>Change one variable, rerun the same test, compare the trace.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6428232"/>
            <a:ext cx="11183112" cy="13716"/>
          </a:xfrm>
          <a:prstGeom prst="rect">
            <a:avLst/>
          </a:prstGeom>
          <a:solidFill>
            <a:srgbClr val="DCE5F0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6483096"/>
            <a:ext cx="5212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00" b="0">
                <a:solidFill>
                  <a:srgbClr val="5B6372"/>
                </a:solidFill>
                <a:latin typeface="Arial"/>
              </a:defRPr>
            </a:pPr>
            <a:r>
              <a:t>C500 - Voice and Video Agents with n8n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51960" y="6483096"/>
            <a:ext cx="3749039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800" b="0">
                <a:solidFill>
                  <a:srgbClr val="5B6372"/>
                </a:solidFill>
                <a:latin typeface="Arial"/>
              </a:defRPr>
            </a:pPr>
            <a:r>
              <a:t>Copyright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09960" y="6483096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800" b="1">
                <a:solidFill>
                  <a:srgbClr val="5B6372"/>
                </a:solidFill>
                <a:latin typeface="Arial"/>
              </a:defRPr>
            </a:pPr>
            <a:r>
              <a:t>056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01752"/>
            <a:ext cx="10972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1">
                <a:solidFill>
                  <a:srgbClr val="1F6FEB"/>
                </a:solidFill>
                <a:latin typeface="Arial"/>
              </a:defRPr>
            </a:pPr>
            <a:r>
              <a:t>BUILD TARGET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800" b="1">
                <a:solidFill>
                  <a:srgbClr val="161B26"/>
                </a:solidFill>
                <a:latin typeface="Arial"/>
              </a:defRPr>
            </a:pPr>
            <a:r>
              <a:t>Lab 5: Grounded FAQ Voice Agent with Vapi (MediRefill)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417320"/>
            <a:ext cx="7360920" cy="3246120"/>
          </a:xfrm>
          <a:prstGeom prst="round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4400" y="1755648"/>
            <a:ext cx="1078992" cy="107899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55648"/>
            <a:ext cx="1078992" cy="10789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31720" y="1719072"/>
            <a:ext cx="21945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1">
                <a:solidFill>
                  <a:srgbClr val="1F6FEB"/>
                </a:solidFill>
                <a:latin typeface="Arial"/>
              </a:defRPr>
            </a:pPr>
            <a:r>
              <a:t>YOU WILL BUILD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31720" y="2048256"/>
            <a:ext cx="5074920" cy="131673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700" b="1">
                <a:solidFill>
                  <a:srgbClr val="161B26"/>
                </a:solidFill>
                <a:latin typeface="Arial"/>
              </a:defRPr>
            </a:pPr>
            <a:r>
              <a:t>Ava, a pharmacy refill assistant whose brain is YOUR n8n workflow - grounded in six FAQ topics and hard-refusing all medical advice.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1720" y="3474720"/>
            <a:ext cx="19202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  <a:latin typeface="Arial"/>
              </a:defRPr>
            </a:pPr>
            <a:r>
              <a:t>DELIVERABLE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3822191"/>
            <a:ext cx="507492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500" b="0">
                <a:solidFill>
                  <a:srgbClr val="5B6372"/>
                </a:solidFill>
                <a:latin typeface="Arial"/>
              </a:defRPr>
            </a:pPr>
            <a:r>
              <a:t>A live Vapi call transcript showing grounded answers, a hard medical refusal, and the emergency escalation.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02752" y="1417320"/>
            <a:ext cx="32918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02752" y="1417320"/>
            <a:ext cx="73152" cy="96012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540496" y="1636776"/>
            <a:ext cx="438912" cy="43891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40496" y="1636776"/>
            <a:ext cx="438912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07424" y="1554480"/>
            <a:ext cx="226771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600" b="1">
                <a:solidFill>
                  <a:srgbClr val="161B26"/>
                </a:solidFill>
                <a:latin typeface="Arial"/>
              </a:defRPr>
            </a:pPr>
            <a:r>
              <a:t>TIMEBOX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07424" y="1920240"/>
            <a:ext cx="2267712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0">
                <a:solidFill>
                  <a:srgbClr val="5B6372"/>
                </a:solidFill>
                <a:latin typeface="Arial"/>
              </a:defRPr>
            </a:pPr>
            <a:r>
              <a:t>90 minutes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02752" y="2606040"/>
            <a:ext cx="32918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302752" y="2606040"/>
            <a:ext cx="73152" cy="96012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540496" y="2825496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40496" y="2825496"/>
            <a:ext cx="438912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07424" y="2743200"/>
            <a:ext cx="226771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600" b="1">
                <a:solidFill>
                  <a:srgbClr val="161B26"/>
                </a:solidFill>
                <a:latin typeface="Arial"/>
              </a:defRPr>
            </a:pPr>
            <a:r>
              <a:t>MODE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07424" y="3108960"/>
            <a:ext cx="2267712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0">
                <a:solidFill>
                  <a:srgbClr val="5B6372"/>
                </a:solidFill>
                <a:latin typeface="Arial"/>
              </a:defRPr>
            </a:pPr>
            <a:r>
              <a:t>Demo, guided build, independent test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302752" y="3794760"/>
            <a:ext cx="32918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302752" y="3794760"/>
            <a:ext cx="73152" cy="96012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540496" y="4014216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40496" y="4014216"/>
            <a:ext cx="438912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07424" y="3931920"/>
            <a:ext cx="226771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600" b="1">
                <a:solidFill>
                  <a:srgbClr val="161B26"/>
                </a:solidFill>
                <a:latin typeface="Arial"/>
              </a:defRPr>
            </a:pPr>
            <a:r>
              <a:t>EVIDENCE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07424" y="4297680"/>
            <a:ext cx="2267712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0">
                <a:solidFill>
                  <a:srgbClr val="5B6372"/>
                </a:solidFill>
                <a:latin typeface="Arial"/>
              </a:defRPr>
            </a:pPr>
            <a:r>
              <a:t>Execution trace plus learner artifact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5230368"/>
            <a:ext cx="731520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000" b="1">
                <a:solidFill>
                  <a:srgbClr val="7C3AED"/>
                </a:solidFill>
                <a:latin typeface="Arial"/>
              </a:defRPr>
            </a:pPr>
            <a:r>
              <a:t>Success is demonstrated, not assumed.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6428232"/>
            <a:ext cx="11183112" cy="13716"/>
          </a:xfrm>
          <a:prstGeom prst="rect">
            <a:avLst/>
          </a:prstGeom>
          <a:solidFill>
            <a:srgbClr val="DCE5F0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6483096"/>
            <a:ext cx="5212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00" b="0">
                <a:solidFill>
                  <a:srgbClr val="5B6372"/>
                </a:solidFill>
                <a:latin typeface="Arial"/>
              </a:defRPr>
            </a:pPr>
            <a:r>
              <a:t>C500 - Voice and Video Agents with n8n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6483096"/>
            <a:ext cx="3749039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800" b="0">
                <a:solidFill>
                  <a:srgbClr val="5B6372"/>
                </a:solidFill>
                <a:latin typeface="Arial"/>
              </a:defRPr>
            </a:pPr>
            <a:r>
              <a:t>Copyright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09960" y="6483096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800" b="1">
                <a:solidFill>
                  <a:srgbClr val="5B6372"/>
                </a:solidFill>
                <a:latin typeface="Arial"/>
              </a:defRPr>
            </a:pPr>
            <a:r>
              <a:t>057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01752"/>
            <a:ext cx="10972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1">
                <a:solidFill>
                  <a:srgbClr val="1F6FEB"/>
                </a:solidFill>
                <a:latin typeface="Arial"/>
              </a:defRPr>
            </a:pPr>
            <a:r>
              <a:t>CONCEPT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800" b="1">
                <a:solidFill>
                  <a:srgbClr val="161B26"/>
                </a:solidFill>
                <a:latin typeface="Arial"/>
              </a:defRPr>
            </a:pPr>
            <a:r>
              <a:t>Lab 5: Four Ideas That Make It Work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" y="1389888"/>
            <a:ext cx="5349240" cy="1901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1792" y="1389888"/>
            <a:ext cx="73152" cy="190195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59536" y="1609344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609344"/>
            <a:ext cx="438912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26464" y="1591056"/>
            <a:ext cx="432511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700" b="1">
                <a:solidFill>
                  <a:srgbClr val="161B26"/>
                </a:solidFill>
                <a:latin typeface="Arial"/>
              </a:defRPr>
            </a:pPr>
            <a:r>
              <a:t>Custom LLM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048256"/>
            <a:ext cx="4846320" cy="10789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400" b="0">
                <a:solidFill>
                  <a:srgbClr val="5B6372"/>
                </a:solidFill>
                <a:latin typeface="Arial"/>
              </a:defRPr>
            </a:pPr>
            <a:r>
              <a:t>Vapi does speech-to-text and the voice, then calls your n8n webhook as its model. Here, n8n IS the brain.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389888"/>
            <a:ext cx="5349240" cy="1901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99632" y="1389888"/>
            <a:ext cx="73152" cy="19019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37376" y="1609344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37376" y="1609344"/>
            <a:ext cx="438912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4304" y="1591056"/>
            <a:ext cx="432511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700" b="1">
                <a:solidFill>
                  <a:srgbClr val="161B26"/>
                </a:solidFill>
                <a:latin typeface="Arial"/>
              </a:defRPr>
            </a:pPr>
            <a:r>
              <a:t>Public vs private key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2" y="2048256"/>
            <a:ext cx="4846320" cy="10789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400" b="0">
                <a:solidFill>
                  <a:srgbClr val="5B6372"/>
                </a:solidFill>
                <a:latin typeface="Arial"/>
              </a:defRPr>
            </a:pPr>
            <a:r>
              <a:t>The page gets the Vapi PUBLIC key only - it can merely start calls. The private key manages your account and never leaves the dashboard.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" y="3675887"/>
            <a:ext cx="5349240" cy="1901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" y="3675887"/>
            <a:ext cx="73152" cy="1901952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59536" y="3895344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6" y="3895344"/>
            <a:ext cx="438912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26464" y="3877055"/>
            <a:ext cx="432511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700" b="1">
                <a:solidFill>
                  <a:srgbClr val="161B26"/>
                </a:solidFill>
                <a:latin typeface="Arial"/>
              </a:defRPr>
            </a:pPr>
            <a:r>
              <a:t>Grounding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" y="4334255"/>
            <a:ext cx="4846320" cy="10789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400" b="0">
                <a:solidFill>
                  <a:srgbClr val="5B6372"/>
                </a:solidFill>
                <a:latin typeface="Arial"/>
              </a:defRPr>
            </a:pPr>
            <a:r>
              <a:t>Ava answers only from the six FAQ topics in her prompt - delivery, refills, collection, payment.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9632" y="3675887"/>
            <a:ext cx="5349240" cy="1901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99632" y="3675887"/>
            <a:ext cx="73152" cy="19019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37376" y="3895344"/>
            <a:ext cx="438912" cy="43891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37376" y="3895344"/>
            <a:ext cx="438912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04304" y="3877055"/>
            <a:ext cx="432511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700" b="1">
                <a:solidFill>
                  <a:srgbClr val="161B26"/>
                </a:solidFill>
                <a:latin typeface="Arial"/>
              </a:defRPr>
            </a:pPr>
            <a:r>
              <a:t>The safety boundary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73952" y="4334255"/>
            <a:ext cx="4846320" cy="10789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400" b="0">
                <a:solidFill>
                  <a:srgbClr val="5B6372"/>
                </a:solidFill>
                <a:latin typeface="Arial"/>
              </a:defRPr>
            </a:pPr>
            <a:r>
              <a:t>Dose, interaction, substitution, symptom: one fixed refusal sentence and a pharmacist callback. Fixed wording in the prompt - never the model's judgement.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5806440"/>
            <a:ext cx="80467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600" b="0">
                <a:solidFill>
                  <a:srgbClr val="5B6372"/>
                </a:solidFill>
                <a:latin typeface="Arial"/>
              </a:defRPr>
            </a:pPr>
            <a:r>
              <a:t>Connect the four ideas before touching the workflow canvas.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6428232"/>
            <a:ext cx="11183112" cy="13716"/>
          </a:xfrm>
          <a:prstGeom prst="rect">
            <a:avLst/>
          </a:prstGeom>
          <a:solidFill>
            <a:srgbClr val="DCE5F0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6483096"/>
            <a:ext cx="5212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00" b="0">
                <a:solidFill>
                  <a:srgbClr val="5B6372"/>
                </a:solidFill>
                <a:latin typeface="Arial"/>
              </a:defRPr>
            </a:pPr>
            <a:r>
              <a:t>C500 - Voice and Video Agents with n8n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51960" y="6483096"/>
            <a:ext cx="3749039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800" b="0">
                <a:solidFill>
                  <a:srgbClr val="5B6372"/>
                </a:solidFill>
                <a:latin typeface="Arial"/>
              </a:defRPr>
            </a:pPr>
            <a:r>
              <a:t>Copyright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09960" y="6483096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800" b="1">
                <a:solidFill>
                  <a:srgbClr val="5B6372"/>
                </a:solidFill>
                <a:latin typeface="Arial"/>
              </a:defRPr>
            </a:pPr>
            <a:r>
              <a:t>058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01752"/>
            <a:ext cx="10972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1">
                <a:solidFill>
                  <a:srgbClr val="1F6FEB"/>
                </a:solidFill>
                <a:latin typeface="Arial"/>
              </a:defRPr>
            </a:pPr>
            <a:r>
              <a:t>WORKFLOW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800" b="1">
                <a:solidFill>
                  <a:srgbClr val="161B26"/>
                </a:solidFill>
                <a:latin typeface="Arial"/>
              </a:defRPr>
            </a:pPr>
            <a:r>
              <a:t>Lab 5: Build Sequence</a:t>
            </a:r>
          </a:p>
        </p:txBody>
      </p:sp>
      <p:sp>
        <p:nvSpPr>
          <p:cNvPr id="4" name="Oval 3"/>
          <p:cNvSpPr/>
          <p:nvPr/>
        </p:nvSpPr>
        <p:spPr>
          <a:xfrm>
            <a:off x="658368" y="1463039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463039"/>
            <a:ext cx="53035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08176" y="1325880"/>
            <a:ext cx="4690872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8488" y="1417320"/>
            <a:ext cx="4279392" cy="11887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200" b="0">
                <a:solidFill>
                  <a:srgbClr val="161B26"/>
                </a:solidFill>
                <a:latin typeface="Arial"/>
              </a:defRPr>
            </a:pPr>
            <a:r>
              <a:t>Import lab5/vapi-faq-flow.json and set it Active. Read ava-assistant-prompt.md - the guardrail lives in its wording.</a:t>
            </a:r>
          </a:p>
        </p:txBody>
      </p:sp>
      <p:sp>
        <p:nvSpPr>
          <p:cNvPr id="8" name="Oval 7"/>
          <p:cNvSpPr/>
          <p:nvPr/>
        </p:nvSpPr>
        <p:spPr>
          <a:xfrm>
            <a:off x="6373368" y="1463039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73368" y="1463039"/>
            <a:ext cx="53035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23176" y="1325880"/>
            <a:ext cx="4690872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33488" y="1417320"/>
            <a:ext cx="4279392" cy="11887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200" b="0">
                <a:solidFill>
                  <a:srgbClr val="161B26"/>
                </a:solidFill>
                <a:latin typeface="Arial"/>
              </a:defRPr>
            </a:pPr>
            <a:r>
              <a:t>Start the tunnel: ngrok http 5678. Vapi's servers must reach your n8n; localhost is invisible to them.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309067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3090672"/>
            <a:ext cx="53035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08176" y="2953512"/>
            <a:ext cx="4690872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18488" y="3044952"/>
            <a:ext cx="4279392" cy="11887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200" b="0">
                <a:solidFill>
                  <a:srgbClr val="161B26"/>
                </a:solidFill>
                <a:latin typeface="Arial"/>
              </a:defRPr>
            </a:pPr>
            <a:r>
              <a:t>Prove the webhook with curl BEFORE any audio: POST an OpenAI-shaped body to https://&lt;id&gt;.ngrok-free.app/webhook/vapi-faq and read a real answer back.</a:t>
            </a:r>
          </a:p>
        </p:txBody>
      </p:sp>
      <p:sp>
        <p:nvSpPr>
          <p:cNvPr id="16" name="Oval 15"/>
          <p:cNvSpPr/>
          <p:nvPr/>
        </p:nvSpPr>
        <p:spPr>
          <a:xfrm>
            <a:off x="6373368" y="309067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73368" y="3090672"/>
            <a:ext cx="53035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23176" y="2953512"/>
            <a:ext cx="4690872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33488" y="3044952"/>
            <a:ext cx="4279392" cy="11887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200" b="0">
                <a:solidFill>
                  <a:srgbClr val="161B26"/>
                </a:solidFill>
                <a:latin typeface="Arial"/>
              </a:defRPr>
            </a:pPr>
            <a:r>
              <a:t>In Vapi, create an assistant whose model is that Custom LLM URL.</a:t>
            </a:r>
          </a:p>
        </p:txBody>
      </p:sp>
      <p:sp>
        <p:nvSpPr>
          <p:cNvPr id="20" name="Oval 19"/>
          <p:cNvSpPr/>
          <p:nvPr/>
        </p:nvSpPr>
        <p:spPr>
          <a:xfrm>
            <a:off x="658368" y="4718304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4718304"/>
            <a:ext cx="53035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408176" y="4581144"/>
            <a:ext cx="4690872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18488" y="4672583"/>
            <a:ext cx="4279392" cy="11887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200" b="0">
                <a:solidFill>
                  <a:srgbClr val="161B26"/>
                </a:solidFill>
                <a:latin typeface="Arial"/>
              </a:defRPr>
            </a:pPr>
            <a:r>
              <a:t>Serve the site (python3 -m http.server 8091 from lab5/website) and paste your Vapi PUBLIC key and assistant ID into Settings.</a:t>
            </a:r>
          </a:p>
        </p:txBody>
      </p:sp>
      <p:sp>
        <p:nvSpPr>
          <p:cNvPr id="24" name="Oval 23"/>
          <p:cNvSpPr/>
          <p:nvPr/>
        </p:nvSpPr>
        <p:spPr>
          <a:xfrm>
            <a:off x="6373368" y="4718304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73368" y="4718304"/>
            <a:ext cx="53035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23176" y="4581144"/>
            <a:ext cx="4690872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33488" y="4672583"/>
            <a:ext cx="4279392" cy="11887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200" b="0">
                <a:solidFill>
                  <a:srgbClr val="161B26"/>
                </a:solidFill>
                <a:latin typeface="Arial"/>
              </a:defRPr>
            </a:pPr>
            <a:r>
              <a:t>Run the graded calls: 'When will my refill arrive?', then 'Can I take two instead of one?', then 'I'm having chest pains.'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6053328"/>
            <a:ext cx="59436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500" b="1">
                <a:solidFill>
                  <a:srgbClr val="7C3AED"/>
                </a:solidFill>
                <a:latin typeface="Arial"/>
              </a:defRPr>
            </a:pPr>
            <a:r>
              <a:t>Build one observable behavior at a time.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6428232"/>
            <a:ext cx="11183112" cy="13716"/>
          </a:xfrm>
          <a:prstGeom prst="rect">
            <a:avLst/>
          </a:prstGeom>
          <a:solidFill>
            <a:srgbClr val="DCE5F0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6483096"/>
            <a:ext cx="5212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00" b="0">
                <a:solidFill>
                  <a:srgbClr val="5B6372"/>
                </a:solidFill>
                <a:latin typeface="Arial"/>
              </a:defRPr>
            </a:pPr>
            <a:r>
              <a:t>C500 - Voice and Video Agents with n8n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51960" y="6483096"/>
            <a:ext cx="3749039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800" b="0">
                <a:solidFill>
                  <a:srgbClr val="5B6372"/>
                </a:solidFill>
                <a:latin typeface="Arial"/>
              </a:defRPr>
            </a:pPr>
            <a:r>
              <a:t>Copyright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09960" y="6483096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800" b="1">
                <a:solidFill>
                  <a:srgbClr val="5B6372"/>
                </a:solidFill>
                <a:latin typeface="Arial"/>
              </a:defRPr>
            </a:pPr>
            <a:r>
              <a:t>059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01752"/>
            <a:ext cx="10972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1">
                <a:solidFill>
                  <a:srgbClr val="1F6FEB"/>
                </a:solidFill>
                <a:latin typeface="Arial"/>
              </a:defRPr>
            </a:pPr>
            <a:r>
              <a:t>LAB 5 - GROUNDED FAQ VOICE AGENT WITH VAPI (MEDIREFILL)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800" b="1">
                <a:solidFill>
                  <a:srgbClr val="161B26"/>
                </a:solidFill>
                <a:latin typeface="Arial"/>
              </a:defRPr>
            </a:pPr>
            <a:r>
              <a:t>Lab 5 - the Vapi custom-LLM 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667589" y="1271016"/>
            <a:ext cx="6856517" cy="427024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ab5-vapi-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2453" y="1325880"/>
            <a:ext cx="6746789" cy="4160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13232" y="5806440"/>
            <a:ext cx="1078992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500" b="0">
                <a:solidFill>
                  <a:srgbClr val="5B6372"/>
                </a:solidFill>
                <a:latin typeface="Arial"/>
              </a:defRPr>
            </a:pPr>
            <a:r>
              <a:t>Lab 5 - the Vapi custom-LLM flow: webhook -&gt; AI Agent (Ollama) -&gt; OpenAI-shaped response.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28232"/>
            <a:ext cx="11183112" cy="13716"/>
          </a:xfrm>
          <a:prstGeom prst="rect">
            <a:avLst/>
          </a:prstGeom>
          <a:solidFill>
            <a:srgbClr val="DCE5F0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83096"/>
            <a:ext cx="5212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00" b="0">
                <a:solidFill>
                  <a:srgbClr val="5B6372"/>
                </a:solidFill>
                <a:latin typeface="Arial"/>
              </a:defRPr>
            </a:pPr>
            <a:r>
              <a:t>C500 - Voice and Video Agents with n8n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51960" y="6483096"/>
            <a:ext cx="3749039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800" b="0">
                <a:solidFill>
                  <a:srgbClr val="5B6372"/>
                </a:solidFill>
                <a:latin typeface="Arial"/>
              </a:defRPr>
            </a:pPr>
            <a:r>
              <a:t>Copyright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483096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800" b="1">
                <a:solidFill>
                  <a:srgbClr val="5B6372"/>
                </a:solidFill>
                <a:latin typeface="Arial"/>
              </a:defRPr>
            </a:pPr>
            <a:r>
              <a:t>060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01752"/>
            <a:ext cx="10972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1">
                <a:solidFill>
                  <a:srgbClr val="1F6FEB"/>
                </a:solidFill>
                <a:latin typeface="Arial"/>
              </a:defRPr>
            </a:pPr>
            <a:r>
              <a:t>LAB 5 - GROUNDED FAQ VOICE AGENT WITH VAPI (MEDIREFILL)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800" b="1">
                <a:solidFill>
                  <a:srgbClr val="161B26"/>
                </a:solidFill>
                <a:latin typeface="Arial"/>
              </a:defRPr>
            </a:pPr>
            <a:r>
              <a:t>Lab 5 - MediRefill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667589" y="1271016"/>
            <a:ext cx="6856517" cy="427024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ab5-vapi-s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2453" y="1325880"/>
            <a:ext cx="6746789" cy="4160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13232" y="5806440"/>
            <a:ext cx="1078992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500" b="0">
                <a:solidFill>
                  <a:srgbClr val="5B6372"/>
                </a:solidFill>
                <a:latin typeface="Arial"/>
              </a:defRPr>
            </a:pPr>
            <a:r>
              <a:t>Lab 5 - MediRefill: Ava, the prescription-refill voice assistant, built on the Vapi Web SDK.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28232"/>
            <a:ext cx="11183112" cy="13716"/>
          </a:xfrm>
          <a:prstGeom prst="rect">
            <a:avLst/>
          </a:prstGeom>
          <a:solidFill>
            <a:srgbClr val="DCE5F0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83096"/>
            <a:ext cx="5212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00" b="0">
                <a:solidFill>
                  <a:srgbClr val="5B6372"/>
                </a:solidFill>
                <a:latin typeface="Arial"/>
              </a:defRPr>
            </a:pPr>
            <a:r>
              <a:t>C500 - Voice and Video Agents with n8n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51960" y="6483096"/>
            <a:ext cx="3749039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800" b="0">
                <a:solidFill>
                  <a:srgbClr val="5B6372"/>
                </a:solidFill>
                <a:latin typeface="Arial"/>
              </a:defRPr>
            </a:pPr>
            <a:r>
              <a:t>Copyright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483096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800" b="1">
                <a:solidFill>
                  <a:srgbClr val="5B6372"/>
                </a:solidFill>
                <a:latin typeface="Arial"/>
              </a:defRPr>
            </a:pPr>
            <a:r>
              <a:t>061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01752"/>
            <a:ext cx="10972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1">
                <a:solidFill>
                  <a:srgbClr val="1F6FEB"/>
                </a:solidFill>
                <a:latin typeface="Arial"/>
              </a:defRPr>
            </a:pPr>
            <a:r>
              <a:t>LAB 5 - GROUNDED FAQ VOICE AGENT WITH VAPI (MEDIREFILL)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800" b="1">
                <a:solidFill>
                  <a:srgbClr val="161B26"/>
                </a:solidFill>
                <a:latin typeface="Arial"/>
              </a:defRPr>
            </a:pPr>
            <a:r>
              <a:t>Lab 5 - Settings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667589" y="1271016"/>
            <a:ext cx="6856517" cy="427024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ab5-vapi-sett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2453" y="1325880"/>
            <a:ext cx="6746789" cy="4160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13232" y="5806440"/>
            <a:ext cx="1078992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500" b="0">
                <a:solidFill>
                  <a:srgbClr val="5B6372"/>
                </a:solidFill>
                <a:latin typeface="Arial"/>
              </a:defRPr>
            </a:pPr>
            <a:r>
              <a:t>Lab 5 - Settings: the learner's own Vapi PUBLIC key and assistant ID. The private key never touches the browser.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28232"/>
            <a:ext cx="11183112" cy="13716"/>
          </a:xfrm>
          <a:prstGeom prst="rect">
            <a:avLst/>
          </a:prstGeom>
          <a:solidFill>
            <a:srgbClr val="DCE5F0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83096"/>
            <a:ext cx="5212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00" b="0">
                <a:solidFill>
                  <a:srgbClr val="5B6372"/>
                </a:solidFill>
                <a:latin typeface="Arial"/>
              </a:defRPr>
            </a:pPr>
            <a:r>
              <a:t>C500 - Voice and Video Agents with n8n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51960" y="6483096"/>
            <a:ext cx="3749039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800" b="0">
                <a:solidFill>
                  <a:srgbClr val="5B6372"/>
                </a:solidFill>
                <a:latin typeface="Arial"/>
              </a:defRPr>
            </a:pPr>
            <a:r>
              <a:t>Copyright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483096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800" b="1">
                <a:solidFill>
                  <a:srgbClr val="5B6372"/>
                </a:solidFill>
                <a:latin typeface="Arial"/>
              </a:defRPr>
            </a:pPr>
            <a:r>
              <a:t>062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01752"/>
            <a:ext cx="10972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1">
                <a:solidFill>
                  <a:srgbClr val="1F6FEB"/>
                </a:solidFill>
                <a:latin typeface="Arial"/>
              </a:defRPr>
            </a:pPr>
            <a:r>
              <a:t>QUALITY GATE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800" b="1">
                <a:solidFill>
                  <a:srgbClr val="161B26"/>
                </a:solidFill>
                <a:latin typeface="Arial"/>
              </a:defRPr>
            </a:pPr>
            <a:r>
              <a:t>Lab 5: Prove, Evaluate, Improve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" y="1353312"/>
            <a:ext cx="6995160" cy="4498848"/>
          </a:xfrm>
          <a:prstGeom prst="round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32688" y="1664208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664208"/>
            <a:ext cx="457200" cy="4572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27632" y="1645920"/>
            <a:ext cx="5440680" cy="7772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300" b="0">
                <a:solidFill>
                  <a:srgbClr val="161B26"/>
                </a:solidFill>
                <a:latin typeface="Arial"/>
              </a:defRPr>
            </a:pPr>
            <a:r>
              <a:t>A refill question gets the grounded answer: two to three working days, free above sixty dollars.</a:t>
            </a:r>
          </a:p>
        </p:txBody>
      </p:sp>
      <p:sp>
        <p:nvSpPr>
          <p:cNvPr id="8" name="Oval 7"/>
          <p:cNvSpPr/>
          <p:nvPr/>
        </p:nvSpPr>
        <p:spPr>
          <a:xfrm>
            <a:off x="932688" y="2496312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496312"/>
            <a:ext cx="457200" cy="4572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27632" y="2478024"/>
            <a:ext cx="5440680" cy="7772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300" b="0">
                <a:solidFill>
                  <a:srgbClr val="161B26"/>
                </a:solidFill>
                <a:latin typeface="Arial"/>
              </a:defRPr>
            </a:pPr>
            <a:r>
              <a:t>A medical question gets the refusal plus pharmacist callback - no medical content, not even hedged.</a:t>
            </a:r>
          </a:p>
        </p:txBody>
      </p:sp>
      <p:sp>
        <p:nvSpPr>
          <p:cNvPr id="11" name="Oval 10"/>
          <p:cNvSpPr/>
          <p:nvPr/>
        </p:nvSpPr>
        <p:spPr>
          <a:xfrm>
            <a:off x="932688" y="3328416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3328416"/>
            <a:ext cx="457200" cy="4572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27632" y="3310128"/>
            <a:ext cx="5440680" cy="7772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300" b="0">
                <a:solidFill>
                  <a:srgbClr val="161B26"/>
                </a:solidFill>
                <a:latin typeface="Arial"/>
              </a:defRPr>
            </a:pPr>
            <a:r>
              <a:t>An emergency gets the escalation: 995 / A&amp;E.</a:t>
            </a:r>
          </a:p>
        </p:txBody>
      </p:sp>
      <p:sp>
        <p:nvSpPr>
          <p:cNvPr id="14" name="Oval 13"/>
          <p:cNvSpPr/>
          <p:nvPr/>
        </p:nvSpPr>
        <p:spPr>
          <a:xfrm>
            <a:off x="932688" y="4160520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4160520"/>
            <a:ext cx="457200" cy="4572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OK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27632" y="4142232"/>
            <a:ext cx="5440680" cy="7772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300" b="0">
                <a:solidFill>
                  <a:srgbClr val="161B26"/>
                </a:solidFill>
                <a:latin typeface="Arial"/>
              </a:defRPr>
            </a:pPr>
            <a:r>
              <a:t>The transcript shows the refusals - capture it; that transcript is your assessment evidence.</a:t>
            </a:r>
          </a:p>
        </p:txBody>
      </p:sp>
      <p:sp>
        <p:nvSpPr>
          <p:cNvPr id="17" name="Oval 16"/>
          <p:cNvSpPr/>
          <p:nvPr/>
        </p:nvSpPr>
        <p:spPr>
          <a:xfrm>
            <a:off x="932688" y="4992624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" y="4992624"/>
            <a:ext cx="457200" cy="4572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OK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27632" y="4974336"/>
            <a:ext cx="5440680" cy="7772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300" b="0">
                <a:solidFill>
                  <a:srgbClr val="161B26"/>
                </a:solidFill>
                <a:latin typeface="Arial"/>
              </a:defRPr>
            </a:pPr>
            <a:r>
              <a:t>Run one edge case and record the change made after evaluation.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73568" y="1353312"/>
            <a:ext cx="3611880" cy="4498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02752" y="1682496"/>
            <a:ext cx="29260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1">
                <a:solidFill>
                  <a:srgbClr val="1F6FEB"/>
                </a:solidFill>
                <a:latin typeface="Arial"/>
              </a:defRPr>
            </a:pPr>
            <a:r>
              <a:t>EVIDENCE STACK</a:t>
            </a:r>
          </a:p>
        </p:txBody>
      </p:sp>
      <p:sp>
        <p:nvSpPr>
          <p:cNvPr id="22" name="Oval 21"/>
          <p:cNvSpPr/>
          <p:nvPr/>
        </p:nvSpPr>
        <p:spPr>
          <a:xfrm>
            <a:off x="8302752" y="2176272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02752" y="2176272"/>
            <a:ext cx="411480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87968" y="2157984"/>
            <a:ext cx="914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400" b="1">
                <a:solidFill>
                  <a:srgbClr val="161B26"/>
                </a:solidFill>
                <a:latin typeface="Arial"/>
              </a:defRPr>
            </a:pPr>
            <a:r>
              <a:t>Input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02368" y="2157984"/>
            <a:ext cx="1353312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0">
                <a:solidFill>
                  <a:srgbClr val="5B6372"/>
                </a:solidFill>
                <a:latin typeface="Arial"/>
              </a:defRPr>
            </a:pPr>
            <a:r>
              <a:t>Exact test payload</a:t>
            </a:r>
          </a:p>
        </p:txBody>
      </p:sp>
      <p:sp>
        <p:nvSpPr>
          <p:cNvPr id="26" name="Oval 25"/>
          <p:cNvSpPr/>
          <p:nvPr/>
        </p:nvSpPr>
        <p:spPr>
          <a:xfrm>
            <a:off x="8302752" y="2971800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2752" y="2971800"/>
            <a:ext cx="411480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87968" y="2953512"/>
            <a:ext cx="914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400" b="1">
                <a:solidFill>
                  <a:srgbClr val="161B26"/>
                </a:solidFill>
                <a:latin typeface="Arial"/>
              </a:defRPr>
            </a:pPr>
            <a:r>
              <a:t>Trace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02368" y="2953512"/>
            <a:ext cx="1353312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0">
                <a:solidFill>
                  <a:srgbClr val="5B6372"/>
                </a:solidFill>
                <a:latin typeface="Arial"/>
              </a:defRPr>
            </a:pPr>
            <a:r>
              <a:t>Node execution path</a:t>
            </a:r>
          </a:p>
        </p:txBody>
      </p:sp>
      <p:sp>
        <p:nvSpPr>
          <p:cNvPr id="30" name="Oval 29"/>
          <p:cNvSpPr/>
          <p:nvPr/>
        </p:nvSpPr>
        <p:spPr>
          <a:xfrm>
            <a:off x="8302752" y="3767328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02752" y="3767328"/>
            <a:ext cx="411480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87968" y="3749040"/>
            <a:ext cx="914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400" b="1">
                <a:solidFill>
                  <a:srgbClr val="161B26"/>
                </a:solidFill>
                <a:latin typeface="Arial"/>
              </a:defRPr>
            </a:pPr>
            <a:r>
              <a:t>Output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02368" y="3749040"/>
            <a:ext cx="1353312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0">
                <a:solidFill>
                  <a:srgbClr val="5B6372"/>
                </a:solidFill>
                <a:latin typeface="Arial"/>
              </a:defRPr>
            </a:pPr>
            <a:r>
              <a:t>Generated result</a:t>
            </a:r>
          </a:p>
        </p:txBody>
      </p:sp>
      <p:sp>
        <p:nvSpPr>
          <p:cNvPr id="34" name="Oval 33"/>
          <p:cNvSpPr/>
          <p:nvPr/>
        </p:nvSpPr>
        <p:spPr>
          <a:xfrm>
            <a:off x="8302752" y="4562856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02752" y="4562856"/>
            <a:ext cx="411480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87968" y="4544568"/>
            <a:ext cx="914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400" b="1">
                <a:solidFill>
                  <a:srgbClr val="161B26"/>
                </a:solidFill>
                <a:latin typeface="Arial"/>
              </a:defRPr>
            </a:pPr>
            <a:r>
              <a:t>Decision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02368" y="4544568"/>
            <a:ext cx="1353312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0">
                <a:solidFill>
                  <a:srgbClr val="5B6372"/>
                </a:solidFill>
                <a:latin typeface="Arial"/>
              </a:defRPr>
            </a:pPr>
            <a:r>
              <a:t>Rubric and revision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02752" y="5413248"/>
            <a:ext cx="9144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Arial"/>
              </a:defRPr>
            </a:pPr>
            <a:r>
              <a:t>PASS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253728" y="5458968"/>
            <a:ext cx="1938528" cy="10972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02920" y="6428232"/>
            <a:ext cx="11183112" cy="13716"/>
          </a:xfrm>
          <a:prstGeom prst="rect">
            <a:avLst/>
          </a:prstGeom>
          <a:solidFill>
            <a:srgbClr val="DCE5F0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8640" y="6483096"/>
            <a:ext cx="5212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00" b="0">
                <a:solidFill>
                  <a:srgbClr val="5B6372"/>
                </a:solidFill>
                <a:latin typeface="Arial"/>
              </a:defRPr>
            </a:pPr>
            <a:r>
              <a:t>C500 - Voice and Video Agents with n8n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51960" y="6483096"/>
            <a:ext cx="3749039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800" b="0">
                <a:solidFill>
                  <a:srgbClr val="5B6372"/>
                </a:solidFill>
                <a:latin typeface="Arial"/>
              </a:defRPr>
            </a:pPr>
            <a:r>
              <a:t>Copyright 2026 Tertiary Infotech Academy Pte Ltd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109960" y="6483096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800" b="1">
                <a:solidFill>
                  <a:srgbClr val="5B6372"/>
                </a:solidFill>
                <a:latin typeface="Arial"/>
              </a:defRPr>
            </a:pPr>
            <a:r>
              <a:t>063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01752"/>
            <a:ext cx="10972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1">
                <a:solidFill>
                  <a:srgbClr val="1F6FEB"/>
                </a:solidFill>
                <a:latin typeface="Arial"/>
              </a:defRPr>
            </a:pPr>
            <a:r>
              <a:t>TROUBLESHOOTING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800" b="1">
                <a:solidFill>
                  <a:srgbClr val="161B26"/>
                </a:solidFill>
                <a:latin typeface="Arial"/>
              </a:defRPr>
            </a:pPr>
            <a:r>
              <a:t>Lab 5: Diagnose Before Rebuilding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" y="1344168"/>
            <a:ext cx="3456432" cy="438912"/>
          </a:xfrm>
          <a:prstGeom prst="roundRect">
            <a:avLst/>
          </a:prstGeom>
          <a:solidFill>
            <a:srgbClr val="E25555"/>
          </a:solidFill>
          <a:ln>
            <a:solidFill>
              <a:srgbClr val="E2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408176"/>
            <a:ext cx="345643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SYMPTOM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15968" y="1344168"/>
            <a:ext cx="3456432" cy="438912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15968" y="1408176"/>
            <a:ext cx="345643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LIKELY CAUSE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10144" y="1344168"/>
            <a:ext cx="3456432" cy="43891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10144" y="1408176"/>
            <a:ext cx="345643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TARGETED FIX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993392"/>
            <a:ext cx="3456432" cy="1024128"/>
          </a:xfrm>
          <a:prstGeom prst="roundRect">
            <a:avLst/>
          </a:prstGeom>
          <a:solidFill>
            <a:srgbClr val="FFF4F4"/>
          </a:solidFill>
          <a:ln>
            <a:solidFill>
              <a:srgbClr val="FF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2084832"/>
            <a:ext cx="3127248" cy="8412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200" b="1">
                <a:solidFill>
                  <a:srgbClr val="161B26"/>
                </a:solidFill>
                <a:latin typeface="Arial"/>
              </a:defRPr>
            </a:pPr>
            <a:r>
              <a:t>Ava is silent mid-call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15968" y="1993392"/>
            <a:ext cx="3456432" cy="1024128"/>
          </a:xfrm>
          <a:prstGeom prst="roundRect">
            <a:avLst/>
          </a:prstGeom>
          <a:solidFill>
            <a:srgbClr val="FFF8E8"/>
          </a:solidFill>
          <a:ln>
            <a:solidFill>
              <a:srgbClr val="FFF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59" y="2084832"/>
            <a:ext cx="3127248" cy="8412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200" b="0">
                <a:solidFill>
                  <a:srgbClr val="161B26"/>
                </a:solidFill>
                <a:latin typeface="Arial"/>
              </a:defRPr>
            </a:pPr>
            <a:r>
              <a:t>Vapi cannot reach the Custom LLM URL.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10144" y="1993392"/>
            <a:ext cx="3456432" cy="1024128"/>
          </a:xfrm>
          <a:prstGeom prst="roundRect">
            <a:avLst/>
          </a:prstGeom>
          <a:solidFill>
            <a:srgbClr val="ECFDF5"/>
          </a:solidFill>
          <a:ln>
            <a:solidFill>
              <a:srgbClr val="ECF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74736" y="2084832"/>
            <a:ext cx="3127248" cy="8412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200" b="0">
                <a:solidFill>
                  <a:srgbClr val="161B26"/>
                </a:solidFill>
                <a:latin typeface="Arial"/>
              </a:defRPr>
            </a:pPr>
            <a:r>
              <a:t>Open ngrok's Inspect tab (127.0.0.1:4040) - if nothing arrived, fix the URL or the tunnel.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" y="3300984"/>
            <a:ext cx="3456432" cy="1024128"/>
          </a:xfrm>
          <a:prstGeom prst="roundRect">
            <a:avLst/>
          </a:prstGeom>
          <a:solidFill>
            <a:srgbClr val="FFF4F4"/>
          </a:solidFill>
          <a:ln>
            <a:solidFill>
              <a:srgbClr val="FF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" y="3392424"/>
            <a:ext cx="3127248" cy="8412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200" b="1">
                <a:solidFill>
                  <a:srgbClr val="161B26"/>
                </a:solidFill>
                <a:latin typeface="Arial"/>
              </a:defRPr>
            </a:pPr>
            <a:r>
              <a:t>She gives medical content on a bold row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15968" y="3300984"/>
            <a:ext cx="3456432" cy="1024128"/>
          </a:xfrm>
          <a:prstGeom prst="roundRect">
            <a:avLst/>
          </a:prstGeom>
          <a:solidFill>
            <a:srgbClr val="FFF8E8"/>
          </a:solidFill>
          <a:ln>
            <a:solidFill>
              <a:srgbClr val="FFF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59" y="3392424"/>
            <a:ext cx="3127248" cy="8412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200" b="0">
                <a:solidFill>
                  <a:srgbClr val="161B26"/>
                </a:solidFill>
                <a:latin typeface="Arial"/>
              </a:defRPr>
            </a:pPr>
            <a:r>
              <a:t>The guardrail is advisory rather than fixed wording.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10144" y="3300984"/>
            <a:ext cx="3456432" cy="1024128"/>
          </a:xfrm>
          <a:prstGeom prst="roundRect">
            <a:avLst/>
          </a:prstGeom>
          <a:solidFill>
            <a:srgbClr val="ECFDF5"/>
          </a:solidFill>
          <a:ln>
            <a:solidFill>
              <a:srgbClr val="ECF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74736" y="3392424"/>
            <a:ext cx="3127248" cy="8412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200" b="0">
                <a:solidFill>
                  <a:srgbClr val="161B26"/>
                </a:solidFill>
                <a:latin typeface="Arial"/>
              </a:defRPr>
            </a:pPr>
            <a:r>
              <a:t>Put the exact refusal sentence in the prompt and re-run every graded call.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" y="4608576"/>
            <a:ext cx="3456432" cy="1024128"/>
          </a:xfrm>
          <a:prstGeom prst="roundRect">
            <a:avLst/>
          </a:prstGeom>
          <a:solidFill>
            <a:srgbClr val="FFF4F4"/>
          </a:solidFill>
          <a:ln>
            <a:solidFill>
              <a:srgbClr val="FF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6384" y="4700016"/>
            <a:ext cx="3127248" cy="8412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200" b="1">
                <a:solidFill>
                  <a:srgbClr val="161B26"/>
                </a:solidFill>
                <a:latin typeface="Arial"/>
              </a:defRPr>
            </a:pPr>
            <a:r>
              <a:t>The page rejects the key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15968" y="4608576"/>
            <a:ext cx="3456432" cy="1024128"/>
          </a:xfrm>
          <a:prstGeom prst="roundRect">
            <a:avLst/>
          </a:prstGeom>
          <a:solidFill>
            <a:srgbClr val="FFF8E8"/>
          </a:solidFill>
          <a:ln>
            <a:solidFill>
              <a:srgbClr val="FFF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80559" y="4700016"/>
            <a:ext cx="3127248" cy="8412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200" b="0">
                <a:solidFill>
                  <a:srgbClr val="161B26"/>
                </a:solidFill>
                <a:latin typeface="Arial"/>
              </a:defRPr>
            </a:pPr>
            <a:r>
              <a:t>The PRIVATE key was pasted into Settings.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10144" y="4608576"/>
            <a:ext cx="3456432" cy="1024128"/>
          </a:xfrm>
          <a:prstGeom prst="roundRect">
            <a:avLst/>
          </a:prstGeom>
          <a:solidFill>
            <a:srgbClr val="ECFDF5"/>
          </a:solidFill>
          <a:ln>
            <a:solidFill>
              <a:srgbClr val="ECF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74736" y="4700016"/>
            <a:ext cx="3127248" cy="8412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200" b="0">
                <a:solidFill>
                  <a:srgbClr val="161B26"/>
                </a:solidFill>
                <a:latin typeface="Arial"/>
              </a:defRPr>
            </a:pPr>
            <a:r>
              <a:t>Use the PUBLIC key in the page - anything in a web page is visible to every visitor.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5989320"/>
            <a:ext cx="86868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600" b="1">
                <a:solidFill>
                  <a:srgbClr val="7C3AED"/>
                </a:solidFill>
                <a:latin typeface="Arial"/>
              </a:defRPr>
            </a:pPr>
            <a:r>
              <a:t>Change one variable, rerun the same test, compare the trace.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6428232"/>
            <a:ext cx="11183112" cy="13716"/>
          </a:xfrm>
          <a:prstGeom prst="rect">
            <a:avLst/>
          </a:prstGeom>
          <a:solidFill>
            <a:srgbClr val="DCE5F0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6483096"/>
            <a:ext cx="5212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00" b="0">
                <a:solidFill>
                  <a:srgbClr val="5B6372"/>
                </a:solidFill>
                <a:latin typeface="Arial"/>
              </a:defRPr>
            </a:pPr>
            <a:r>
              <a:t>C500 - Voice and Video Agents with n8n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51960" y="6483096"/>
            <a:ext cx="3749039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800" b="0">
                <a:solidFill>
                  <a:srgbClr val="5B6372"/>
                </a:solidFill>
                <a:latin typeface="Arial"/>
              </a:defRPr>
            </a:pPr>
            <a:r>
              <a:t>Copyright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09960" y="6483096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800" b="1">
                <a:solidFill>
                  <a:srgbClr val="5B6372"/>
                </a:solidFill>
                <a:latin typeface="Arial"/>
              </a:defRPr>
            </a:pPr>
            <a:r>
              <a:t>064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01752"/>
            <a:ext cx="10972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1">
                <a:solidFill>
                  <a:srgbClr val="1F6FEB"/>
                </a:solidFill>
                <a:latin typeface="Arial"/>
              </a:defRPr>
            </a:pPr>
            <a:r>
              <a:t>TOPIC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800" b="1">
                <a:solidFill>
                  <a:srgbClr val="161B26"/>
                </a:solidFill>
                <a:latin typeface="Arial"/>
              </a:defRPr>
            </a:pPr>
            <a:r>
              <a:t>Topic 03 - Video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52560" y="868680"/>
            <a:ext cx="2286000" cy="1508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7400" b="1">
                <a:solidFill>
                  <a:srgbClr val="E7EFFA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08760"/>
            <a:ext cx="7086600" cy="1828800"/>
          </a:xfrm>
          <a:prstGeom prst="round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56231"/>
            <a:ext cx="6355080" cy="10972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2000" b="0">
                <a:solidFill>
                  <a:srgbClr val="161B26"/>
                </a:solidFill>
                <a:latin typeface="Arial"/>
              </a:defRPr>
            </a:pPr>
            <a:r>
              <a:t>Lip-sync, avatars and text-to-video: from a script, to a mouth that moves, to a face that talks back, to video from nothing but a sentence. Labs 6-10.</a:t>
            </a:r>
          </a:p>
        </p:txBody>
      </p:sp>
      <p:sp>
        <p:nvSpPr>
          <p:cNvPr id="7" name="Oval 6"/>
          <p:cNvSpPr/>
          <p:nvPr/>
        </p:nvSpPr>
        <p:spPr>
          <a:xfrm>
            <a:off x="658368" y="4005072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4005072"/>
            <a:ext cx="438912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4" y="4572000"/>
            <a:ext cx="10058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100" b="1">
                <a:solidFill>
                  <a:srgbClr val="161B26"/>
                </a:solidFill>
                <a:latin typeface="Arial"/>
              </a:defRPr>
            </a:pPr>
            <a:r>
              <a:t>Define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4197096"/>
            <a:ext cx="566927" cy="41148"/>
          </a:xfrm>
          <a:prstGeom prst="rect">
            <a:avLst/>
          </a:prstGeom>
          <a:solidFill>
            <a:srgbClr val="DCE5F0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728216" y="4005072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28216" y="4005072"/>
            <a:ext cx="438912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44751" y="4572000"/>
            <a:ext cx="10058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100" b="1">
                <a:solidFill>
                  <a:srgbClr val="161B26"/>
                </a:solidFill>
                <a:latin typeface="Arial"/>
              </a:defRPr>
            </a:pPr>
            <a:r>
              <a:t>Build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12848" y="4197096"/>
            <a:ext cx="566927" cy="41148"/>
          </a:xfrm>
          <a:prstGeom prst="rect">
            <a:avLst/>
          </a:prstGeom>
          <a:solidFill>
            <a:srgbClr val="DCE5F0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798063" y="4005072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98063" y="4005072"/>
            <a:ext cx="438912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14599" y="4572000"/>
            <a:ext cx="10058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100" b="1">
                <a:solidFill>
                  <a:srgbClr val="161B26"/>
                </a:solidFill>
                <a:latin typeface="Arial"/>
              </a:defRPr>
            </a:pPr>
            <a:r>
              <a:t>Observe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82696" y="4197096"/>
            <a:ext cx="566927" cy="41148"/>
          </a:xfrm>
          <a:prstGeom prst="rect">
            <a:avLst/>
          </a:prstGeom>
          <a:solidFill>
            <a:srgbClr val="DCE5F0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867911" y="4005072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67911" y="4005072"/>
            <a:ext cx="438912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84447" y="4572000"/>
            <a:ext cx="10058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100" b="1">
                <a:solidFill>
                  <a:srgbClr val="161B26"/>
                </a:solidFill>
                <a:latin typeface="Arial"/>
              </a:defRPr>
            </a:pPr>
            <a:r>
              <a:t>Evaluate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52544" y="4197096"/>
            <a:ext cx="566927" cy="41148"/>
          </a:xfrm>
          <a:prstGeom prst="rect">
            <a:avLst/>
          </a:prstGeom>
          <a:solidFill>
            <a:srgbClr val="DCE5F0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937759" y="4005072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37759" y="4005072"/>
            <a:ext cx="438912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54296" y="4572000"/>
            <a:ext cx="10058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100" b="1">
                <a:solidFill>
                  <a:srgbClr val="161B26"/>
                </a:solidFill>
                <a:latin typeface="Arial"/>
              </a:defRPr>
            </a:pPr>
            <a:r>
              <a:t>Improve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22392" y="4197096"/>
            <a:ext cx="566927" cy="41148"/>
          </a:xfrm>
          <a:prstGeom prst="rect">
            <a:avLst/>
          </a:prstGeom>
          <a:solidFill>
            <a:srgbClr val="DCE5F0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007607" y="4005072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07607" y="4005072"/>
            <a:ext cx="438912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24144" y="4572000"/>
            <a:ext cx="10058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100" b="1">
                <a:solidFill>
                  <a:srgbClr val="161B26"/>
                </a:solidFill>
                <a:latin typeface="Arial"/>
              </a:defRPr>
            </a:pPr>
            <a:r>
              <a:t>Guardrail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92240" y="4197096"/>
            <a:ext cx="566927" cy="41148"/>
          </a:xfrm>
          <a:prstGeom prst="rect">
            <a:avLst/>
          </a:prstGeom>
          <a:solidFill>
            <a:srgbClr val="DCE5F0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077455" y="4005072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077455" y="4005072"/>
            <a:ext cx="438912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93992" y="4572000"/>
            <a:ext cx="10058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100" b="1">
                <a:solidFill>
                  <a:srgbClr val="161B26"/>
                </a:solidFill>
                <a:latin typeface="Arial"/>
              </a:defRPr>
            </a:pPr>
            <a:r>
              <a:t>Document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5230368"/>
            <a:ext cx="685800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700" b="1">
                <a:solidFill>
                  <a:srgbClr val="10B981"/>
                </a:solidFill>
                <a:latin typeface="Arial"/>
              </a:defRPr>
            </a:pPr>
            <a:r>
              <a:t>Every lab produces visible evidence for trainer review.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366760" y="2907792"/>
            <a:ext cx="283464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86800" y="3218688"/>
            <a:ext cx="21945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1">
                <a:solidFill>
                  <a:srgbClr val="7C3AED"/>
                </a:solidFill>
                <a:latin typeface="Arial"/>
              </a:defRPr>
            </a:pPr>
            <a:r>
              <a:t>LEARNING ARC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0" y="3703320"/>
            <a:ext cx="21031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800" b="1">
                <a:solidFill>
                  <a:srgbClr val="161B26"/>
                </a:solidFill>
                <a:latin typeface="Arial"/>
              </a:defRPr>
            </a:pPr>
            <a:r>
              <a:t>Concept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0" y="4133087"/>
            <a:ext cx="21031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800" b="1">
                <a:solidFill>
                  <a:srgbClr val="161B26"/>
                </a:solidFill>
                <a:latin typeface="Arial"/>
              </a:defRPr>
            </a:pPr>
            <a:r>
              <a:t>Practice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86800" y="4562856"/>
            <a:ext cx="21031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800" b="1">
                <a:solidFill>
                  <a:srgbClr val="161B26"/>
                </a:solidFill>
                <a:latin typeface="Arial"/>
              </a:defRPr>
            </a:pPr>
            <a:r>
              <a:t>Evidence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86800" y="4992624"/>
            <a:ext cx="21031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800" b="1">
                <a:solidFill>
                  <a:srgbClr val="161B26"/>
                </a:solidFill>
                <a:latin typeface="Arial"/>
              </a:defRPr>
            </a:pPr>
            <a:r>
              <a:t>Reflection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2920" y="6428232"/>
            <a:ext cx="11183112" cy="13716"/>
          </a:xfrm>
          <a:prstGeom prst="rect">
            <a:avLst/>
          </a:prstGeom>
          <a:solidFill>
            <a:srgbClr val="DCE5F0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8640" y="6483096"/>
            <a:ext cx="5212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00" b="0">
                <a:solidFill>
                  <a:srgbClr val="5B6372"/>
                </a:solidFill>
                <a:latin typeface="Arial"/>
              </a:defRPr>
            </a:pPr>
            <a:r>
              <a:t>C500 - Voice and Video Agents with n8n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51960" y="6483096"/>
            <a:ext cx="3749039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800" b="0">
                <a:solidFill>
                  <a:srgbClr val="5B6372"/>
                </a:solidFill>
                <a:latin typeface="Arial"/>
              </a:defRPr>
            </a:pPr>
            <a:r>
              <a:t>Copyright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109960" y="6483096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800" b="1">
                <a:solidFill>
                  <a:srgbClr val="5B6372"/>
                </a:solidFill>
                <a:latin typeface="Arial"/>
              </a:defRPr>
            </a:pPr>
            <a:r>
              <a:t>065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01752"/>
            <a:ext cx="10972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1">
                <a:solidFill>
                  <a:srgbClr val="1F6FEB"/>
                </a:solidFill>
                <a:latin typeface="Arial"/>
              </a:defRPr>
            </a:pPr>
            <a:r>
              <a:t>VIDEO -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800" b="1">
                <a:solidFill>
                  <a:srgbClr val="161B26"/>
                </a:solidFill>
                <a:latin typeface="Arial"/>
              </a:defRPr>
            </a:pPr>
            <a:r>
              <a:t>How the Avatar Video Pipeline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80160"/>
            <a:ext cx="108813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600" b="0">
                <a:solidFill>
                  <a:srgbClr val="5B6372"/>
                </a:solidFill>
                <a:latin typeface="Arial"/>
              </a:defRPr>
            </a:pPr>
            <a:r>
              <a:t>Every video lab is this same pipeline. Only the RENDERER changes - and choosing it is the real engineering decision.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874519"/>
            <a:ext cx="196596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74519"/>
            <a:ext cx="1965960" cy="411480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956816"/>
            <a:ext cx="19659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YOU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2395728"/>
            <a:ext cx="1737360" cy="7772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200" b="0">
                <a:solidFill>
                  <a:srgbClr val="161B26"/>
                </a:solidFill>
                <a:latin typeface="Arial"/>
              </a:defRPr>
            </a:pPr>
            <a:r>
              <a:t>type a TOPIC</a:t>
            </a:r>
            <a:br/>
            <a:r>
              <a:t>(raw facts)</a:t>
            </a:r>
          </a:p>
        </p:txBody>
      </p:sp>
      <p:sp>
        <p:nvSpPr>
          <p:cNvPr id="9" name="Rectangle 8"/>
          <p:cNvSpPr/>
          <p:nvPr/>
        </p:nvSpPr>
        <p:spPr>
          <a:xfrm>
            <a:off x="2670048" y="2542032"/>
            <a:ext cx="384048" cy="54864"/>
          </a:xfrm>
          <a:prstGeom prst="rect">
            <a:avLst/>
          </a:prstGeom>
          <a:solidFill>
            <a:srgbClr val="DCE5F0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61488" y="2368296"/>
            <a:ext cx="2743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500" b="1">
                <a:solidFill>
                  <a:srgbClr val="DCE5F0"/>
                </a:solidFill>
                <a:latin typeface="Arial"/>
              </a:defRPr>
            </a:pPr>
            <a:r>
              <a:t>&gt;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44368" y="1874519"/>
            <a:ext cx="196596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944368" y="1874519"/>
            <a:ext cx="1965960" cy="41148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44368" y="1956816"/>
            <a:ext cx="19659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n8n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54096" y="2395728"/>
            <a:ext cx="1737360" cy="7772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200" b="0">
                <a:solidFill>
                  <a:srgbClr val="161B26"/>
                </a:solidFill>
                <a:latin typeface="Arial"/>
              </a:defRPr>
            </a:pPr>
            <a:r>
              <a:t>Webhook receives it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56048" y="2542032"/>
            <a:ext cx="384048" cy="54864"/>
          </a:xfrm>
          <a:prstGeom prst="rect">
            <a:avLst/>
          </a:prstGeom>
          <a:solidFill>
            <a:srgbClr val="DCE5F0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47488" y="2368296"/>
            <a:ext cx="2743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500" b="1">
                <a:solidFill>
                  <a:srgbClr val="DCE5F0"/>
                </a:solidFill>
                <a:latin typeface="Arial"/>
              </a:defRPr>
            </a:pPr>
            <a:r>
              <a:t>&gt;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230368" y="1874519"/>
            <a:ext cx="196596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230368" y="1874519"/>
            <a:ext cx="1965960" cy="411480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30368" y="1956816"/>
            <a:ext cx="19659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gemma4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40096" y="2395728"/>
            <a:ext cx="1737360" cy="7772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200" b="0">
                <a:solidFill>
                  <a:srgbClr val="161B26"/>
                </a:solidFill>
                <a:latin typeface="Arial"/>
              </a:defRPr>
            </a:pPr>
            <a:r>
              <a:t>turns facts into</a:t>
            </a:r>
            <a:br/>
            <a:r>
              <a:t>SPOKEN COPY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42048" y="2542032"/>
            <a:ext cx="384048" cy="54864"/>
          </a:xfrm>
          <a:prstGeom prst="rect">
            <a:avLst/>
          </a:prstGeom>
          <a:solidFill>
            <a:srgbClr val="DCE5F0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33488" y="2368296"/>
            <a:ext cx="2743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500" b="1">
                <a:solidFill>
                  <a:srgbClr val="DCE5F0"/>
                </a:solidFill>
                <a:latin typeface="Arial"/>
              </a:defRPr>
            </a:pPr>
            <a:r>
              <a:t>&gt;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16368" y="1874519"/>
            <a:ext cx="196596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516368" y="1874519"/>
            <a:ext cx="1965960" cy="411480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16368" y="1956816"/>
            <a:ext cx="19659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RENDERER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26096" y="2395728"/>
            <a:ext cx="1737360" cy="7772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200" b="0">
                <a:solidFill>
                  <a:srgbClr val="161B26"/>
                </a:solidFill>
                <a:latin typeface="Arial"/>
              </a:defRPr>
            </a:pPr>
            <a:r>
              <a:t>HeyGen / Wav2Lip /</a:t>
            </a:r>
            <a:br/>
            <a:r>
              <a:t>MuseTalk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528048" y="2542032"/>
            <a:ext cx="384048" cy="54864"/>
          </a:xfrm>
          <a:prstGeom prst="rect">
            <a:avLst/>
          </a:prstGeom>
          <a:solidFill>
            <a:srgbClr val="DCE5F0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19488" y="2368296"/>
            <a:ext cx="2743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500" b="1">
                <a:solidFill>
                  <a:srgbClr val="DCE5F0"/>
                </a:solidFill>
                <a:latin typeface="Arial"/>
              </a:defRPr>
            </a:pPr>
            <a:r>
              <a:t>&gt;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802368" y="1874519"/>
            <a:ext cx="196596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802368" y="1874519"/>
            <a:ext cx="1965960" cy="411480"/>
          </a:xfrm>
          <a:prstGeom prst="roundRect">
            <a:avLst/>
          </a:prstGeom>
          <a:solidFill>
            <a:srgbClr val="E25555"/>
          </a:solidFill>
          <a:ln>
            <a:solidFill>
              <a:srgbClr val="E2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802368" y="1956816"/>
            <a:ext cx="19659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PAGE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12096" y="2395728"/>
            <a:ext cx="1737360" cy="7772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200" b="0">
                <a:solidFill>
                  <a:srgbClr val="161B26"/>
                </a:solidFill>
                <a:latin typeface="Arial"/>
              </a:defRPr>
            </a:pPr>
            <a:r>
              <a:t>the video plays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3520440"/>
            <a:ext cx="10881360" cy="1234440"/>
          </a:xfrm>
          <a:prstGeom prst="round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0120" y="3639312"/>
            <a:ext cx="54864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1">
                <a:solidFill>
                  <a:srgbClr val="E25555"/>
                </a:solidFill>
                <a:latin typeface="Arial"/>
              </a:defRPr>
            </a:pPr>
            <a:r>
              <a:t>THE TWO TEXTS ARE NOT THE SAME TEXT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0120" y="3950208"/>
            <a:ext cx="10332720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300" b="1">
                <a:solidFill>
                  <a:srgbClr val="161B26"/>
                </a:solidFill>
                <a:latin typeface="Arial"/>
              </a:defRPr>
            </a:pPr>
            <a:r>
              <a:t>You type a TOPIC: “Belgium beats USA 4-1.”   -&gt;   gemma4 writes the SCRIPT: “Welcome back to Global Sports News!…”</a:t>
            </a:r>
            <a:br/>
            <a:r>
              <a:t>The renderer speaks EVERY character - feed it raw facts and the avatar reads out a list.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4983480"/>
            <a:ext cx="53492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8680" y="5074920"/>
            <a:ext cx="49377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300" b="1">
                <a:solidFill>
                  <a:srgbClr val="F59E0B"/>
                </a:solidFill>
                <a:latin typeface="Arial"/>
              </a:defRPr>
            </a:pPr>
            <a:r>
              <a:t>Lab 7 - HeyGen (cloud)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" y="5376672"/>
            <a:ext cx="4937760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300" b="0">
                <a:solidFill>
                  <a:srgbClr val="5B6372"/>
                </a:solidFill>
                <a:latin typeface="Arial"/>
              </a:defRPr>
            </a:pPr>
            <a:r>
              <a:t>n8n returns a video_id at once; the PAGE POLLS for status.</a:t>
            </a:r>
            <a:br/>
            <a:r>
              <a:t>A 1-3 minute HTTP request is fragile.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72200" y="4983480"/>
            <a:ext cx="5367528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82512" y="5074920"/>
            <a:ext cx="49377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300" b="1">
                <a:solidFill>
                  <a:srgbClr val="10B981"/>
                </a:solidFill>
                <a:latin typeface="Arial"/>
              </a:defRPr>
            </a:pPr>
            <a:r>
              <a:t>Lab 7-os - local render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82512" y="5376672"/>
            <a:ext cx="4937760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300" b="0">
                <a:solidFill>
                  <a:srgbClr val="5B6372"/>
                </a:solidFill>
                <a:latin typeface="Arial"/>
              </a:defRPr>
            </a:pPr>
            <a:r>
              <a:t>n8n returns the finished video_url in ONE response.</a:t>
            </a:r>
            <a:br/>
            <a:r>
              <a:t>~16 s, so the caller can simply wait.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2920" y="6428232"/>
            <a:ext cx="11183112" cy="13716"/>
          </a:xfrm>
          <a:prstGeom prst="rect">
            <a:avLst/>
          </a:prstGeom>
          <a:solidFill>
            <a:srgbClr val="DCE5F0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8640" y="6483096"/>
            <a:ext cx="5212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00" b="0">
                <a:solidFill>
                  <a:srgbClr val="5B6372"/>
                </a:solidFill>
                <a:latin typeface="Arial"/>
              </a:defRPr>
            </a:pPr>
            <a:r>
              <a:t>C500 - Voice and Video Agents with n8n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51960" y="6483096"/>
            <a:ext cx="3749039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800" b="0">
                <a:solidFill>
                  <a:srgbClr val="5B6372"/>
                </a:solidFill>
                <a:latin typeface="Arial"/>
              </a:defRPr>
            </a:pPr>
            <a:r>
              <a:t>Copyright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109960" y="6483096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800" b="1">
                <a:solidFill>
                  <a:srgbClr val="5B6372"/>
                </a:solidFill>
                <a:latin typeface="Arial"/>
              </a:defRPr>
            </a:pPr>
            <a:r>
              <a:t>066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01752"/>
            <a:ext cx="10972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1">
                <a:solidFill>
                  <a:srgbClr val="1F6FEB"/>
                </a:solidFill>
                <a:latin typeface="Arial"/>
              </a:defRPr>
            </a:pPr>
            <a:r>
              <a:t>VIDEO - THE TRADE-OFF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800" b="1">
                <a:solidFill>
                  <a:srgbClr val="161B26"/>
                </a:solidFill>
                <a:latin typeface="Arial"/>
              </a:defRPr>
            </a:pPr>
            <a:r>
              <a:t>Three Lip-Sync Engines, One Photo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80160"/>
            <a:ext cx="108813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600" b="0">
                <a:solidFill>
                  <a:srgbClr val="5B6372"/>
                </a:solidFill>
                <a:latin typeface="Arial"/>
              </a:defRPr>
            </a:pPr>
            <a:r>
              <a:t>Lab 6: MuseTalk vs HeyGen on one script and portrait. Lab 7-os adds Wav2Lip.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783080"/>
            <a:ext cx="3474720" cy="37947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3474720" cy="45720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883664"/>
            <a:ext cx="34747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WAV2LIP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377440"/>
            <a:ext cx="10515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0">
                <a:solidFill>
                  <a:srgbClr val="5B6372"/>
                </a:solidFill>
                <a:latin typeface="Arial"/>
              </a:defRPr>
            </a:pPr>
            <a:r>
              <a:t>Where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92808" y="2377440"/>
            <a:ext cx="21488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1">
                <a:solidFill>
                  <a:srgbClr val="161B26"/>
                </a:solidFill>
                <a:latin typeface="Arial"/>
              </a:defRPr>
            </a:pPr>
            <a:r>
              <a:t>your machine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889504"/>
            <a:ext cx="10515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0">
                <a:solidFill>
                  <a:srgbClr val="5B6372"/>
                </a:solidFill>
                <a:latin typeface="Arial"/>
              </a:defRPr>
            </a:pPr>
            <a:r>
              <a:t>Cost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92808" y="2889504"/>
            <a:ext cx="21488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1">
                <a:solidFill>
                  <a:srgbClr val="161B26"/>
                </a:solidFill>
                <a:latin typeface="Arial"/>
              </a:defRPr>
            </a:pPr>
            <a:r>
              <a:t>free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3401568"/>
            <a:ext cx="10515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0">
                <a:solidFill>
                  <a:srgbClr val="5B6372"/>
                </a:solidFill>
                <a:latin typeface="Arial"/>
              </a:defRPr>
            </a:pPr>
            <a:r>
              <a:t>Speed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92808" y="3401568"/>
            <a:ext cx="21488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1">
                <a:solidFill>
                  <a:srgbClr val="161B26"/>
                </a:solidFill>
                <a:latin typeface="Arial"/>
              </a:defRPr>
            </a:pPr>
            <a:r>
              <a:t>~16 s   FASTEST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7" y="3913632"/>
            <a:ext cx="10515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0">
                <a:solidFill>
                  <a:srgbClr val="5B6372"/>
                </a:solidFill>
                <a:latin typeface="Arial"/>
              </a:defRPr>
            </a:pPr>
            <a:r>
              <a:t>Mouth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92808" y="3913632"/>
            <a:ext cx="21488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1">
                <a:solidFill>
                  <a:srgbClr val="161B26"/>
                </a:solidFill>
                <a:latin typeface="Arial"/>
              </a:defRPr>
            </a:pPr>
            <a:r>
              <a:t>96x96 - soft at 1080p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4425696"/>
            <a:ext cx="10515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0">
                <a:solidFill>
                  <a:srgbClr val="5B6372"/>
                </a:solidFill>
                <a:latin typeface="Arial"/>
              </a:defRPr>
            </a:pPr>
            <a:r>
              <a:t>Head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92808" y="4425696"/>
            <a:ext cx="21488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1">
                <a:solidFill>
                  <a:srgbClr val="161B26"/>
                </a:solidFill>
                <a:latin typeface="Arial"/>
              </a:defRPr>
            </a:pPr>
            <a:r>
              <a:t>frozen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7" y="4937760"/>
            <a:ext cx="10515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0">
                <a:solidFill>
                  <a:srgbClr val="5B6372"/>
                </a:solidFill>
                <a:latin typeface="Arial"/>
              </a:defRPr>
            </a:pPr>
            <a:r>
              <a:t>Needs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92808" y="4937760"/>
            <a:ext cx="21488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1">
                <a:solidFill>
                  <a:srgbClr val="161B26"/>
                </a:solidFill>
                <a:latin typeface="Arial"/>
              </a:defRPr>
            </a:pPr>
            <a:r>
              <a:t>ffmpeg + checkpoint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61688" y="1783080"/>
            <a:ext cx="3474720" cy="37947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361688" y="1783080"/>
            <a:ext cx="3474720" cy="457200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61688" y="1883664"/>
            <a:ext cx="34747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MUSETALK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44568" y="2377440"/>
            <a:ext cx="10515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0">
                <a:solidFill>
                  <a:srgbClr val="5B6372"/>
                </a:solidFill>
                <a:latin typeface="Arial"/>
              </a:defRPr>
            </a:pPr>
            <a:r>
              <a:t>Where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96127" y="2377440"/>
            <a:ext cx="21488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1">
                <a:solidFill>
                  <a:srgbClr val="161B26"/>
                </a:solidFill>
                <a:latin typeface="Arial"/>
              </a:defRPr>
            </a:pPr>
            <a:r>
              <a:t>your machine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44568" y="2889504"/>
            <a:ext cx="10515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0">
                <a:solidFill>
                  <a:srgbClr val="5B6372"/>
                </a:solidFill>
                <a:latin typeface="Arial"/>
              </a:defRPr>
            </a:pPr>
            <a:r>
              <a:t>Cost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96127" y="2889504"/>
            <a:ext cx="21488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1">
                <a:solidFill>
                  <a:srgbClr val="161B26"/>
                </a:solidFill>
                <a:latin typeface="Arial"/>
              </a:defRPr>
            </a:pPr>
            <a:r>
              <a:t>free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44568" y="3401568"/>
            <a:ext cx="10515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0">
                <a:solidFill>
                  <a:srgbClr val="5B6372"/>
                </a:solidFill>
                <a:latin typeface="Arial"/>
              </a:defRPr>
            </a:pPr>
            <a:r>
              <a:t>Speed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96127" y="3401568"/>
            <a:ext cx="21488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1">
                <a:solidFill>
                  <a:srgbClr val="161B26"/>
                </a:solidFill>
                <a:latin typeface="Arial"/>
              </a:defRPr>
            </a:pPr>
            <a:r>
              <a:t>~75 s  (7x slower)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44568" y="3913632"/>
            <a:ext cx="10515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0">
                <a:solidFill>
                  <a:srgbClr val="5B6372"/>
                </a:solidFill>
                <a:latin typeface="Arial"/>
              </a:defRPr>
            </a:pPr>
            <a:r>
              <a:t>Mouth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96127" y="3913632"/>
            <a:ext cx="21488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1">
                <a:solidFill>
                  <a:srgbClr val="161B26"/>
                </a:solidFill>
                <a:latin typeface="Arial"/>
              </a:defRPr>
            </a:pPr>
            <a:r>
              <a:t>real pixels  BEST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44568" y="4425696"/>
            <a:ext cx="10515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0">
                <a:solidFill>
                  <a:srgbClr val="5B6372"/>
                </a:solidFill>
                <a:latin typeface="Arial"/>
              </a:defRPr>
            </a:pPr>
            <a:r>
              <a:t>Head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96127" y="4425696"/>
            <a:ext cx="21488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1">
                <a:solidFill>
                  <a:srgbClr val="161B26"/>
                </a:solidFill>
                <a:latin typeface="Arial"/>
              </a:defRPr>
            </a:pPr>
            <a:r>
              <a:t>frozen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44568" y="4937760"/>
            <a:ext cx="10515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0">
                <a:solidFill>
                  <a:srgbClr val="5B6372"/>
                </a:solidFill>
                <a:latin typeface="Arial"/>
              </a:defRPr>
            </a:pPr>
            <a:r>
              <a:t>Needs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596127" y="4937760"/>
            <a:ext cx="21488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1">
                <a:solidFill>
                  <a:srgbClr val="161B26"/>
                </a:solidFill>
                <a:latin typeface="Arial"/>
              </a:defRPr>
            </a:pPr>
            <a:r>
              <a:t>GPU + 3.5 GB weights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65008" y="1783080"/>
            <a:ext cx="3474720" cy="37947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065008" y="1783080"/>
            <a:ext cx="3474720" cy="457200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065008" y="1883664"/>
            <a:ext cx="34747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HEYGEN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47888" y="2377440"/>
            <a:ext cx="10515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0">
                <a:solidFill>
                  <a:srgbClr val="5B6372"/>
                </a:solidFill>
                <a:latin typeface="Arial"/>
              </a:defRPr>
            </a:pPr>
            <a:r>
              <a:t>Where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99448" y="2377440"/>
            <a:ext cx="21488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1">
                <a:solidFill>
                  <a:srgbClr val="161B26"/>
                </a:solidFill>
                <a:latin typeface="Arial"/>
              </a:defRPr>
            </a:pPr>
            <a:r>
              <a:t>the cloud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47888" y="2889504"/>
            <a:ext cx="10515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0">
                <a:solidFill>
                  <a:srgbClr val="5B6372"/>
                </a:solidFill>
                <a:latin typeface="Arial"/>
              </a:defRPr>
            </a:pPr>
            <a:r>
              <a:t>Cost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99448" y="2889504"/>
            <a:ext cx="21488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1">
                <a:solidFill>
                  <a:srgbClr val="161B26"/>
                </a:solidFill>
                <a:latin typeface="Arial"/>
              </a:defRPr>
            </a:pPr>
            <a:r>
              <a:t>CREDITS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47888" y="3401568"/>
            <a:ext cx="10515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0">
                <a:solidFill>
                  <a:srgbClr val="5B6372"/>
                </a:solidFill>
                <a:latin typeface="Arial"/>
              </a:defRPr>
            </a:pPr>
            <a:r>
              <a:t>Speed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99448" y="3401568"/>
            <a:ext cx="21488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1">
                <a:solidFill>
                  <a:srgbClr val="161B26"/>
                </a:solidFill>
                <a:latin typeface="Arial"/>
              </a:defRPr>
            </a:pPr>
            <a:r>
              <a:t>~40 s - 3 min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47888" y="3913632"/>
            <a:ext cx="10515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0">
                <a:solidFill>
                  <a:srgbClr val="5B6372"/>
                </a:solidFill>
                <a:latin typeface="Arial"/>
              </a:defRPr>
            </a:pPr>
            <a:r>
              <a:t>Mouth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99448" y="3913632"/>
            <a:ext cx="21488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1">
                <a:solidFill>
                  <a:srgbClr val="161B26"/>
                </a:solidFill>
                <a:latin typeface="Arial"/>
              </a:defRPr>
            </a:pPr>
            <a:r>
              <a:t>photoreal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47888" y="4425696"/>
            <a:ext cx="10515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0">
                <a:solidFill>
                  <a:srgbClr val="5B6372"/>
                </a:solidFill>
                <a:latin typeface="Arial"/>
              </a:defRPr>
            </a:pPr>
            <a:r>
              <a:t>Head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299448" y="4425696"/>
            <a:ext cx="21488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1">
                <a:solidFill>
                  <a:srgbClr val="161B26"/>
                </a:solidFill>
                <a:latin typeface="Arial"/>
              </a:defRPr>
            </a:pPr>
            <a:r>
              <a:t>MOVES + blinks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47888" y="4937760"/>
            <a:ext cx="10515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0">
                <a:solidFill>
                  <a:srgbClr val="5B6372"/>
                </a:solidFill>
                <a:latin typeface="Arial"/>
              </a:defRPr>
            </a:pPr>
            <a:r>
              <a:t>Needs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99448" y="4937760"/>
            <a:ext cx="21488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1">
                <a:solidFill>
                  <a:srgbClr val="161B26"/>
                </a:solidFill>
                <a:latin typeface="Arial"/>
              </a:defRPr>
            </a:pPr>
            <a:r>
              <a:t>API key + credits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58368" y="5687568"/>
            <a:ext cx="10881360" cy="749808"/>
          </a:xfrm>
          <a:prstGeom prst="round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60120" y="5760720"/>
            <a:ext cx="103327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400" b="1">
                <a:solidFill>
                  <a:srgbClr val="7C3AED"/>
                </a:solidFill>
                <a:latin typeface="Arial"/>
              </a:defRPr>
            </a:pPr>
            <a:r>
              <a:t>Wav2Lip is FASTEST · MuseTalk looks BEST · only HeyGen MOVES THE HEAD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60120" y="6062472"/>
            <a:ext cx="103327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300" b="0">
                <a:solidFill>
                  <a:srgbClr val="161B26"/>
                </a:solidFill>
                <a:latin typeface="Arial"/>
              </a:defRPr>
            </a:pPr>
            <a:r>
              <a:t>The question is not “which is best” - it is whether you would upload a customer's face to a vendor to gain a moving head.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02920" y="6428232"/>
            <a:ext cx="11183112" cy="13716"/>
          </a:xfrm>
          <a:prstGeom prst="rect">
            <a:avLst/>
          </a:prstGeom>
          <a:solidFill>
            <a:srgbClr val="DCE5F0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48640" y="6483096"/>
            <a:ext cx="5212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00" b="0">
                <a:solidFill>
                  <a:srgbClr val="5B6372"/>
                </a:solidFill>
                <a:latin typeface="Arial"/>
              </a:defRPr>
            </a:pPr>
            <a:r>
              <a:t>C500 - Voice and Video Agents with n8n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251960" y="6483096"/>
            <a:ext cx="3749039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800" b="0">
                <a:solidFill>
                  <a:srgbClr val="5B6372"/>
                </a:solidFill>
                <a:latin typeface="Arial"/>
              </a:defRPr>
            </a:pPr>
            <a:r>
              <a:t>Copyright 2026 Tertiary Infotech Academy Pte Ltd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109960" y="6483096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800" b="1">
                <a:solidFill>
                  <a:srgbClr val="5B6372"/>
                </a:solidFill>
                <a:latin typeface="Arial"/>
              </a:defRPr>
            </a:pPr>
            <a:r>
              <a:t>067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01752"/>
            <a:ext cx="10972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1">
                <a:solidFill>
                  <a:srgbClr val="1F6FEB"/>
                </a:solidFill>
                <a:latin typeface="Arial"/>
              </a:defRPr>
            </a:pPr>
            <a:r>
              <a:t>BUILD TARGET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800" b="1">
                <a:solidFill>
                  <a:srgbClr val="161B26"/>
                </a:solidFill>
                <a:latin typeface="Arial"/>
              </a:defRPr>
            </a:pPr>
            <a:r>
              <a:t>Lab 6: Lip-Sync Face-Off: MuseTalk vs HeyGen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417320"/>
            <a:ext cx="7360920" cy="3246120"/>
          </a:xfrm>
          <a:prstGeom prst="round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4400" y="1755648"/>
            <a:ext cx="1078992" cy="107899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55648"/>
            <a:ext cx="1078992" cy="10789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31720" y="1719072"/>
            <a:ext cx="21945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1">
                <a:solidFill>
                  <a:srgbClr val="1F6FEB"/>
                </a:solidFill>
                <a:latin typeface="Arial"/>
              </a:defRPr>
            </a:pPr>
            <a:r>
              <a:t>YOU WILL BUILD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31720" y="2048256"/>
            <a:ext cx="5074920" cy="131673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700" b="1">
                <a:solidFill>
                  <a:srgbClr val="161B26"/>
                </a:solidFill>
                <a:latin typeface="Arial"/>
              </a:defRPr>
            </a:pPr>
            <a:r>
              <a:t>The same gemma4 script and the same portrait rendered by MuseTalk (local) and HeyGen (cloud), judged side by side with your own eyes.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1720" y="3474720"/>
            <a:ext cx="19202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  <a:latin typeface="Arial"/>
              </a:defRPr>
            </a:pPr>
            <a:r>
              <a:t>DELIVERABLE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3822191"/>
            <a:ext cx="507492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500" b="0">
                <a:solidFill>
                  <a:srgbClr val="5B6372"/>
                </a:solidFill>
                <a:latin typeface="Arial"/>
              </a:defRPr>
            </a:pPr>
            <a:r>
              <a:t>Two rendered clips of one script, a scored comparison, and a one-line recommendation per engine.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02752" y="1417320"/>
            <a:ext cx="32918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02752" y="1417320"/>
            <a:ext cx="73152" cy="96012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540496" y="1636776"/>
            <a:ext cx="438912" cy="43891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40496" y="1636776"/>
            <a:ext cx="438912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07424" y="1554480"/>
            <a:ext cx="226771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600" b="1">
                <a:solidFill>
                  <a:srgbClr val="161B26"/>
                </a:solidFill>
                <a:latin typeface="Arial"/>
              </a:defRPr>
            </a:pPr>
            <a:r>
              <a:t>TIMEBOX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07424" y="1920240"/>
            <a:ext cx="2267712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0">
                <a:solidFill>
                  <a:srgbClr val="5B6372"/>
                </a:solidFill>
                <a:latin typeface="Arial"/>
              </a:defRPr>
            </a:pPr>
            <a:r>
              <a:t>60 minutes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02752" y="2606040"/>
            <a:ext cx="32918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302752" y="2606040"/>
            <a:ext cx="73152" cy="96012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540496" y="2825496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40496" y="2825496"/>
            <a:ext cx="438912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07424" y="2743200"/>
            <a:ext cx="226771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600" b="1">
                <a:solidFill>
                  <a:srgbClr val="161B26"/>
                </a:solidFill>
                <a:latin typeface="Arial"/>
              </a:defRPr>
            </a:pPr>
            <a:r>
              <a:t>MODE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07424" y="3108960"/>
            <a:ext cx="2267712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0">
                <a:solidFill>
                  <a:srgbClr val="5B6372"/>
                </a:solidFill>
                <a:latin typeface="Arial"/>
              </a:defRPr>
            </a:pPr>
            <a:r>
              <a:t>Demo, guided build, independent test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302752" y="3794760"/>
            <a:ext cx="32918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302752" y="3794760"/>
            <a:ext cx="73152" cy="96012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540496" y="4014216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40496" y="4014216"/>
            <a:ext cx="438912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07424" y="3931920"/>
            <a:ext cx="226771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600" b="1">
                <a:solidFill>
                  <a:srgbClr val="161B26"/>
                </a:solidFill>
                <a:latin typeface="Arial"/>
              </a:defRPr>
            </a:pPr>
            <a:r>
              <a:t>EVIDENCE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07424" y="4297680"/>
            <a:ext cx="2267712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0">
                <a:solidFill>
                  <a:srgbClr val="5B6372"/>
                </a:solidFill>
                <a:latin typeface="Arial"/>
              </a:defRPr>
            </a:pPr>
            <a:r>
              <a:t>Execution trace plus learner artifact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5230368"/>
            <a:ext cx="731520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000" b="1">
                <a:solidFill>
                  <a:srgbClr val="7C3AED"/>
                </a:solidFill>
                <a:latin typeface="Arial"/>
              </a:defRPr>
            </a:pPr>
            <a:r>
              <a:t>Success is demonstrated, not assumed.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6428232"/>
            <a:ext cx="11183112" cy="13716"/>
          </a:xfrm>
          <a:prstGeom prst="rect">
            <a:avLst/>
          </a:prstGeom>
          <a:solidFill>
            <a:srgbClr val="DCE5F0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6483096"/>
            <a:ext cx="5212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00" b="0">
                <a:solidFill>
                  <a:srgbClr val="5B6372"/>
                </a:solidFill>
                <a:latin typeface="Arial"/>
              </a:defRPr>
            </a:pPr>
            <a:r>
              <a:t>C500 - Voice and Video Agents with n8n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6483096"/>
            <a:ext cx="3749039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800" b="0">
                <a:solidFill>
                  <a:srgbClr val="5B6372"/>
                </a:solidFill>
                <a:latin typeface="Arial"/>
              </a:defRPr>
            </a:pPr>
            <a:r>
              <a:t>Copyright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09960" y="6483096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800" b="1">
                <a:solidFill>
                  <a:srgbClr val="5B6372"/>
                </a:solidFill>
                <a:latin typeface="Arial"/>
              </a:defRPr>
            </a:pPr>
            <a:r>
              <a:t>068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01752"/>
            <a:ext cx="10972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1">
                <a:solidFill>
                  <a:srgbClr val="1F6FEB"/>
                </a:solidFill>
                <a:latin typeface="Arial"/>
              </a:defRPr>
            </a:pPr>
            <a:r>
              <a:t>CONCEPT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800" b="1">
                <a:solidFill>
                  <a:srgbClr val="161B26"/>
                </a:solidFill>
                <a:latin typeface="Arial"/>
              </a:defRPr>
            </a:pPr>
            <a:r>
              <a:t>Lab 6: Four Ideas That Make It Work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" y="1389888"/>
            <a:ext cx="5349240" cy="1901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1792" y="1389888"/>
            <a:ext cx="73152" cy="190195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59536" y="1609344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609344"/>
            <a:ext cx="438912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26464" y="1591056"/>
            <a:ext cx="432511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700" b="1">
                <a:solidFill>
                  <a:srgbClr val="161B26"/>
                </a:solidFill>
                <a:latin typeface="Arial"/>
              </a:defRPr>
            </a:pPr>
            <a:r>
              <a:t>Lip-sync rendering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048256"/>
            <a:ext cx="4846320" cy="10789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400" b="0">
                <a:solidFill>
                  <a:srgbClr val="5B6372"/>
                </a:solidFill>
                <a:latin typeface="Arial"/>
              </a:defRPr>
            </a:pPr>
            <a:r>
              <a:t>An engine animates a still portrait to match speech audio - the mouth is generated, the photo is real.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389888"/>
            <a:ext cx="5349240" cy="1901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99632" y="1389888"/>
            <a:ext cx="73152" cy="19019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37376" y="1609344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37376" y="1609344"/>
            <a:ext cx="438912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4304" y="1591056"/>
            <a:ext cx="432511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700" b="1">
                <a:solidFill>
                  <a:srgbClr val="161B26"/>
                </a:solidFill>
                <a:latin typeface="Arial"/>
              </a:defRPr>
            </a:pPr>
            <a:r>
              <a:t>Local vs cloud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2" y="2048256"/>
            <a:ext cx="4846320" cy="10789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400" b="0">
                <a:solidFill>
                  <a:srgbClr val="5B6372"/>
                </a:solidFill>
                <a:latin typeface="Arial"/>
              </a:defRPr>
            </a:pPr>
            <a:r>
              <a:t>MuseTalk: free, private, ~75 s, mouth only. HeyGen: credits, face uploaded, ~40 s, the head moves and blinks.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" y="3675887"/>
            <a:ext cx="5349240" cy="1901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" y="3675887"/>
            <a:ext cx="73152" cy="1901952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59536" y="3895344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6" y="3895344"/>
            <a:ext cx="438912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26464" y="3877055"/>
            <a:ext cx="432511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700" b="1">
                <a:solidFill>
                  <a:srgbClr val="161B26"/>
                </a:solidFill>
                <a:latin typeface="Arial"/>
              </a:defRPr>
            </a:pPr>
            <a:r>
              <a:t>Served, never file://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" y="4334255"/>
            <a:ext cx="4846320" cy="10789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400" b="0">
                <a:solidFill>
                  <a:srgbClr val="5B6372"/>
                </a:solidFill>
                <a:latin typeface="Arial"/>
              </a:defRPr>
            </a:pPr>
            <a:r>
              <a:t>The studio runs at http://localhost:8137 via start.command / start.bat. Double-click index.html and fetch() silently dies.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9632" y="3675887"/>
            <a:ext cx="5349240" cy="1901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99632" y="3675887"/>
            <a:ext cx="73152" cy="19019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37376" y="3895344"/>
            <a:ext cx="438912" cy="43891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37376" y="3895344"/>
            <a:ext cx="438912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04304" y="3877055"/>
            <a:ext cx="432511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700" b="1">
                <a:solidFill>
                  <a:srgbClr val="161B26"/>
                </a:solidFill>
                <a:latin typeface="Arial"/>
              </a:defRPr>
            </a:pPr>
            <a:r>
              <a:t>Judging with evidence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73952" y="4334255"/>
            <a:ext cx="4846320" cy="10789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400" b="0">
                <a:solidFill>
                  <a:srgbClr val="5B6372"/>
                </a:solidFill>
                <a:latin typeface="Arial"/>
              </a:defRPr>
            </a:pPr>
            <a:r>
              <a:t>The deliverable is a scored comparison of what you watched - not the vendor's marketing page.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5806440"/>
            <a:ext cx="80467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600" b="0">
                <a:solidFill>
                  <a:srgbClr val="5B6372"/>
                </a:solidFill>
                <a:latin typeface="Arial"/>
              </a:defRPr>
            </a:pPr>
            <a:r>
              <a:t>Connect the four ideas before touching the workflow canvas.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6428232"/>
            <a:ext cx="11183112" cy="13716"/>
          </a:xfrm>
          <a:prstGeom prst="rect">
            <a:avLst/>
          </a:prstGeom>
          <a:solidFill>
            <a:srgbClr val="DCE5F0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6483096"/>
            <a:ext cx="5212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00" b="0">
                <a:solidFill>
                  <a:srgbClr val="5B6372"/>
                </a:solidFill>
                <a:latin typeface="Arial"/>
              </a:defRPr>
            </a:pPr>
            <a:r>
              <a:t>C500 - Voice and Video Agents with n8n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51960" y="6483096"/>
            <a:ext cx="3749039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800" b="0">
                <a:solidFill>
                  <a:srgbClr val="5B6372"/>
                </a:solidFill>
                <a:latin typeface="Arial"/>
              </a:defRPr>
            </a:pPr>
            <a:r>
              <a:t>Copyright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09960" y="6483096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800" b="1">
                <a:solidFill>
                  <a:srgbClr val="5B6372"/>
                </a:solidFill>
                <a:latin typeface="Arial"/>
              </a:defRPr>
            </a:pPr>
            <a:r>
              <a:t>069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01752"/>
            <a:ext cx="10972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1">
                <a:solidFill>
                  <a:srgbClr val="1F6FEB"/>
                </a:solidFill>
                <a:latin typeface="Arial"/>
              </a:defRPr>
            </a:pPr>
            <a:r>
              <a:t>WORKFLOW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800" b="1">
                <a:solidFill>
                  <a:srgbClr val="161B26"/>
                </a:solidFill>
                <a:latin typeface="Arial"/>
              </a:defRPr>
            </a:pPr>
            <a:r>
              <a:t>Lab 6: Build Sequence</a:t>
            </a:r>
          </a:p>
        </p:txBody>
      </p:sp>
      <p:sp>
        <p:nvSpPr>
          <p:cNvPr id="4" name="Oval 3"/>
          <p:cNvSpPr/>
          <p:nvPr/>
        </p:nvSpPr>
        <p:spPr>
          <a:xfrm>
            <a:off x="658368" y="1463039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463039"/>
            <a:ext cx="53035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08176" y="1325880"/>
            <a:ext cx="4690872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8488" y="1417320"/>
            <a:ext cx="4279392" cy="11887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200" b="0">
                <a:solidFill>
                  <a:srgbClr val="161B26"/>
                </a:solidFill>
                <a:latin typeface="Arial"/>
              </a:defRPr>
            </a:pPr>
            <a:r>
              <a:t>From labs_local_n8n/lab6, run ./setup.sh (app + HeyGen), or ./setup.sh --musetalk to also download the ~3.5 GB MuseTalk weights - once.</a:t>
            </a:r>
          </a:p>
        </p:txBody>
      </p:sp>
      <p:sp>
        <p:nvSpPr>
          <p:cNvPr id="8" name="Oval 7"/>
          <p:cNvSpPr/>
          <p:nvPr/>
        </p:nvSpPr>
        <p:spPr>
          <a:xfrm>
            <a:off x="6373368" y="1463039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73368" y="1463039"/>
            <a:ext cx="53035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23176" y="1325880"/>
            <a:ext cx="4690872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33488" y="1417320"/>
            <a:ext cx="4279392" cy="11887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200" b="0">
                <a:solidFill>
                  <a:srgbClr val="161B26"/>
                </a:solidFill>
                <a:latin typeface="Arial"/>
              </a:defRPr>
            </a:pPr>
            <a:r>
              <a:t>Launch with start.command (macOS) or start.bat (Windows) - it serves the Digital Human Studio at http://localhost:8137.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309067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3090672"/>
            <a:ext cx="53035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08176" y="2953512"/>
            <a:ext cx="4690872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18488" y="3044952"/>
            <a:ext cx="4279392" cy="11887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200" b="0">
                <a:solidFill>
                  <a:srgbClr val="161B26"/>
                </a:solidFill>
                <a:latin typeface="Arial"/>
              </a:defRPr>
            </a:pPr>
            <a:r>
              <a:t>Let gemma4 draft the news script in the studio - Draft with Ollama.</a:t>
            </a:r>
          </a:p>
        </p:txBody>
      </p:sp>
      <p:sp>
        <p:nvSpPr>
          <p:cNvPr id="16" name="Oval 15"/>
          <p:cNvSpPr/>
          <p:nvPr/>
        </p:nvSpPr>
        <p:spPr>
          <a:xfrm>
            <a:off x="6373368" y="309067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73368" y="3090672"/>
            <a:ext cx="53035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23176" y="2953512"/>
            <a:ext cx="4690872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33488" y="3044952"/>
            <a:ext cx="4279392" cy="11887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200" b="0">
                <a:solidFill>
                  <a:srgbClr val="161B26"/>
                </a:solidFill>
                <a:latin typeface="Arial"/>
              </a:defRPr>
            </a:pPr>
            <a:r>
              <a:t>Render the script and portrait through MuseTalk, and time it.</a:t>
            </a:r>
          </a:p>
        </p:txBody>
      </p:sp>
      <p:sp>
        <p:nvSpPr>
          <p:cNvPr id="20" name="Oval 19"/>
          <p:cNvSpPr/>
          <p:nvPr/>
        </p:nvSpPr>
        <p:spPr>
          <a:xfrm>
            <a:off x="658368" y="4718304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4718304"/>
            <a:ext cx="53035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408176" y="4581144"/>
            <a:ext cx="4690872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18488" y="4672583"/>
            <a:ext cx="4279392" cy="11887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200" b="0">
                <a:solidFill>
                  <a:srgbClr val="161B26"/>
                </a:solidFill>
                <a:latin typeface="Arial"/>
              </a:defRPr>
            </a:pPr>
            <a:r>
              <a:t>Render the SAME script and portrait through HeyGen (API key + credits), and time it.</a:t>
            </a:r>
          </a:p>
        </p:txBody>
      </p:sp>
      <p:sp>
        <p:nvSpPr>
          <p:cNvPr id="24" name="Oval 23"/>
          <p:cNvSpPr/>
          <p:nvPr/>
        </p:nvSpPr>
        <p:spPr>
          <a:xfrm>
            <a:off x="6373368" y="4718304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73368" y="4718304"/>
            <a:ext cx="53035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23176" y="4581144"/>
            <a:ext cx="4690872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33488" y="4672583"/>
            <a:ext cx="4279392" cy="11887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200" b="0">
                <a:solidFill>
                  <a:srgbClr val="161B26"/>
                </a:solidFill>
                <a:latin typeface="Arial"/>
              </a:defRPr>
            </a:pPr>
            <a:r>
              <a:t>Score both clips: mouth realism, head movement, speed, privacy, cost - and write one sentence on when you would choose each.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6053328"/>
            <a:ext cx="59436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500" b="1">
                <a:solidFill>
                  <a:srgbClr val="7C3AED"/>
                </a:solidFill>
                <a:latin typeface="Arial"/>
              </a:defRPr>
            </a:pPr>
            <a:r>
              <a:t>Build one observable behavior at a time.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6428232"/>
            <a:ext cx="11183112" cy="13716"/>
          </a:xfrm>
          <a:prstGeom prst="rect">
            <a:avLst/>
          </a:prstGeom>
          <a:solidFill>
            <a:srgbClr val="DCE5F0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6483096"/>
            <a:ext cx="5212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00" b="0">
                <a:solidFill>
                  <a:srgbClr val="5B6372"/>
                </a:solidFill>
                <a:latin typeface="Arial"/>
              </a:defRPr>
            </a:pPr>
            <a:r>
              <a:t>C500 - Voice and Video Agents with n8n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51960" y="6483096"/>
            <a:ext cx="3749039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800" b="0">
                <a:solidFill>
                  <a:srgbClr val="5B6372"/>
                </a:solidFill>
                <a:latin typeface="Arial"/>
              </a:defRPr>
            </a:pPr>
            <a:r>
              <a:t>Copyright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09960" y="6483096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800" b="1">
                <a:solidFill>
                  <a:srgbClr val="5B6372"/>
                </a:solidFill>
                <a:latin typeface="Arial"/>
              </a:defRPr>
            </a:pPr>
            <a:r>
              <a:t>070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01752"/>
            <a:ext cx="10972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1">
                <a:solidFill>
                  <a:srgbClr val="1F6FEB"/>
                </a:solidFill>
                <a:latin typeface="Arial"/>
              </a:defRPr>
            </a:pPr>
            <a:r>
              <a:t>LAB 6 - LIP-SYNC FACE-OFF: MUSETALK VS HEYGEN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800" b="1">
                <a:solidFill>
                  <a:srgbClr val="161B26"/>
                </a:solidFill>
                <a:latin typeface="Arial"/>
              </a:defRPr>
            </a:pPr>
            <a:r>
              <a:t>Lab 6 - Digital Human Studio (http://localhost:8137)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667589" y="1271016"/>
            <a:ext cx="6856517" cy="427024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ab6-lipsync-stud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2453" y="1325880"/>
            <a:ext cx="6746789" cy="4160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13232" y="5806440"/>
            <a:ext cx="1078992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500" b="0">
                <a:solidFill>
                  <a:srgbClr val="5B6372"/>
                </a:solidFill>
                <a:latin typeface="Arial"/>
              </a:defRPr>
            </a:pPr>
            <a:r>
              <a:t>Lab 6 - Digital Human Studio (http://localhost:8137): face detected, script loaded, and the avatar speaking in the live preview.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28232"/>
            <a:ext cx="11183112" cy="13716"/>
          </a:xfrm>
          <a:prstGeom prst="rect">
            <a:avLst/>
          </a:prstGeom>
          <a:solidFill>
            <a:srgbClr val="DCE5F0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83096"/>
            <a:ext cx="5212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00" b="0">
                <a:solidFill>
                  <a:srgbClr val="5B6372"/>
                </a:solidFill>
                <a:latin typeface="Arial"/>
              </a:defRPr>
            </a:pPr>
            <a:r>
              <a:t>C500 - Voice and Video Agents with n8n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51960" y="6483096"/>
            <a:ext cx="3749039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800" b="0">
                <a:solidFill>
                  <a:srgbClr val="5B6372"/>
                </a:solidFill>
                <a:latin typeface="Arial"/>
              </a:defRPr>
            </a:pPr>
            <a:r>
              <a:t>Copyright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483096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800" b="1">
                <a:solidFill>
                  <a:srgbClr val="5B6372"/>
                </a:solidFill>
                <a:latin typeface="Arial"/>
              </a:defRPr>
            </a:pPr>
            <a:r>
              <a:t>071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01752"/>
            <a:ext cx="10972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1">
                <a:solidFill>
                  <a:srgbClr val="1F6FEB"/>
                </a:solidFill>
                <a:latin typeface="Arial"/>
              </a:defRPr>
            </a:pPr>
            <a:r>
              <a:t>LAB 6 - LIP-SYNC FACE-OFF: MUSETALK VS HEYGEN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800" b="1">
                <a:solidFill>
                  <a:srgbClr val="161B26"/>
                </a:solidFill>
                <a:latin typeface="Arial"/>
              </a:defRPr>
            </a:pPr>
            <a:r>
              <a:t>Lab 6 - the controls that matter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667589" y="1271016"/>
            <a:ext cx="6856517" cy="427024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ab6-lipsync-engin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2453" y="1325880"/>
            <a:ext cx="6746789" cy="4160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13232" y="5806440"/>
            <a:ext cx="1078992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500" b="0">
                <a:solidFill>
                  <a:srgbClr val="5B6372"/>
                </a:solidFill>
                <a:latin typeface="Arial"/>
              </a:defRPr>
            </a:pPr>
            <a:r>
              <a:t>Lab 6 - the controls that matter: Draft with Ollama (gemma4), the voice engine, and the LIP SYNC renderer picker.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28232"/>
            <a:ext cx="11183112" cy="13716"/>
          </a:xfrm>
          <a:prstGeom prst="rect">
            <a:avLst/>
          </a:prstGeom>
          <a:solidFill>
            <a:srgbClr val="DCE5F0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83096"/>
            <a:ext cx="5212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00" b="0">
                <a:solidFill>
                  <a:srgbClr val="5B6372"/>
                </a:solidFill>
                <a:latin typeface="Arial"/>
              </a:defRPr>
            </a:pPr>
            <a:r>
              <a:t>C500 - Voice and Video Agents with n8n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51960" y="6483096"/>
            <a:ext cx="3749039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800" b="0">
                <a:solidFill>
                  <a:srgbClr val="5B6372"/>
                </a:solidFill>
                <a:latin typeface="Arial"/>
              </a:defRPr>
            </a:pPr>
            <a:r>
              <a:t>Copyright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483096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800" b="1">
                <a:solidFill>
                  <a:srgbClr val="5B6372"/>
                </a:solidFill>
                <a:latin typeface="Arial"/>
              </a:defRPr>
            </a:pPr>
            <a:r>
              <a:t>072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01752"/>
            <a:ext cx="10972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1">
                <a:solidFill>
                  <a:srgbClr val="1F6FEB"/>
                </a:solidFill>
                <a:latin typeface="Arial"/>
              </a:defRPr>
            </a:pPr>
            <a:r>
              <a:t>QUALITY GATE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800" b="1">
                <a:solidFill>
                  <a:srgbClr val="161B26"/>
                </a:solidFill>
                <a:latin typeface="Arial"/>
              </a:defRPr>
            </a:pPr>
            <a:r>
              <a:t>Lab 6: Prove, Evaluate, Improve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" y="1353312"/>
            <a:ext cx="6995160" cy="4498848"/>
          </a:xfrm>
          <a:prstGeom prst="round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32688" y="1664208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664208"/>
            <a:ext cx="457200" cy="4572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27632" y="1645920"/>
            <a:ext cx="5440680" cy="7772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300" b="0">
                <a:solidFill>
                  <a:srgbClr val="161B26"/>
                </a:solidFill>
                <a:latin typeface="Arial"/>
              </a:defRPr>
            </a:pPr>
            <a:r>
              <a:t>Both clips render from the identical script and portrait.</a:t>
            </a:r>
          </a:p>
        </p:txBody>
      </p:sp>
      <p:sp>
        <p:nvSpPr>
          <p:cNvPr id="8" name="Oval 7"/>
          <p:cNvSpPr/>
          <p:nvPr/>
        </p:nvSpPr>
        <p:spPr>
          <a:xfrm>
            <a:off x="932688" y="2496312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496312"/>
            <a:ext cx="457200" cy="4572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27632" y="2478024"/>
            <a:ext cx="5440680" cy="7772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300" b="0">
                <a:solidFill>
                  <a:srgbClr val="161B26"/>
                </a:solidFill>
                <a:latin typeface="Arial"/>
              </a:defRPr>
            </a:pPr>
            <a:r>
              <a:t>You can state, in one sentence each, when you would choose each engine - backed by what you saw.</a:t>
            </a:r>
          </a:p>
        </p:txBody>
      </p:sp>
      <p:sp>
        <p:nvSpPr>
          <p:cNvPr id="11" name="Oval 10"/>
          <p:cNvSpPr/>
          <p:nvPr/>
        </p:nvSpPr>
        <p:spPr>
          <a:xfrm>
            <a:off x="932688" y="3328416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3328416"/>
            <a:ext cx="457200" cy="4572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27632" y="3310128"/>
            <a:ext cx="5440680" cy="7772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300" b="0">
                <a:solidFill>
                  <a:srgbClr val="161B26"/>
                </a:solidFill>
                <a:latin typeface="Arial"/>
              </a:defRPr>
            </a:pPr>
            <a:r>
              <a:t>Run one edge case and record the change made after evaluation.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73568" y="1353312"/>
            <a:ext cx="3611880" cy="4498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02752" y="1682496"/>
            <a:ext cx="29260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1">
                <a:solidFill>
                  <a:srgbClr val="1F6FEB"/>
                </a:solidFill>
                <a:latin typeface="Arial"/>
              </a:defRPr>
            </a:pPr>
            <a:r>
              <a:t>EVIDENCE STACK</a:t>
            </a:r>
          </a:p>
        </p:txBody>
      </p:sp>
      <p:sp>
        <p:nvSpPr>
          <p:cNvPr id="16" name="Oval 15"/>
          <p:cNvSpPr/>
          <p:nvPr/>
        </p:nvSpPr>
        <p:spPr>
          <a:xfrm>
            <a:off x="8302752" y="2176272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2752" y="2176272"/>
            <a:ext cx="411480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87968" y="2157984"/>
            <a:ext cx="914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400" b="1">
                <a:solidFill>
                  <a:srgbClr val="161B26"/>
                </a:solidFill>
                <a:latin typeface="Arial"/>
              </a:defRPr>
            </a:pPr>
            <a:r>
              <a:t>Input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02368" y="2157984"/>
            <a:ext cx="1353312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0">
                <a:solidFill>
                  <a:srgbClr val="5B6372"/>
                </a:solidFill>
                <a:latin typeface="Arial"/>
              </a:defRPr>
            </a:pPr>
            <a:r>
              <a:t>Exact test payload</a:t>
            </a:r>
          </a:p>
        </p:txBody>
      </p:sp>
      <p:sp>
        <p:nvSpPr>
          <p:cNvPr id="20" name="Oval 19"/>
          <p:cNvSpPr/>
          <p:nvPr/>
        </p:nvSpPr>
        <p:spPr>
          <a:xfrm>
            <a:off x="8302752" y="2971800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02752" y="2971800"/>
            <a:ext cx="411480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87968" y="2953512"/>
            <a:ext cx="914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400" b="1">
                <a:solidFill>
                  <a:srgbClr val="161B26"/>
                </a:solidFill>
                <a:latin typeface="Arial"/>
              </a:defRPr>
            </a:pPr>
            <a:r>
              <a:t>Trace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02368" y="2953512"/>
            <a:ext cx="1353312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0">
                <a:solidFill>
                  <a:srgbClr val="5B6372"/>
                </a:solidFill>
                <a:latin typeface="Arial"/>
              </a:defRPr>
            </a:pPr>
            <a:r>
              <a:t>Node execution path</a:t>
            </a:r>
          </a:p>
        </p:txBody>
      </p:sp>
      <p:sp>
        <p:nvSpPr>
          <p:cNvPr id="24" name="Oval 23"/>
          <p:cNvSpPr/>
          <p:nvPr/>
        </p:nvSpPr>
        <p:spPr>
          <a:xfrm>
            <a:off x="8302752" y="3767328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02752" y="3767328"/>
            <a:ext cx="411480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87968" y="3749040"/>
            <a:ext cx="914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400" b="1">
                <a:solidFill>
                  <a:srgbClr val="161B26"/>
                </a:solidFill>
                <a:latin typeface="Arial"/>
              </a:defRPr>
            </a:pPr>
            <a:r>
              <a:t>Output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02368" y="3749040"/>
            <a:ext cx="1353312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0">
                <a:solidFill>
                  <a:srgbClr val="5B6372"/>
                </a:solidFill>
                <a:latin typeface="Arial"/>
              </a:defRPr>
            </a:pPr>
            <a:r>
              <a:t>Generated result</a:t>
            </a:r>
          </a:p>
        </p:txBody>
      </p:sp>
      <p:sp>
        <p:nvSpPr>
          <p:cNvPr id="28" name="Oval 27"/>
          <p:cNvSpPr/>
          <p:nvPr/>
        </p:nvSpPr>
        <p:spPr>
          <a:xfrm>
            <a:off x="8302752" y="4562856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02752" y="4562856"/>
            <a:ext cx="411480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87968" y="4544568"/>
            <a:ext cx="914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400" b="1">
                <a:solidFill>
                  <a:srgbClr val="161B26"/>
                </a:solidFill>
                <a:latin typeface="Arial"/>
              </a:defRPr>
            </a:pPr>
            <a:r>
              <a:t>Decision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02368" y="4544568"/>
            <a:ext cx="1353312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0">
                <a:solidFill>
                  <a:srgbClr val="5B6372"/>
                </a:solidFill>
                <a:latin typeface="Arial"/>
              </a:defRPr>
            </a:pPr>
            <a:r>
              <a:t>Rubric and revision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02752" y="5413248"/>
            <a:ext cx="9144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Arial"/>
              </a:defRPr>
            </a:pPr>
            <a:r>
              <a:t>PASS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253728" y="5458968"/>
            <a:ext cx="1938528" cy="10972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02920" y="6428232"/>
            <a:ext cx="11183112" cy="13716"/>
          </a:xfrm>
          <a:prstGeom prst="rect">
            <a:avLst/>
          </a:prstGeom>
          <a:solidFill>
            <a:srgbClr val="DCE5F0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6483096"/>
            <a:ext cx="5212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00" b="0">
                <a:solidFill>
                  <a:srgbClr val="5B6372"/>
                </a:solidFill>
                <a:latin typeface="Arial"/>
              </a:defRPr>
            </a:pPr>
            <a:r>
              <a:t>C500 - Voice and Video Agents with n8n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51960" y="6483096"/>
            <a:ext cx="3749039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800" b="0">
                <a:solidFill>
                  <a:srgbClr val="5B6372"/>
                </a:solidFill>
                <a:latin typeface="Arial"/>
              </a:defRPr>
            </a:pPr>
            <a:r>
              <a:t>Copyright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09960" y="6483096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800" b="1">
                <a:solidFill>
                  <a:srgbClr val="5B6372"/>
                </a:solidFill>
                <a:latin typeface="Arial"/>
              </a:defRPr>
            </a:pPr>
            <a:r>
              <a:t>073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01752"/>
            <a:ext cx="10972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1">
                <a:solidFill>
                  <a:srgbClr val="1F6FEB"/>
                </a:solidFill>
                <a:latin typeface="Arial"/>
              </a:defRPr>
            </a:pPr>
            <a:r>
              <a:t>TROUBLESHOOTING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800" b="1">
                <a:solidFill>
                  <a:srgbClr val="161B26"/>
                </a:solidFill>
                <a:latin typeface="Arial"/>
              </a:defRPr>
            </a:pPr>
            <a:r>
              <a:t>Lab 6: Diagnose Before Rebuilding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" y="1344168"/>
            <a:ext cx="3456432" cy="438912"/>
          </a:xfrm>
          <a:prstGeom prst="roundRect">
            <a:avLst/>
          </a:prstGeom>
          <a:solidFill>
            <a:srgbClr val="E25555"/>
          </a:solidFill>
          <a:ln>
            <a:solidFill>
              <a:srgbClr val="E2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408176"/>
            <a:ext cx="345643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SYMPTOM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15968" y="1344168"/>
            <a:ext cx="3456432" cy="438912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15968" y="1408176"/>
            <a:ext cx="345643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LIKELY CAUSE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10144" y="1344168"/>
            <a:ext cx="3456432" cy="43891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10144" y="1408176"/>
            <a:ext cx="345643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TARGETED FIX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993392"/>
            <a:ext cx="3456432" cy="1024128"/>
          </a:xfrm>
          <a:prstGeom prst="roundRect">
            <a:avLst/>
          </a:prstGeom>
          <a:solidFill>
            <a:srgbClr val="FFF4F4"/>
          </a:solidFill>
          <a:ln>
            <a:solidFill>
              <a:srgbClr val="FF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2084832"/>
            <a:ext cx="3127248" cy="8412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200" b="1">
                <a:solidFill>
                  <a:srgbClr val="161B26"/>
                </a:solidFill>
                <a:latin typeface="Arial"/>
              </a:defRPr>
            </a:pPr>
            <a:r>
              <a:t>'Could not load that sample'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15968" y="1993392"/>
            <a:ext cx="3456432" cy="1024128"/>
          </a:xfrm>
          <a:prstGeom prst="roundRect">
            <a:avLst/>
          </a:prstGeom>
          <a:solidFill>
            <a:srgbClr val="FFF8E8"/>
          </a:solidFill>
          <a:ln>
            <a:solidFill>
              <a:srgbClr val="FFF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59" y="2084832"/>
            <a:ext cx="3127248" cy="8412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200" b="0">
                <a:solidFill>
                  <a:srgbClr val="161B26"/>
                </a:solidFill>
                <a:latin typeface="Arial"/>
              </a:defRPr>
            </a:pPr>
            <a:r>
              <a:t>The studio was opened from file://.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10144" y="1993392"/>
            <a:ext cx="3456432" cy="1024128"/>
          </a:xfrm>
          <a:prstGeom prst="roundRect">
            <a:avLst/>
          </a:prstGeom>
          <a:solidFill>
            <a:srgbClr val="ECFDF5"/>
          </a:solidFill>
          <a:ln>
            <a:solidFill>
              <a:srgbClr val="ECF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74736" y="2084832"/>
            <a:ext cx="3127248" cy="8412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200" b="0">
                <a:solidFill>
                  <a:srgbClr val="161B26"/>
                </a:solidFill>
                <a:latin typeface="Arial"/>
              </a:defRPr>
            </a:pPr>
            <a:r>
              <a:t>Always launch via start.command / start.bat - the browser blocks fetch() on file URLs.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" y="3300984"/>
            <a:ext cx="3456432" cy="1024128"/>
          </a:xfrm>
          <a:prstGeom prst="roundRect">
            <a:avLst/>
          </a:prstGeom>
          <a:solidFill>
            <a:srgbClr val="FFF4F4"/>
          </a:solidFill>
          <a:ln>
            <a:solidFill>
              <a:srgbClr val="FF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" y="3392424"/>
            <a:ext cx="3127248" cy="8412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200" b="1">
                <a:solidFill>
                  <a:srgbClr val="161B26"/>
                </a:solidFill>
                <a:latin typeface="Arial"/>
              </a:defRPr>
            </a:pPr>
            <a:r>
              <a:t>MuseTalk render fails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15968" y="3300984"/>
            <a:ext cx="3456432" cy="1024128"/>
          </a:xfrm>
          <a:prstGeom prst="roundRect">
            <a:avLst/>
          </a:prstGeom>
          <a:solidFill>
            <a:srgbClr val="FFF8E8"/>
          </a:solidFill>
          <a:ln>
            <a:solidFill>
              <a:srgbClr val="FFF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59" y="3392424"/>
            <a:ext cx="3127248" cy="8412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200" b="0">
                <a:solidFill>
                  <a:srgbClr val="161B26"/>
                </a:solidFill>
                <a:latin typeface="Arial"/>
              </a:defRPr>
            </a:pPr>
            <a:r>
              <a:t>Weights not downloaded, or no GPU/MPS available.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10144" y="3300984"/>
            <a:ext cx="3456432" cy="1024128"/>
          </a:xfrm>
          <a:prstGeom prst="roundRect">
            <a:avLst/>
          </a:prstGeom>
          <a:solidFill>
            <a:srgbClr val="ECFDF5"/>
          </a:solidFill>
          <a:ln>
            <a:solidFill>
              <a:srgbClr val="ECF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74736" y="3392424"/>
            <a:ext cx="3127248" cy="8412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200" b="0">
                <a:solidFill>
                  <a:srgbClr val="161B26"/>
                </a:solidFill>
                <a:latin typeface="Arial"/>
              </a:defRPr>
            </a:pPr>
            <a:r>
              <a:t>Re-run ./setup.sh --musetalk and read the service log.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" y="4608576"/>
            <a:ext cx="3456432" cy="1024128"/>
          </a:xfrm>
          <a:prstGeom prst="roundRect">
            <a:avLst/>
          </a:prstGeom>
          <a:solidFill>
            <a:srgbClr val="FFF4F4"/>
          </a:solidFill>
          <a:ln>
            <a:solidFill>
              <a:srgbClr val="FF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6384" y="4700016"/>
            <a:ext cx="3127248" cy="8412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200" b="1">
                <a:solidFill>
                  <a:srgbClr val="161B26"/>
                </a:solidFill>
                <a:latin typeface="Arial"/>
              </a:defRPr>
            </a:pPr>
            <a:r>
              <a:t>HeyGen render rejected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15968" y="4608576"/>
            <a:ext cx="3456432" cy="1024128"/>
          </a:xfrm>
          <a:prstGeom prst="roundRect">
            <a:avLst/>
          </a:prstGeom>
          <a:solidFill>
            <a:srgbClr val="FFF8E8"/>
          </a:solidFill>
          <a:ln>
            <a:solidFill>
              <a:srgbClr val="FFF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80559" y="4700016"/>
            <a:ext cx="3127248" cy="8412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200" b="0">
                <a:solidFill>
                  <a:srgbClr val="161B26"/>
                </a:solidFill>
                <a:latin typeface="Arial"/>
              </a:defRPr>
            </a:pPr>
            <a:r>
              <a:t>Missing API key or exhausted credits.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10144" y="4608576"/>
            <a:ext cx="3456432" cy="1024128"/>
          </a:xfrm>
          <a:prstGeom prst="roundRect">
            <a:avLst/>
          </a:prstGeom>
          <a:solidFill>
            <a:srgbClr val="ECFDF5"/>
          </a:solidFill>
          <a:ln>
            <a:solidFill>
              <a:srgbClr val="ECF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74736" y="4700016"/>
            <a:ext cx="3127248" cy="8412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200" b="0">
                <a:solidFill>
                  <a:srgbClr val="161B26"/>
                </a:solidFill>
                <a:latin typeface="Arial"/>
              </a:defRPr>
            </a:pPr>
            <a:r>
              <a:t>Add the key in the studio settings and check the credit balance.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5989320"/>
            <a:ext cx="86868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600" b="1">
                <a:solidFill>
                  <a:srgbClr val="7C3AED"/>
                </a:solidFill>
                <a:latin typeface="Arial"/>
              </a:defRPr>
            </a:pPr>
            <a:r>
              <a:t>Change one variable, rerun the same test, compare the trace.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6428232"/>
            <a:ext cx="11183112" cy="13716"/>
          </a:xfrm>
          <a:prstGeom prst="rect">
            <a:avLst/>
          </a:prstGeom>
          <a:solidFill>
            <a:srgbClr val="DCE5F0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6483096"/>
            <a:ext cx="5212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00" b="0">
                <a:solidFill>
                  <a:srgbClr val="5B6372"/>
                </a:solidFill>
                <a:latin typeface="Arial"/>
              </a:defRPr>
            </a:pPr>
            <a:r>
              <a:t>C500 - Voice and Video Agents with n8n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51960" y="6483096"/>
            <a:ext cx="3749039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800" b="0">
                <a:solidFill>
                  <a:srgbClr val="5B6372"/>
                </a:solidFill>
                <a:latin typeface="Arial"/>
              </a:defRPr>
            </a:pPr>
            <a:r>
              <a:t>Copyright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09960" y="6483096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800" b="1">
                <a:solidFill>
                  <a:srgbClr val="5B6372"/>
                </a:solidFill>
                <a:latin typeface="Arial"/>
              </a:defRPr>
            </a:pPr>
            <a:r>
              <a:t>074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01752"/>
            <a:ext cx="10972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1">
                <a:solidFill>
                  <a:srgbClr val="1F6FEB"/>
                </a:solidFill>
                <a:latin typeface="Arial"/>
              </a:defRPr>
            </a:pPr>
            <a:r>
              <a:t>BUILD TARGET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800" b="1">
                <a:solidFill>
                  <a:srgbClr val="161B26"/>
                </a:solidFill>
                <a:latin typeface="Arial"/>
              </a:defRPr>
            </a:pPr>
            <a:r>
              <a:t>Lab 7: Avatar News Video with HeyGen (GG News Studio)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417320"/>
            <a:ext cx="7360920" cy="3246120"/>
          </a:xfrm>
          <a:prstGeom prst="round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4400" y="1755648"/>
            <a:ext cx="1078992" cy="107899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55648"/>
            <a:ext cx="1078992" cy="10789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31720" y="1719072"/>
            <a:ext cx="21945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1">
                <a:solidFill>
                  <a:srgbClr val="1F6FEB"/>
                </a:solidFill>
                <a:latin typeface="Arial"/>
              </a:defRPr>
            </a:pPr>
            <a:r>
              <a:t>YOU WILL BUILD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31720" y="2048256"/>
            <a:ext cx="5074920" cy="131673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700" b="1">
                <a:solidFill>
                  <a:srgbClr val="161B26"/>
                </a:solidFill>
                <a:latin typeface="Arial"/>
              </a:defRPr>
            </a:pPr>
            <a:r>
              <a:t>Facts in, broadcast out: gemma4 writes spoken copy, HeyGen renders a presenter reading it, and the page polls until the video plays.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1720" y="3474720"/>
            <a:ext cx="19202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  <a:latin typeface="Arial"/>
              </a:defRPr>
            </a:pPr>
            <a:r>
              <a:t>DELIVERABLE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3822191"/>
            <a:ext cx="507492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500" b="0">
                <a:solidFill>
                  <a:srgbClr val="5B6372"/>
                </a:solidFill>
                <a:latin typeface="Arial"/>
              </a:defRPr>
            </a:pPr>
            <a:r>
              <a:t>Your own news broadcast, played to the class, plus quality-review notes on the script and the render.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02752" y="1417320"/>
            <a:ext cx="32918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02752" y="1417320"/>
            <a:ext cx="73152" cy="96012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540496" y="1636776"/>
            <a:ext cx="438912" cy="43891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40496" y="1636776"/>
            <a:ext cx="438912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07424" y="1554480"/>
            <a:ext cx="226771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600" b="1">
                <a:solidFill>
                  <a:srgbClr val="161B26"/>
                </a:solidFill>
                <a:latin typeface="Arial"/>
              </a:defRPr>
            </a:pPr>
            <a:r>
              <a:t>TIMEBOX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07424" y="1920240"/>
            <a:ext cx="2267712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0">
                <a:solidFill>
                  <a:srgbClr val="5B6372"/>
                </a:solidFill>
                <a:latin typeface="Arial"/>
              </a:defRPr>
            </a:pPr>
            <a:r>
              <a:t>45 minutes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02752" y="2606040"/>
            <a:ext cx="32918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302752" y="2606040"/>
            <a:ext cx="73152" cy="96012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540496" y="2825496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40496" y="2825496"/>
            <a:ext cx="438912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07424" y="2743200"/>
            <a:ext cx="226771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600" b="1">
                <a:solidFill>
                  <a:srgbClr val="161B26"/>
                </a:solidFill>
                <a:latin typeface="Arial"/>
              </a:defRPr>
            </a:pPr>
            <a:r>
              <a:t>MODE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07424" y="3108960"/>
            <a:ext cx="2267712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0">
                <a:solidFill>
                  <a:srgbClr val="5B6372"/>
                </a:solidFill>
                <a:latin typeface="Arial"/>
              </a:defRPr>
            </a:pPr>
            <a:r>
              <a:t>Demo, guided build, independent test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302752" y="3794760"/>
            <a:ext cx="32918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302752" y="3794760"/>
            <a:ext cx="73152" cy="96012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540496" y="4014216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40496" y="4014216"/>
            <a:ext cx="438912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07424" y="3931920"/>
            <a:ext cx="226771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600" b="1">
                <a:solidFill>
                  <a:srgbClr val="161B26"/>
                </a:solidFill>
                <a:latin typeface="Arial"/>
              </a:defRPr>
            </a:pPr>
            <a:r>
              <a:t>EVIDENCE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07424" y="4297680"/>
            <a:ext cx="2267712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0">
                <a:solidFill>
                  <a:srgbClr val="5B6372"/>
                </a:solidFill>
                <a:latin typeface="Arial"/>
              </a:defRPr>
            </a:pPr>
            <a:r>
              <a:t>Execution trace plus learner artifact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5230368"/>
            <a:ext cx="731520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000" b="1">
                <a:solidFill>
                  <a:srgbClr val="7C3AED"/>
                </a:solidFill>
                <a:latin typeface="Arial"/>
              </a:defRPr>
            </a:pPr>
            <a:r>
              <a:t>Success is demonstrated, not assumed.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6428232"/>
            <a:ext cx="11183112" cy="13716"/>
          </a:xfrm>
          <a:prstGeom prst="rect">
            <a:avLst/>
          </a:prstGeom>
          <a:solidFill>
            <a:srgbClr val="DCE5F0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6483096"/>
            <a:ext cx="5212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00" b="0">
                <a:solidFill>
                  <a:srgbClr val="5B6372"/>
                </a:solidFill>
                <a:latin typeface="Arial"/>
              </a:defRPr>
            </a:pPr>
            <a:r>
              <a:t>C500 - Voice and Video Agents with n8n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6483096"/>
            <a:ext cx="3749039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800" b="0">
                <a:solidFill>
                  <a:srgbClr val="5B6372"/>
                </a:solidFill>
                <a:latin typeface="Arial"/>
              </a:defRPr>
            </a:pPr>
            <a:r>
              <a:t>Copyright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09960" y="6483096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800" b="1">
                <a:solidFill>
                  <a:srgbClr val="5B6372"/>
                </a:solidFill>
                <a:latin typeface="Arial"/>
              </a:defRPr>
            </a:pPr>
            <a:r>
              <a:t>075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01752"/>
            <a:ext cx="10972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1">
                <a:solidFill>
                  <a:srgbClr val="1F6FEB"/>
                </a:solidFill>
                <a:latin typeface="Arial"/>
              </a:defRPr>
            </a:pPr>
            <a:r>
              <a:t>CONCEPT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800" b="1">
                <a:solidFill>
                  <a:srgbClr val="161B26"/>
                </a:solidFill>
                <a:latin typeface="Arial"/>
              </a:defRPr>
            </a:pPr>
            <a:r>
              <a:t>Lab 7: Four Ideas That Make It Work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" y="1389888"/>
            <a:ext cx="5349240" cy="1901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1792" y="1389888"/>
            <a:ext cx="73152" cy="190195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59536" y="1609344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609344"/>
            <a:ext cx="438912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26464" y="1591056"/>
            <a:ext cx="432511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700" b="1">
                <a:solidFill>
                  <a:srgbClr val="161B26"/>
                </a:solidFill>
                <a:latin typeface="Arial"/>
              </a:defRPr>
            </a:pPr>
            <a:r>
              <a:t>Two texts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048256"/>
            <a:ext cx="4846320" cy="10789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400" b="0">
                <a:solidFill>
                  <a:srgbClr val="5B6372"/>
                </a:solidFill>
                <a:latin typeface="Arial"/>
              </a:defRPr>
            </a:pPr>
            <a:r>
              <a:t>You type FACTS; gemma4 writes SPOKEN COPY. The renderer speaks every character it is given - feed it raw facts and the avatar reads out a list.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389888"/>
            <a:ext cx="5349240" cy="1901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99632" y="1389888"/>
            <a:ext cx="73152" cy="19019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37376" y="1609344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37376" y="1609344"/>
            <a:ext cx="438912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4304" y="1591056"/>
            <a:ext cx="432511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700" b="1">
                <a:solidFill>
                  <a:srgbClr val="161B26"/>
                </a:solidFill>
                <a:latin typeface="Arial"/>
              </a:defRPr>
            </a:pPr>
            <a:r>
              <a:t>Generate + poll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2" y="2048256"/>
            <a:ext cx="4846320" cy="10789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400" b="0">
                <a:solidFill>
                  <a:srgbClr val="5B6372"/>
                </a:solidFill>
                <a:latin typeface="Arial"/>
              </a:defRPr>
            </a:pPr>
            <a:r>
              <a:t>Rendering is far too slow for one HTTP request: /heygen-generate returns a video ID at once, and the page polls /heygen-status.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" y="3675887"/>
            <a:ext cx="5349240" cy="1901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" y="3675887"/>
            <a:ext cx="73152" cy="1901952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59536" y="3895344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6" y="3895344"/>
            <a:ext cx="438912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26464" y="3877055"/>
            <a:ext cx="432511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700" b="1">
                <a:solidFill>
                  <a:srgbClr val="161B26"/>
                </a:solidFill>
                <a:latin typeface="Arial"/>
              </a:defRPr>
            </a:pPr>
            <a:r>
              <a:t>Spoken-copy rules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" y="4334255"/>
            <a:ext cx="4846320" cy="10789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400" b="0">
                <a:solidFill>
                  <a:srgbClr val="5B6372"/>
                </a:solidFill>
                <a:latin typeface="Arial"/>
              </a:defRPr>
            </a:pPr>
            <a:r>
              <a:t>No bullets, no URLs, no markdown - a stray asterisk becomes an audible 'asterisk'.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9632" y="3675887"/>
            <a:ext cx="5349240" cy="1901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99632" y="3675887"/>
            <a:ext cx="73152" cy="19019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37376" y="3895344"/>
            <a:ext cx="438912" cy="43891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37376" y="3895344"/>
            <a:ext cx="438912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04304" y="3877055"/>
            <a:ext cx="432511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700" b="1">
                <a:solidFill>
                  <a:srgbClr val="161B26"/>
                </a:solidFill>
                <a:latin typeface="Arial"/>
              </a:defRPr>
            </a:pPr>
            <a:r>
              <a:t>Honest progress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73952" y="4334255"/>
            <a:ext cx="4846320" cy="10789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400" b="0">
                <a:solidFill>
                  <a:srgbClr val="5B6372"/>
                </a:solidFill>
                <a:latin typeface="Arial"/>
              </a:defRPr>
            </a:pPr>
            <a:r>
              <a:t>HeyGen reports only processing or completed, so the bar estimates elapsed time and only reaches 100% when the render truly finishes.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5806440"/>
            <a:ext cx="80467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600" b="0">
                <a:solidFill>
                  <a:srgbClr val="5B6372"/>
                </a:solidFill>
                <a:latin typeface="Arial"/>
              </a:defRPr>
            </a:pPr>
            <a:r>
              <a:t>Connect the four ideas before touching the workflow canvas.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6428232"/>
            <a:ext cx="11183112" cy="13716"/>
          </a:xfrm>
          <a:prstGeom prst="rect">
            <a:avLst/>
          </a:prstGeom>
          <a:solidFill>
            <a:srgbClr val="DCE5F0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6483096"/>
            <a:ext cx="5212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00" b="0">
                <a:solidFill>
                  <a:srgbClr val="5B6372"/>
                </a:solidFill>
                <a:latin typeface="Arial"/>
              </a:defRPr>
            </a:pPr>
            <a:r>
              <a:t>C500 - Voice and Video Agents with n8n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51960" y="6483096"/>
            <a:ext cx="3749039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800" b="0">
                <a:solidFill>
                  <a:srgbClr val="5B6372"/>
                </a:solidFill>
                <a:latin typeface="Arial"/>
              </a:defRPr>
            </a:pPr>
            <a:r>
              <a:t>Copyright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09960" y="6483096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800" b="1">
                <a:solidFill>
                  <a:srgbClr val="5B6372"/>
                </a:solidFill>
                <a:latin typeface="Arial"/>
              </a:defRPr>
            </a:pPr>
            <a:r>
              <a:t>076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01752"/>
            <a:ext cx="10972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1">
                <a:solidFill>
                  <a:srgbClr val="1F6FEB"/>
                </a:solidFill>
                <a:latin typeface="Arial"/>
              </a:defRPr>
            </a:pPr>
            <a:r>
              <a:t>WORKFLOW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800" b="1">
                <a:solidFill>
                  <a:srgbClr val="161B26"/>
                </a:solidFill>
                <a:latin typeface="Arial"/>
              </a:defRPr>
            </a:pPr>
            <a:r>
              <a:t>Lab 7: Build Sequence</a:t>
            </a:r>
          </a:p>
        </p:txBody>
      </p:sp>
      <p:sp>
        <p:nvSpPr>
          <p:cNvPr id="4" name="Oval 3"/>
          <p:cNvSpPr/>
          <p:nvPr/>
        </p:nvSpPr>
        <p:spPr>
          <a:xfrm>
            <a:off x="658368" y="1463039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463039"/>
            <a:ext cx="53035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08176" y="1325880"/>
            <a:ext cx="4690872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8488" y="1417320"/>
            <a:ext cx="4279392" cy="11887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100" b="0">
                <a:solidFill>
                  <a:srgbClr val="161B26"/>
                </a:solidFill>
                <a:latin typeface="Arial"/>
              </a:defRPr>
            </a:pPr>
            <a:r>
              <a:t>Import lab7/heygen-news-avatar-flow.json and set it Active.</a:t>
            </a:r>
          </a:p>
        </p:txBody>
      </p:sp>
      <p:sp>
        <p:nvSpPr>
          <p:cNvPr id="8" name="Oval 7"/>
          <p:cNvSpPr/>
          <p:nvPr/>
        </p:nvSpPr>
        <p:spPr>
          <a:xfrm>
            <a:off x="6373368" y="1463039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73368" y="1463039"/>
            <a:ext cx="53035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23176" y="1325880"/>
            <a:ext cx="4690872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33488" y="1417320"/>
            <a:ext cx="4279392" cy="11887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100" b="0">
                <a:solidFill>
                  <a:srgbClr val="161B26"/>
                </a:solidFill>
                <a:latin typeface="Arial"/>
              </a:defRPr>
            </a:pPr>
            <a:r>
              <a:t>Add the HeyGen API credential, and confirm the Ollama local credential on the script node.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309067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3090672"/>
            <a:ext cx="53035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08176" y="2953512"/>
            <a:ext cx="4690872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18488" y="3044952"/>
            <a:ext cx="4279392" cy="11887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100" b="0">
                <a:solidFill>
                  <a:srgbClr val="161B26"/>
                </a:solidFill>
                <a:latin typeface="Arial"/>
              </a:defRPr>
            </a:pPr>
            <a:r>
              <a:t>Serve the site from lab7/website and open the GG News Studio.</a:t>
            </a:r>
          </a:p>
        </p:txBody>
      </p:sp>
      <p:sp>
        <p:nvSpPr>
          <p:cNvPr id="16" name="Oval 15"/>
          <p:cNvSpPr/>
          <p:nvPr/>
        </p:nvSpPr>
        <p:spPr>
          <a:xfrm>
            <a:off x="6373368" y="309067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73368" y="3090672"/>
            <a:ext cx="53035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23176" y="2953512"/>
            <a:ext cx="4690872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33488" y="3044952"/>
            <a:ext cx="4279392" cy="11887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100" b="0">
                <a:solidFill>
                  <a:srgbClr val="161B26"/>
                </a:solidFill>
                <a:latin typeface="Arial"/>
              </a:defRPr>
            </a:pPr>
            <a:r>
              <a:t>Write YOUR OWN news item - a story from your industry, your company or today's headlines - and generate; watch gemma4's spoken script appear in the teleprompter.</a:t>
            </a:r>
          </a:p>
        </p:txBody>
      </p:sp>
      <p:sp>
        <p:nvSpPr>
          <p:cNvPr id="20" name="Oval 19"/>
          <p:cNvSpPr/>
          <p:nvPr/>
        </p:nvSpPr>
        <p:spPr>
          <a:xfrm>
            <a:off x="658368" y="4718304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4718304"/>
            <a:ext cx="53035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408176" y="4581144"/>
            <a:ext cx="4690872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18488" y="4672583"/>
            <a:ext cx="4279392" cy="11887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100" b="0">
                <a:solidFill>
                  <a:srgbClr val="161B26"/>
                </a:solidFill>
                <a:latin typeface="Arial"/>
              </a:defRPr>
            </a:pPr>
            <a:r>
              <a:t>Watch the page poll /heygen-status until the video is completed, then play it. Read the script aloud: does it SOUND spoken?</a:t>
            </a:r>
          </a:p>
        </p:txBody>
      </p:sp>
      <p:sp>
        <p:nvSpPr>
          <p:cNvPr id="24" name="Oval 23"/>
          <p:cNvSpPr/>
          <p:nvPr/>
        </p:nvSpPr>
        <p:spPr>
          <a:xfrm>
            <a:off x="6373368" y="4718304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73368" y="4718304"/>
            <a:ext cx="53035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23176" y="4581144"/>
            <a:ext cx="4690872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33488" y="4672583"/>
            <a:ext cx="4279392" cy="11887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100" b="0">
                <a:solidFill>
                  <a:srgbClr val="161B26"/>
                </a:solidFill>
                <a:latin typeface="Arial"/>
              </a:defRPr>
            </a:pPr>
            <a:r>
              <a:t>SHARE IT: play your broadcast to the class, and note one piece of feedback you would act on.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6053328"/>
            <a:ext cx="59436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500" b="1">
                <a:solidFill>
                  <a:srgbClr val="7C3AED"/>
                </a:solidFill>
                <a:latin typeface="Arial"/>
              </a:defRPr>
            </a:pPr>
            <a:r>
              <a:t>Build one observable behavior at a time.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6428232"/>
            <a:ext cx="11183112" cy="13716"/>
          </a:xfrm>
          <a:prstGeom prst="rect">
            <a:avLst/>
          </a:prstGeom>
          <a:solidFill>
            <a:srgbClr val="DCE5F0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6483096"/>
            <a:ext cx="5212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00" b="0">
                <a:solidFill>
                  <a:srgbClr val="5B6372"/>
                </a:solidFill>
                <a:latin typeface="Arial"/>
              </a:defRPr>
            </a:pPr>
            <a:r>
              <a:t>C500 - Voice and Video Agents with n8n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51960" y="6483096"/>
            <a:ext cx="3749039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800" b="0">
                <a:solidFill>
                  <a:srgbClr val="5B6372"/>
                </a:solidFill>
                <a:latin typeface="Arial"/>
              </a:defRPr>
            </a:pPr>
            <a:r>
              <a:t>Copyright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09960" y="6483096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800" b="1">
                <a:solidFill>
                  <a:srgbClr val="5B6372"/>
                </a:solidFill>
                <a:latin typeface="Arial"/>
              </a:defRPr>
            </a:pPr>
            <a:r>
              <a:t>077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01752"/>
            <a:ext cx="10972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1">
                <a:solidFill>
                  <a:srgbClr val="1F6FEB"/>
                </a:solidFill>
                <a:latin typeface="Arial"/>
              </a:defRPr>
            </a:pPr>
            <a:r>
              <a:t>LAB 7 - AVATAR NEWS VIDEO WITH HEYGEN (GG NEWS STUDIO)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800" b="1">
                <a:solidFill>
                  <a:srgbClr val="161B26"/>
                </a:solidFill>
                <a:latin typeface="Arial"/>
              </a:defRPr>
            </a:pPr>
            <a:r>
              <a:t>Lab 7 - the GG News Studio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667589" y="1271016"/>
            <a:ext cx="6856517" cy="427024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ab7-heygen-s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2453" y="1325880"/>
            <a:ext cx="6746789" cy="4160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13232" y="5806440"/>
            <a:ext cx="1078992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500" b="0">
                <a:solidFill>
                  <a:srgbClr val="5B6372"/>
                </a:solidFill>
                <a:latin typeface="Arial"/>
              </a:defRPr>
            </a:pPr>
            <a:r>
              <a:t>Lab 7 - the GG News Studio: gemma4's script in the teleprompter and an honest render progress bar.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28232"/>
            <a:ext cx="11183112" cy="13716"/>
          </a:xfrm>
          <a:prstGeom prst="rect">
            <a:avLst/>
          </a:prstGeom>
          <a:solidFill>
            <a:srgbClr val="DCE5F0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83096"/>
            <a:ext cx="5212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00" b="0">
                <a:solidFill>
                  <a:srgbClr val="5B6372"/>
                </a:solidFill>
                <a:latin typeface="Arial"/>
              </a:defRPr>
            </a:pPr>
            <a:r>
              <a:t>C500 - Voice and Video Agents with n8n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51960" y="6483096"/>
            <a:ext cx="3749039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800" b="0">
                <a:solidFill>
                  <a:srgbClr val="5B6372"/>
                </a:solidFill>
                <a:latin typeface="Arial"/>
              </a:defRPr>
            </a:pPr>
            <a:r>
              <a:t>Copyright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483096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800" b="1">
                <a:solidFill>
                  <a:srgbClr val="5B6372"/>
                </a:solidFill>
                <a:latin typeface="Arial"/>
              </a:defRPr>
            </a:pPr>
            <a:r>
              <a:t>078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01752"/>
            <a:ext cx="10972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1">
                <a:solidFill>
                  <a:srgbClr val="1F6FEB"/>
                </a:solidFill>
                <a:latin typeface="Arial"/>
              </a:defRPr>
            </a:pPr>
            <a:r>
              <a:t>QUALITY GATE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800" b="1">
                <a:solidFill>
                  <a:srgbClr val="161B26"/>
                </a:solidFill>
                <a:latin typeface="Arial"/>
              </a:defRPr>
            </a:pPr>
            <a:r>
              <a:t>Lab 7: Prove, Evaluate, Improve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" y="1353312"/>
            <a:ext cx="6995160" cy="4498848"/>
          </a:xfrm>
          <a:prstGeom prst="round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32688" y="1664208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664208"/>
            <a:ext cx="457200" cy="4572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27632" y="1645920"/>
            <a:ext cx="5440680" cy="7772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500" b="0">
                <a:solidFill>
                  <a:srgbClr val="161B26"/>
                </a:solidFill>
                <a:latin typeface="Arial"/>
              </a:defRPr>
            </a:pPr>
            <a:r>
              <a:t>The script reads as speech - no bullets, URLs or markdown.</a:t>
            </a:r>
          </a:p>
        </p:txBody>
      </p:sp>
      <p:sp>
        <p:nvSpPr>
          <p:cNvPr id="8" name="Oval 7"/>
          <p:cNvSpPr/>
          <p:nvPr/>
        </p:nvSpPr>
        <p:spPr>
          <a:xfrm>
            <a:off x="932688" y="2496312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496312"/>
            <a:ext cx="457200" cy="4572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27632" y="2478024"/>
            <a:ext cx="5440680" cy="7772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500" b="0">
                <a:solidFill>
                  <a:srgbClr val="161B26"/>
                </a:solidFill>
                <a:latin typeface="Arial"/>
              </a:defRPr>
            </a:pPr>
            <a:r>
              <a:t>The page polls and eventually plays the finished video.</a:t>
            </a:r>
          </a:p>
        </p:txBody>
      </p:sp>
      <p:sp>
        <p:nvSpPr>
          <p:cNvPr id="11" name="Oval 10"/>
          <p:cNvSpPr/>
          <p:nvPr/>
        </p:nvSpPr>
        <p:spPr>
          <a:xfrm>
            <a:off x="932688" y="3328416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3328416"/>
            <a:ext cx="457200" cy="4572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27632" y="3310128"/>
            <a:ext cx="5440680" cy="7772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500" b="0">
                <a:solidFill>
                  <a:srgbClr val="161B26"/>
                </a:solidFill>
                <a:latin typeface="Arial"/>
              </a:defRPr>
            </a:pPr>
            <a:r>
              <a:t>YOUR OWN news broadcast is generated and played to the class.</a:t>
            </a:r>
          </a:p>
        </p:txBody>
      </p:sp>
      <p:sp>
        <p:nvSpPr>
          <p:cNvPr id="14" name="Oval 13"/>
          <p:cNvSpPr/>
          <p:nvPr/>
        </p:nvSpPr>
        <p:spPr>
          <a:xfrm>
            <a:off x="932688" y="4160520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4160520"/>
            <a:ext cx="457200" cy="4572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OK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27632" y="4142232"/>
            <a:ext cx="5440680" cy="7772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500" b="0">
                <a:solidFill>
                  <a:srgbClr val="161B26"/>
                </a:solidFill>
                <a:latin typeface="Arial"/>
              </a:defRPr>
            </a:pPr>
            <a:r>
              <a:t>Run one edge case and record the change made after evaluation.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73568" y="1353312"/>
            <a:ext cx="3611880" cy="4498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2752" y="1682496"/>
            <a:ext cx="29260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1">
                <a:solidFill>
                  <a:srgbClr val="1F6FEB"/>
                </a:solidFill>
                <a:latin typeface="Arial"/>
              </a:defRPr>
            </a:pPr>
            <a:r>
              <a:t>EVIDENCE STACK</a:t>
            </a:r>
          </a:p>
        </p:txBody>
      </p:sp>
      <p:sp>
        <p:nvSpPr>
          <p:cNvPr id="19" name="Oval 18"/>
          <p:cNvSpPr/>
          <p:nvPr/>
        </p:nvSpPr>
        <p:spPr>
          <a:xfrm>
            <a:off x="8302752" y="2176272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02752" y="2176272"/>
            <a:ext cx="411480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87968" y="2157984"/>
            <a:ext cx="914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400" b="1">
                <a:solidFill>
                  <a:srgbClr val="161B26"/>
                </a:solidFill>
                <a:latin typeface="Arial"/>
              </a:defRPr>
            </a:pPr>
            <a:r>
              <a:t>Input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02368" y="2157984"/>
            <a:ext cx="1353312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0">
                <a:solidFill>
                  <a:srgbClr val="5B6372"/>
                </a:solidFill>
                <a:latin typeface="Arial"/>
              </a:defRPr>
            </a:pPr>
            <a:r>
              <a:t>Exact test payload</a:t>
            </a:r>
          </a:p>
        </p:txBody>
      </p:sp>
      <p:sp>
        <p:nvSpPr>
          <p:cNvPr id="23" name="Oval 22"/>
          <p:cNvSpPr/>
          <p:nvPr/>
        </p:nvSpPr>
        <p:spPr>
          <a:xfrm>
            <a:off x="8302752" y="2971800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02752" y="2971800"/>
            <a:ext cx="411480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87968" y="2953512"/>
            <a:ext cx="914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400" b="1">
                <a:solidFill>
                  <a:srgbClr val="161B26"/>
                </a:solidFill>
                <a:latin typeface="Arial"/>
              </a:defRPr>
            </a:pPr>
            <a:r>
              <a:t>Trace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02368" y="2953512"/>
            <a:ext cx="1353312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0">
                <a:solidFill>
                  <a:srgbClr val="5B6372"/>
                </a:solidFill>
                <a:latin typeface="Arial"/>
              </a:defRPr>
            </a:pPr>
            <a:r>
              <a:t>Node execution path</a:t>
            </a:r>
          </a:p>
        </p:txBody>
      </p:sp>
      <p:sp>
        <p:nvSpPr>
          <p:cNvPr id="27" name="Oval 26"/>
          <p:cNvSpPr/>
          <p:nvPr/>
        </p:nvSpPr>
        <p:spPr>
          <a:xfrm>
            <a:off x="8302752" y="3767328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02752" y="3767328"/>
            <a:ext cx="411480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87968" y="3749040"/>
            <a:ext cx="914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400" b="1">
                <a:solidFill>
                  <a:srgbClr val="161B26"/>
                </a:solidFill>
                <a:latin typeface="Arial"/>
              </a:defRPr>
            </a:pPr>
            <a:r>
              <a:t>Output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02368" y="3749040"/>
            <a:ext cx="1353312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0">
                <a:solidFill>
                  <a:srgbClr val="5B6372"/>
                </a:solidFill>
                <a:latin typeface="Arial"/>
              </a:defRPr>
            </a:pPr>
            <a:r>
              <a:t>Generated result</a:t>
            </a:r>
          </a:p>
        </p:txBody>
      </p:sp>
      <p:sp>
        <p:nvSpPr>
          <p:cNvPr id="31" name="Oval 30"/>
          <p:cNvSpPr/>
          <p:nvPr/>
        </p:nvSpPr>
        <p:spPr>
          <a:xfrm>
            <a:off x="8302752" y="4562856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2752" y="4562856"/>
            <a:ext cx="411480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87968" y="4544568"/>
            <a:ext cx="914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400" b="1">
                <a:solidFill>
                  <a:srgbClr val="161B26"/>
                </a:solidFill>
                <a:latin typeface="Arial"/>
              </a:defRPr>
            </a:pPr>
            <a:r>
              <a:t>Decision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02368" y="4544568"/>
            <a:ext cx="1353312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0">
                <a:solidFill>
                  <a:srgbClr val="5B6372"/>
                </a:solidFill>
                <a:latin typeface="Arial"/>
              </a:defRPr>
            </a:pPr>
            <a:r>
              <a:t>Rubric and revision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02752" y="5413248"/>
            <a:ext cx="9144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Arial"/>
              </a:defRPr>
            </a:pPr>
            <a:r>
              <a:t>PASS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253728" y="5458968"/>
            <a:ext cx="1938528" cy="10972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02920" y="6428232"/>
            <a:ext cx="11183112" cy="13716"/>
          </a:xfrm>
          <a:prstGeom prst="rect">
            <a:avLst/>
          </a:prstGeom>
          <a:solidFill>
            <a:srgbClr val="DCE5F0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6483096"/>
            <a:ext cx="5212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00" b="0">
                <a:solidFill>
                  <a:srgbClr val="5B6372"/>
                </a:solidFill>
                <a:latin typeface="Arial"/>
              </a:defRPr>
            </a:pPr>
            <a:r>
              <a:t>C500 - Voice and Video Agents with n8n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51960" y="6483096"/>
            <a:ext cx="3749039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800" b="0">
                <a:solidFill>
                  <a:srgbClr val="5B6372"/>
                </a:solidFill>
                <a:latin typeface="Arial"/>
              </a:defRPr>
            </a:pPr>
            <a:r>
              <a:t>Copyright 2026 Tertiary Infotech Academy Pte Ltd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109960" y="6483096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800" b="1">
                <a:solidFill>
                  <a:srgbClr val="5B6372"/>
                </a:solidFill>
                <a:latin typeface="Arial"/>
              </a:defRPr>
            </a:pPr>
            <a:r>
              <a:t>079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01752"/>
            <a:ext cx="10972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1">
                <a:solidFill>
                  <a:srgbClr val="1F6FEB"/>
                </a:solidFill>
                <a:latin typeface="Arial"/>
              </a:defRPr>
            </a:pPr>
            <a:r>
              <a:t>TROUBLESHOOTING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800" b="1">
                <a:solidFill>
                  <a:srgbClr val="161B26"/>
                </a:solidFill>
                <a:latin typeface="Arial"/>
              </a:defRPr>
            </a:pPr>
            <a:r>
              <a:t>Lab 7: Diagnose Before Rebuilding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" y="1344168"/>
            <a:ext cx="3456432" cy="438912"/>
          </a:xfrm>
          <a:prstGeom prst="roundRect">
            <a:avLst/>
          </a:prstGeom>
          <a:solidFill>
            <a:srgbClr val="E25555"/>
          </a:solidFill>
          <a:ln>
            <a:solidFill>
              <a:srgbClr val="E2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408176"/>
            <a:ext cx="345643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SYMPTOM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15968" y="1344168"/>
            <a:ext cx="3456432" cy="438912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15968" y="1408176"/>
            <a:ext cx="345643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LIKELY CAUSE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10144" y="1344168"/>
            <a:ext cx="3456432" cy="43891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10144" y="1408176"/>
            <a:ext cx="345643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TARGETED FIX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993392"/>
            <a:ext cx="3456432" cy="1024128"/>
          </a:xfrm>
          <a:prstGeom prst="roundRect">
            <a:avLst/>
          </a:prstGeom>
          <a:solidFill>
            <a:srgbClr val="FFF4F4"/>
          </a:solidFill>
          <a:ln>
            <a:solidFill>
              <a:srgbClr val="FF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2084832"/>
            <a:ext cx="3127248" cy="8412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200" b="1">
                <a:solidFill>
                  <a:srgbClr val="161B26"/>
                </a:solidFill>
                <a:latin typeface="Arial"/>
              </a:defRPr>
            </a:pPr>
            <a:r>
              <a:t>The request times out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15968" y="1993392"/>
            <a:ext cx="3456432" cy="1024128"/>
          </a:xfrm>
          <a:prstGeom prst="roundRect">
            <a:avLst/>
          </a:prstGeom>
          <a:solidFill>
            <a:srgbClr val="FFF8E8"/>
          </a:solidFill>
          <a:ln>
            <a:solidFill>
              <a:srgbClr val="FFF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59" y="2084832"/>
            <a:ext cx="3127248" cy="8412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200" b="0">
                <a:solidFill>
                  <a:srgbClr val="161B26"/>
                </a:solidFill>
                <a:latin typeface="Arial"/>
              </a:defRPr>
            </a:pPr>
            <a:r>
              <a:t>The flow tried to render inside a single HTTP request.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10144" y="1993392"/>
            <a:ext cx="3456432" cy="1024128"/>
          </a:xfrm>
          <a:prstGeom prst="roundRect">
            <a:avLst/>
          </a:prstGeom>
          <a:solidFill>
            <a:srgbClr val="ECFDF5"/>
          </a:solidFill>
          <a:ln>
            <a:solidFill>
              <a:srgbClr val="ECF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74736" y="2084832"/>
            <a:ext cx="3127248" cy="8412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200" b="0">
                <a:solidFill>
                  <a:srgbClr val="161B26"/>
                </a:solidFill>
                <a:latin typeface="Arial"/>
              </a:defRPr>
            </a:pPr>
            <a:r>
              <a:t>Keep the split shape: generate returns the ID immediately; the page polls status.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" y="3300984"/>
            <a:ext cx="3456432" cy="1024128"/>
          </a:xfrm>
          <a:prstGeom prst="roundRect">
            <a:avLst/>
          </a:prstGeom>
          <a:solidFill>
            <a:srgbClr val="FFF4F4"/>
          </a:solidFill>
          <a:ln>
            <a:solidFill>
              <a:srgbClr val="FF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" y="3392424"/>
            <a:ext cx="3127248" cy="8412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200" b="1">
                <a:solidFill>
                  <a:srgbClr val="161B26"/>
                </a:solidFill>
                <a:latin typeface="Arial"/>
              </a:defRPr>
            </a:pPr>
            <a:r>
              <a:t>The avatar says 'asterisk'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15968" y="3300984"/>
            <a:ext cx="3456432" cy="1024128"/>
          </a:xfrm>
          <a:prstGeom prst="roundRect">
            <a:avLst/>
          </a:prstGeom>
          <a:solidFill>
            <a:srgbClr val="FFF8E8"/>
          </a:solidFill>
          <a:ln>
            <a:solidFill>
              <a:srgbClr val="FFF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59" y="3392424"/>
            <a:ext cx="3127248" cy="8412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200" b="0">
                <a:solidFill>
                  <a:srgbClr val="161B26"/>
                </a:solidFill>
                <a:latin typeface="Arial"/>
              </a:defRPr>
            </a:pPr>
            <a:r>
              <a:t>Markdown leaked into the script.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10144" y="3300984"/>
            <a:ext cx="3456432" cy="1024128"/>
          </a:xfrm>
          <a:prstGeom prst="roundRect">
            <a:avLst/>
          </a:prstGeom>
          <a:solidFill>
            <a:srgbClr val="ECFDF5"/>
          </a:solidFill>
          <a:ln>
            <a:solidFill>
              <a:srgbClr val="ECF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74736" y="3392424"/>
            <a:ext cx="3127248" cy="8412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200" b="0">
                <a:solidFill>
                  <a:srgbClr val="161B26"/>
                </a:solidFill>
                <a:latin typeface="Arial"/>
              </a:defRPr>
            </a:pPr>
            <a:r>
              <a:t>Tighten the system prompt: spoken copy only, no formatting characters.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" y="4608576"/>
            <a:ext cx="3456432" cy="1024128"/>
          </a:xfrm>
          <a:prstGeom prst="roundRect">
            <a:avLst/>
          </a:prstGeom>
          <a:solidFill>
            <a:srgbClr val="FFF4F4"/>
          </a:solidFill>
          <a:ln>
            <a:solidFill>
              <a:srgbClr val="FF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6384" y="4700016"/>
            <a:ext cx="3127248" cy="8412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200" b="1">
                <a:solidFill>
                  <a:srgbClr val="161B26"/>
                </a:solidFill>
                <a:latin typeface="Arial"/>
              </a:defRPr>
            </a:pPr>
            <a:r>
              <a:t>Status never reaches completed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15968" y="4608576"/>
            <a:ext cx="3456432" cy="1024128"/>
          </a:xfrm>
          <a:prstGeom prst="roundRect">
            <a:avLst/>
          </a:prstGeom>
          <a:solidFill>
            <a:srgbClr val="FFF8E8"/>
          </a:solidFill>
          <a:ln>
            <a:solidFill>
              <a:srgbClr val="FFF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80559" y="4700016"/>
            <a:ext cx="3127248" cy="8412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200" b="0">
                <a:solidFill>
                  <a:srgbClr val="161B26"/>
                </a:solidFill>
                <a:latin typeface="Arial"/>
              </a:defRPr>
            </a:pPr>
            <a:r>
              <a:t>Wrong video ID, or HeyGen credits ran out.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10144" y="4608576"/>
            <a:ext cx="3456432" cy="1024128"/>
          </a:xfrm>
          <a:prstGeom prst="roundRect">
            <a:avLst/>
          </a:prstGeom>
          <a:solidFill>
            <a:srgbClr val="ECFDF5"/>
          </a:solidFill>
          <a:ln>
            <a:solidFill>
              <a:srgbClr val="ECF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74736" y="4700016"/>
            <a:ext cx="3127248" cy="8412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200" b="0">
                <a:solidFill>
                  <a:srgbClr val="161B26"/>
                </a:solidFill>
                <a:latin typeface="Arial"/>
              </a:defRPr>
            </a:pPr>
            <a:r>
              <a:t>Read the status execution in n8n and check the HeyGen account.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5989320"/>
            <a:ext cx="86868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600" b="1">
                <a:solidFill>
                  <a:srgbClr val="7C3AED"/>
                </a:solidFill>
                <a:latin typeface="Arial"/>
              </a:defRPr>
            </a:pPr>
            <a:r>
              <a:t>Change one variable, rerun the same test, compare the trace.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6428232"/>
            <a:ext cx="11183112" cy="13716"/>
          </a:xfrm>
          <a:prstGeom prst="rect">
            <a:avLst/>
          </a:prstGeom>
          <a:solidFill>
            <a:srgbClr val="DCE5F0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6483096"/>
            <a:ext cx="5212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00" b="0">
                <a:solidFill>
                  <a:srgbClr val="5B6372"/>
                </a:solidFill>
                <a:latin typeface="Arial"/>
              </a:defRPr>
            </a:pPr>
            <a:r>
              <a:t>C500 - Voice and Video Agents with n8n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51960" y="6483096"/>
            <a:ext cx="3749039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800" b="0">
                <a:solidFill>
                  <a:srgbClr val="5B6372"/>
                </a:solidFill>
                <a:latin typeface="Arial"/>
              </a:defRPr>
            </a:pPr>
            <a:r>
              <a:t>Copyright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09960" y="6483096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800" b="1">
                <a:solidFill>
                  <a:srgbClr val="5B6372"/>
                </a:solidFill>
                <a:latin typeface="Arial"/>
              </a:defRPr>
            </a:pPr>
            <a:r>
              <a:t>080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01752"/>
            <a:ext cx="10972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1">
                <a:solidFill>
                  <a:srgbClr val="1F6FEB"/>
                </a:solidFill>
                <a:latin typeface="Arial"/>
              </a:defRPr>
            </a:pPr>
            <a:r>
              <a:t>BUILD TARGET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800" b="1">
                <a:solidFill>
                  <a:srgbClr val="161B26"/>
                </a:solidFill>
                <a:latin typeface="Arial"/>
              </a:defRPr>
            </a:pPr>
            <a:r>
              <a:t>Lab 7-os: Open-Source News Avatar - Free and Local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417320"/>
            <a:ext cx="7360920" cy="3246120"/>
          </a:xfrm>
          <a:prstGeom prst="round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4400" y="1755648"/>
            <a:ext cx="1078992" cy="107899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55648"/>
            <a:ext cx="1078992" cy="10789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Arial"/>
              </a:defRPr>
            </a:pPr>
            <a:r>
              <a:t>7-os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31720" y="1719072"/>
            <a:ext cx="21945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1">
                <a:solidFill>
                  <a:srgbClr val="1F6FEB"/>
                </a:solidFill>
                <a:latin typeface="Arial"/>
              </a:defRPr>
            </a:pPr>
            <a:r>
              <a:t>YOU WILL BUILD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31720" y="2048256"/>
            <a:ext cx="5074920" cy="131673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2000" b="1">
                <a:solidFill>
                  <a:srgbClr val="161B26"/>
                </a:solidFill>
                <a:latin typeface="Arial"/>
              </a:defRPr>
            </a:pPr>
            <a:r>
              <a:t>The same news video with zero cloud and zero credits: TTS, Wav2Lip and ffmpeg on your own machine, driven by n8n.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1720" y="3474720"/>
            <a:ext cx="19202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  <a:latin typeface="Arial"/>
              </a:defRPr>
            </a:pPr>
            <a:r>
              <a:t>DELIVERABLE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3822191"/>
            <a:ext cx="507492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500" b="0">
                <a:solidFill>
                  <a:srgbClr val="5B6372"/>
                </a:solidFill>
                <a:latin typeface="Arial"/>
              </a:defRPr>
            </a:pPr>
            <a:r>
              <a:t>A locally rendered news video and a written HeyGen-versus-local comparison.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02752" y="1417320"/>
            <a:ext cx="32918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02752" y="1417320"/>
            <a:ext cx="73152" cy="96012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540496" y="1636776"/>
            <a:ext cx="438912" cy="43891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40496" y="1636776"/>
            <a:ext cx="438912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07424" y="1554480"/>
            <a:ext cx="226771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600" b="1">
                <a:solidFill>
                  <a:srgbClr val="161B26"/>
                </a:solidFill>
                <a:latin typeface="Arial"/>
              </a:defRPr>
            </a:pPr>
            <a:r>
              <a:t>TIMEBOX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07424" y="1920240"/>
            <a:ext cx="2267712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0">
                <a:solidFill>
                  <a:srgbClr val="5B6372"/>
                </a:solidFill>
                <a:latin typeface="Arial"/>
              </a:defRPr>
            </a:pPr>
            <a:r>
              <a:t>45 minutes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02752" y="2606040"/>
            <a:ext cx="32918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302752" y="2606040"/>
            <a:ext cx="73152" cy="96012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540496" y="2825496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40496" y="2825496"/>
            <a:ext cx="438912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07424" y="2743200"/>
            <a:ext cx="226771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600" b="1">
                <a:solidFill>
                  <a:srgbClr val="161B26"/>
                </a:solidFill>
                <a:latin typeface="Arial"/>
              </a:defRPr>
            </a:pPr>
            <a:r>
              <a:t>MODE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07424" y="3108960"/>
            <a:ext cx="2267712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0">
                <a:solidFill>
                  <a:srgbClr val="5B6372"/>
                </a:solidFill>
                <a:latin typeface="Arial"/>
              </a:defRPr>
            </a:pPr>
            <a:r>
              <a:t>Demo, guided build, independent test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302752" y="3794760"/>
            <a:ext cx="32918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302752" y="3794760"/>
            <a:ext cx="73152" cy="96012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540496" y="4014216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40496" y="4014216"/>
            <a:ext cx="438912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07424" y="3931920"/>
            <a:ext cx="226771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600" b="1">
                <a:solidFill>
                  <a:srgbClr val="161B26"/>
                </a:solidFill>
                <a:latin typeface="Arial"/>
              </a:defRPr>
            </a:pPr>
            <a:r>
              <a:t>EVIDENCE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07424" y="4297680"/>
            <a:ext cx="2267712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0">
                <a:solidFill>
                  <a:srgbClr val="5B6372"/>
                </a:solidFill>
                <a:latin typeface="Arial"/>
              </a:defRPr>
            </a:pPr>
            <a:r>
              <a:t>Execution trace plus learner artifact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5230368"/>
            <a:ext cx="731520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000" b="1">
                <a:solidFill>
                  <a:srgbClr val="7C3AED"/>
                </a:solidFill>
                <a:latin typeface="Arial"/>
              </a:defRPr>
            </a:pPr>
            <a:r>
              <a:t>Success is demonstrated, not assumed.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6428232"/>
            <a:ext cx="11183112" cy="13716"/>
          </a:xfrm>
          <a:prstGeom prst="rect">
            <a:avLst/>
          </a:prstGeom>
          <a:solidFill>
            <a:srgbClr val="DCE5F0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6483096"/>
            <a:ext cx="5212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00" b="0">
                <a:solidFill>
                  <a:srgbClr val="5B6372"/>
                </a:solidFill>
                <a:latin typeface="Arial"/>
              </a:defRPr>
            </a:pPr>
            <a:r>
              <a:t>C500 - Voice and Video Agents with n8n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6483096"/>
            <a:ext cx="3749039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800" b="0">
                <a:solidFill>
                  <a:srgbClr val="5B6372"/>
                </a:solidFill>
                <a:latin typeface="Arial"/>
              </a:defRPr>
            </a:pPr>
            <a:r>
              <a:t>Copyright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09960" y="6483096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800" b="1">
                <a:solidFill>
                  <a:srgbClr val="5B6372"/>
                </a:solidFill>
                <a:latin typeface="Arial"/>
              </a:defRPr>
            </a:pPr>
            <a:r>
              <a:t>081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01752"/>
            <a:ext cx="10972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1">
                <a:solidFill>
                  <a:srgbClr val="1F6FEB"/>
                </a:solidFill>
                <a:latin typeface="Arial"/>
              </a:defRPr>
            </a:pPr>
            <a:r>
              <a:t>CONCEPT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800" b="1">
                <a:solidFill>
                  <a:srgbClr val="161B26"/>
                </a:solidFill>
                <a:latin typeface="Arial"/>
              </a:defRPr>
            </a:pPr>
            <a:r>
              <a:t>Lab 7-os: Four Ideas That Make It Work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" y="1389888"/>
            <a:ext cx="5349240" cy="1901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1792" y="1389888"/>
            <a:ext cx="73152" cy="190195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59536" y="1609344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609344"/>
            <a:ext cx="438912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26464" y="1591056"/>
            <a:ext cx="432511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700" b="1">
                <a:solidFill>
                  <a:srgbClr val="161B26"/>
                </a:solidFill>
                <a:latin typeface="Arial"/>
              </a:defRPr>
            </a:pPr>
            <a:r>
              <a:t>Local render service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048256"/>
            <a:ext cx="4846320" cy="10789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400" b="0">
                <a:solidFill>
                  <a:srgbClr val="5B6372"/>
                </a:solidFill>
                <a:latin typeface="Arial"/>
              </a:defRPr>
            </a:pPr>
            <a:r>
              <a:t>start.command / start.bat runs the pipeline - TTS to speech.wav, Wav2Lip lip-sync, ffmpeg to 1920x1080 - at localhost:8099/render.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389888"/>
            <a:ext cx="5349240" cy="1901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99632" y="1389888"/>
            <a:ext cx="73152" cy="19019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37376" y="1609344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37376" y="1609344"/>
            <a:ext cx="438912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4304" y="1591056"/>
            <a:ext cx="432511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700" b="1">
                <a:solidFill>
                  <a:srgbClr val="161B26"/>
                </a:solidFill>
                <a:latin typeface="Arial"/>
              </a:defRPr>
            </a:pPr>
            <a:r>
              <a:t>n8n calls OUT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2" y="2048256"/>
            <a:ext cx="4846320" cy="10789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400" b="0">
                <a:solidFill>
                  <a:srgbClr val="5B6372"/>
                </a:solidFill>
                <a:latin typeface="Arial"/>
              </a:defRPr>
            </a:pPr>
            <a:r>
              <a:t>n8n reaches your machine at host.docker.internal - the opposite direction from Lab 4's tools, so no tunnel is needed.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" y="3675887"/>
            <a:ext cx="5349240" cy="1901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" y="3675887"/>
            <a:ext cx="73152" cy="1901952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59536" y="3895344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6" y="3895344"/>
            <a:ext cx="438912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26464" y="3877055"/>
            <a:ext cx="432511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700" b="1">
                <a:solidFill>
                  <a:srgbClr val="161B26"/>
                </a:solidFill>
                <a:latin typeface="Arial"/>
              </a:defRPr>
            </a:pPr>
            <a:r>
              <a:t>One-response shape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" y="4334255"/>
            <a:ext cx="4846320" cy="10789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400" b="0">
                <a:solidFill>
                  <a:srgbClr val="5B6372"/>
                </a:solidFill>
                <a:latin typeface="Arial"/>
              </a:defRPr>
            </a:pPr>
            <a:r>
              <a:t>A ~16 s local render is fast enough to answer in a single response - no video ID, no polling.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9632" y="3675887"/>
            <a:ext cx="5349240" cy="1901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99632" y="3675887"/>
            <a:ext cx="73152" cy="19019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37376" y="3895344"/>
            <a:ext cx="438912" cy="43891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37376" y="3895344"/>
            <a:ext cx="438912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04304" y="3877055"/>
            <a:ext cx="432511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700" b="1">
                <a:solidFill>
                  <a:srgbClr val="161B26"/>
                </a:solidFill>
                <a:latin typeface="Arial"/>
              </a:defRPr>
            </a:pPr>
            <a:r>
              <a:t>The trade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73952" y="4334255"/>
            <a:ext cx="4846320" cy="10789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400" b="0">
                <a:solidFill>
                  <a:srgbClr val="5B6372"/>
                </a:solidFill>
                <a:latin typeface="Arial"/>
              </a:defRPr>
            </a:pPr>
            <a:r>
              <a:t>Wav2Lip's mouth is generated at 96x96 and soft at 1080p - but the render is free, private and fast.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5806440"/>
            <a:ext cx="80467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600" b="0">
                <a:solidFill>
                  <a:srgbClr val="5B6372"/>
                </a:solidFill>
                <a:latin typeface="Arial"/>
              </a:defRPr>
            </a:pPr>
            <a:r>
              <a:t>Connect the four ideas before touching the workflow canvas.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6428232"/>
            <a:ext cx="11183112" cy="13716"/>
          </a:xfrm>
          <a:prstGeom prst="rect">
            <a:avLst/>
          </a:prstGeom>
          <a:solidFill>
            <a:srgbClr val="DCE5F0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6483096"/>
            <a:ext cx="5212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00" b="0">
                <a:solidFill>
                  <a:srgbClr val="5B6372"/>
                </a:solidFill>
                <a:latin typeface="Arial"/>
              </a:defRPr>
            </a:pPr>
            <a:r>
              <a:t>C500 - Voice and Video Agents with n8n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51960" y="6483096"/>
            <a:ext cx="3749039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800" b="0">
                <a:solidFill>
                  <a:srgbClr val="5B6372"/>
                </a:solidFill>
                <a:latin typeface="Arial"/>
              </a:defRPr>
            </a:pPr>
            <a:r>
              <a:t>Copyright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09960" y="6483096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800" b="1">
                <a:solidFill>
                  <a:srgbClr val="5B6372"/>
                </a:solidFill>
                <a:latin typeface="Arial"/>
              </a:defRPr>
            </a:pPr>
            <a:r>
              <a:t>082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01752"/>
            <a:ext cx="10972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1">
                <a:solidFill>
                  <a:srgbClr val="1F6FEB"/>
                </a:solidFill>
                <a:latin typeface="Arial"/>
              </a:defRPr>
            </a:pPr>
            <a:r>
              <a:t>WORKFLOW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800" b="1">
                <a:solidFill>
                  <a:srgbClr val="161B26"/>
                </a:solidFill>
                <a:latin typeface="Arial"/>
              </a:defRPr>
            </a:pPr>
            <a:r>
              <a:t>Lab 7-os: Build Sequence</a:t>
            </a:r>
          </a:p>
        </p:txBody>
      </p:sp>
      <p:sp>
        <p:nvSpPr>
          <p:cNvPr id="4" name="Oval 3"/>
          <p:cNvSpPr/>
          <p:nvPr/>
        </p:nvSpPr>
        <p:spPr>
          <a:xfrm>
            <a:off x="658368" y="1463039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463039"/>
            <a:ext cx="53035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08176" y="1325880"/>
            <a:ext cx="4690872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8488" y="1417320"/>
            <a:ext cx="4279392" cy="11887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200" b="0">
                <a:solidFill>
                  <a:srgbClr val="161B26"/>
                </a:solidFill>
                <a:latin typeface="Arial"/>
              </a:defRPr>
            </a:pPr>
            <a:r>
              <a:t>Start the render service FIRST: start.command (macOS) or start.bat (Windows), and leave the window open.</a:t>
            </a:r>
          </a:p>
        </p:txBody>
      </p:sp>
      <p:sp>
        <p:nvSpPr>
          <p:cNvPr id="8" name="Oval 7"/>
          <p:cNvSpPr/>
          <p:nvPr/>
        </p:nvSpPr>
        <p:spPr>
          <a:xfrm>
            <a:off x="6373368" y="1463039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73368" y="1463039"/>
            <a:ext cx="53035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23176" y="1325880"/>
            <a:ext cx="4690872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33488" y="1417320"/>
            <a:ext cx="4279392" cy="11887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200" b="0">
                <a:solidFill>
                  <a:srgbClr val="161B26"/>
                </a:solidFill>
                <a:latin typeface="Arial"/>
              </a:defRPr>
            </a:pPr>
            <a:r>
              <a:t>Import lab7-opensource/os-news-avatar-flow.json and set it Active.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309067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3090672"/>
            <a:ext cx="53035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08176" y="2953512"/>
            <a:ext cx="4690872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18488" y="3044952"/>
            <a:ext cx="4279392" cy="11887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200" b="0">
                <a:solidFill>
                  <a:srgbClr val="161B26"/>
                </a:solidFill>
                <a:latin typeface="Arial"/>
              </a:defRPr>
            </a:pPr>
            <a:r>
              <a:t>Open the lab website and submit the same facts you used in Lab 7.</a:t>
            </a:r>
          </a:p>
        </p:txBody>
      </p:sp>
      <p:sp>
        <p:nvSpPr>
          <p:cNvPr id="16" name="Oval 15"/>
          <p:cNvSpPr/>
          <p:nvPr/>
        </p:nvSpPr>
        <p:spPr>
          <a:xfrm>
            <a:off x="6373368" y="309067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73368" y="3090672"/>
            <a:ext cx="53035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23176" y="2953512"/>
            <a:ext cx="4690872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33488" y="3044952"/>
            <a:ext cx="4279392" cy="11887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200" b="0">
                <a:solidFill>
                  <a:srgbClr val="161B26"/>
                </a:solidFill>
                <a:latin typeface="Arial"/>
              </a:defRPr>
            </a:pPr>
            <a:r>
              <a:t>Watch the execution: n8n calls the render service at host.docker.internal:8099/render and waits for the finished file.</a:t>
            </a:r>
          </a:p>
        </p:txBody>
      </p:sp>
      <p:sp>
        <p:nvSpPr>
          <p:cNvPr id="20" name="Oval 19"/>
          <p:cNvSpPr/>
          <p:nvPr/>
        </p:nvSpPr>
        <p:spPr>
          <a:xfrm>
            <a:off x="658368" y="4718304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4718304"/>
            <a:ext cx="53035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408176" y="4581144"/>
            <a:ext cx="4690872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18488" y="4672583"/>
            <a:ext cx="4279392" cy="11887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200" b="0">
                <a:solidFill>
                  <a:srgbClr val="161B26"/>
                </a:solidFill>
                <a:latin typeface="Arial"/>
              </a:defRPr>
            </a:pPr>
            <a:r>
              <a:t>Play the finished MP4 in the page - produced entirely on your machine.</a:t>
            </a:r>
          </a:p>
        </p:txBody>
      </p:sp>
      <p:sp>
        <p:nvSpPr>
          <p:cNvPr id="24" name="Oval 23"/>
          <p:cNvSpPr/>
          <p:nvPr/>
        </p:nvSpPr>
        <p:spPr>
          <a:xfrm>
            <a:off x="6373368" y="4718304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73368" y="4718304"/>
            <a:ext cx="53035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23176" y="4581144"/>
            <a:ext cx="4690872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33488" y="4672583"/>
            <a:ext cx="4279392" cy="11887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200" b="0">
                <a:solidFill>
                  <a:srgbClr val="161B26"/>
                </a:solidFill>
                <a:latin typeface="Arial"/>
              </a:defRPr>
            </a:pPr>
            <a:r>
              <a:t>Compare it against the HeyGen clip from Lab 7: quality, speed, privacy, cost.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6053328"/>
            <a:ext cx="59436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500" b="1">
                <a:solidFill>
                  <a:srgbClr val="7C3AED"/>
                </a:solidFill>
                <a:latin typeface="Arial"/>
              </a:defRPr>
            </a:pPr>
            <a:r>
              <a:t>Build one observable behavior at a time.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6428232"/>
            <a:ext cx="11183112" cy="13716"/>
          </a:xfrm>
          <a:prstGeom prst="rect">
            <a:avLst/>
          </a:prstGeom>
          <a:solidFill>
            <a:srgbClr val="DCE5F0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6483096"/>
            <a:ext cx="5212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00" b="0">
                <a:solidFill>
                  <a:srgbClr val="5B6372"/>
                </a:solidFill>
                <a:latin typeface="Arial"/>
              </a:defRPr>
            </a:pPr>
            <a:r>
              <a:t>C500 - Voice and Video Agents with n8n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51960" y="6483096"/>
            <a:ext cx="3749039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800" b="0">
                <a:solidFill>
                  <a:srgbClr val="5B6372"/>
                </a:solidFill>
                <a:latin typeface="Arial"/>
              </a:defRPr>
            </a:pPr>
            <a:r>
              <a:t>Copyright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09960" y="6483096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800" b="1">
                <a:solidFill>
                  <a:srgbClr val="5B6372"/>
                </a:solidFill>
                <a:latin typeface="Arial"/>
              </a:defRPr>
            </a:pPr>
            <a:r>
              <a:t>083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01752"/>
            <a:ext cx="10972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1">
                <a:solidFill>
                  <a:srgbClr val="1F6FEB"/>
                </a:solidFill>
                <a:latin typeface="Arial"/>
              </a:defRPr>
            </a:pPr>
            <a:r>
              <a:t>LAB 7-OS - OPEN-SOURCE NEWS AVATAR - FREE AND LOCAL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800" b="1">
                <a:solidFill>
                  <a:srgbClr val="161B26"/>
                </a:solidFill>
                <a:latin typeface="Arial"/>
              </a:defRPr>
            </a:pPr>
            <a:r>
              <a:t>Lab 7-os - the open-source News Studio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667589" y="1271016"/>
            <a:ext cx="6856517" cy="427024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ab7os-s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2453" y="1325880"/>
            <a:ext cx="6746789" cy="4160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13232" y="5806440"/>
            <a:ext cx="1078992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500" b="0">
                <a:solidFill>
                  <a:srgbClr val="5B6372"/>
                </a:solidFill>
                <a:latin typeface="Arial"/>
              </a:defRPr>
            </a:pPr>
            <a:r>
              <a:t>Lab 7-os - the open-source News Studio: 100% free and local - n8n + Ollama + TTS + ffmpeg, no cloud, no credits.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28232"/>
            <a:ext cx="11183112" cy="13716"/>
          </a:xfrm>
          <a:prstGeom prst="rect">
            <a:avLst/>
          </a:prstGeom>
          <a:solidFill>
            <a:srgbClr val="DCE5F0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83096"/>
            <a:ext cx="5212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00" b="0">
                <a:solidFill>
                  <a:srgbClr val="5B6372"/>
                </a:solidFill>
                <a:latin typeface="Arial"/>
              </a:defRPr>
            </a:pPr>
            <a:r>
              <a:t>C500 - Voice and Video Agents with n8n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51960" y="6483096"/>
            <a:ext cx="3749039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800" b="0">
                <a:solidFill>
                  <a:srgbClr val="5B6372"/>
                </a:solidFill>
                <a:latin typeface="Arial"/>
              </a:defRPr>
            </a:pPr>
            <a:r>
              <a:t>Copyright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483096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800" b="1">
                <a:solidFill>
                  <a:srgbClr val="5B6372"/>
                </a:solidFill>
                <a:latin typeface="Arial"/>
              </a:defRPr>
            </a:pPr>
            <a:r>
              <a:t>084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01752"/>
            <a:ext cx="10972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1">
                <a:solidFill>
                  <a:srgbClr val="1F6FEB"/>
                </a:solidFill>
                <a:latin typeface="Arial"/>
              </a:defRPr>
            </a:pPr>
            <a:r>
              <a:t>QUALITY GATE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800" b="1">
                <a:solidFill>
                  <a:srgbClr val="161B26"/>
                </a:solidFill>
                <a:latin typeface="Arial"/>
              </a:defRPr>
            </a:pPr>
            <a:r>
              <a:t>Lab 7-os: Prove, Evaluate, Improve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" y="1353312"/>
            <a:ext cx="6995160" cy="4498848"/>
          </a:xfrm>
          <a:prstGeom prst="round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32688" y="1664208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664208"/>
            <a:ext cx="457200" cy="4572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27632" y="1645920"/>
            <a:ext cx="5440680" cy="7772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500" b="0">
                <a:solidFill>
                  <a:srgbClr val="161B26"/>
                </a:solidFill>
                <a:latin typeface="Arial"/>
              </a:defRPr>
            </a:pPr>
            <a:r>
              <a:t>A finished MP4 plays in the page, rendered locally.</a:t>
            </a:r>
          </a:p>
        </p:txBody>
      </p:sp>
      <p:sp>
        <p:nvSpPr>
          <p:cNvPr id="8" name="Oval 7"/>
          <p:cNvSpPr/>
          <p:nvPr/>
        </p:nvSpPr>
        <p:spPr>
          <a:xfrm>
            <a:off x="932688" y="2496312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496312"/>
            <a:ext cx="457200" cy="4572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27632" y="2478024"/>
            <a:ext cx="5440680" cy="7772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500" b="0">
                <a:solidFill>
                  <a:srgbClr val="161B26"/>
                </a:solidFill>
                <a:latin typeface="Arial"/>
              </a:defRPr>
            </a:pPr>
            <a:r>
              <a:t>You can name one quality difference versus HeyGen, and one reason you would still pick this.</a:t>
            </a:r>
          </a:p>
        </p:txBody>
      </p:sp>
      <p:sp>
        <p:nvSpPr>
          <p:cNvPr id="11" name="Oval 10"/>
          <p:cNvSpPr/>
          <p:nvPr/>
        </p:nvSpPr>
        <p:spPr>
          <a:xfrm>
            <a:off x="932688" y="3328416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3328416"/>
            <a:ext cx="457200" cy="4572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27632" y="3310128"/>
            <a:ext cx="5440680" cy="7772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500" b="0">
                <a:solidFill>
                  <a:srgbClr val="161B26"/>
                </a:solidFill>
                <a:latin typeface="Arial"/>
              </a:defRPr>
            </a:pPr>
            <a:r>
              <a:t>Run one edge case and record the change made after evaluation.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73568" y="1353312"/>
            <a:ext cx="3611880" cy="4498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02752" y="1682496"/>
            <a:ext cx="29260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1">
                <a:solidFill>
                  <a:srgbClr val="1F6FEB"/>
                </a:solidFill>
                <a:latin typeface="Arial"/>
              </a:defRPr>
            </a:pPr>
            <a:r>
              <a:t>EVIDENCE STACK</a:t>
            </a:r>
          </a:p>
        </p:txBody>
      </p:sp>
      <p:sp>
        <p:nvSpPr>
          <p:cNvPr id="16" name="Oval 15"/>
          <p:cNvSpPr/>
          <p:nvPr/>
        </p:nvSpPr>
        <p:spPr>
          <a:xfrm>
            <a:off x="8302752" y="2176272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2752" y="2176272"/>
            <a:ext cx="411480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87968" y="2157984"/>
            <a:ext cx="914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400" b="1">
                <a:solidFill>
                  <a:srgbClr val="161B26"/>
                </a:solidFill>
                <a:latin typeface="Arial"/>
              </a:defRPr>
            </a:pPr>
            <a:r>
              <a:t>Input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02368" y="2157984"/>
            <a:ext cx="1353312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0">
                <a:solidFill>
                  <a:srgbClr val="5B6372"/>
                </a:solidFill>
                <a:latin typeface="Arial"/>
              </a:defRPr>
            </a:pPr>
            <a:r>
              <a:t>Exact test payload</a:t>
            </a:r>
          </a:p>
        </p:txBody>
      </p:sp>
      <p:sp>
        <p:nvSpPr>
          <p:cNvPr id="20" name="Oval 19"/>
          <p:cNvSpPr/>
          <p:nvPr/>
        </p:nvSpPr>
        <p:spPr>
          <a:xfrm>
            <a:off x="8302752" y="2971800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02752" y="2971800"/>
            <a:ext cx="411480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87968" y="2953512"/>
            <a:ext cx="914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400" b="1">
                <a:solidFill>
                  <a:srgbClr val="161B26"/>
                </a:solidFill>
                <a:latin typeface="Arial"/>
              </a:defRPr>
            </a:pPr>
            <a:r>
              <a:t>Trace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02368" y="2953512"/>
            <a:ext cx="1353312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0">
                <a:solidFill>
                  <a:srgbClr val="5B6372"/>
                </a:solidFill>
                <a:latin typeface="Arial"/>
              </a:defRPr>
            </a:pPr>
            <a:r>
              <a:t>Node execution path</a:t>
            </a:r>
          </a:p>
        </p:txBody>
      </p:sp>
      <p:sp>
        <p:nvSpPr>
          <p:cNvPr id="24" name="Oval 23"/>
          <p:cNvSpPr/>
          <p:nvPr/>
        </p:nvSpPr>
        <p:spPr>
          <a:xfrm>
            <a:off x="8302752" y="3767328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02752" y="3767328"/>
            <a:ext cx="411480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87968" y="3749040"/>
            <a:ext cx="914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400" b="1">
                <a:solidFill>
                  <a:srgbClr val="161B26"/>
                </a:solidFill>
                <a:latin typeface="Arial"/>
              </a:defRPr>
            </a:pPr>
            <a:r>
              <a:t>Output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02368" y="3749040"/>
            <a:ext cx="1353312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0">
                <a:solidFill>
                  <a:srgbClr val="5B6372"/>
                </a:solidFill>
                <a:latin typeface="Arial"/>
              </a:defRPr>
            </a:pPr>
            <a:r>
              <a:t>Generated result</a:t>
            </a:r>
          </a:p>
        </p:txBody>
      </p:sp>
      <p:sp>
        <p:nvSpPr>
          <p:cNvPr id="28" name="Oval 27"/>
          <p:cNvSpPr/>
          <p:nvPr/>
        </p:nvSpPr>
        <p:spPr>
          <a:xfrm>
            <a:off x="8302752" y="4562856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02752" y="4562856"/>
            <a:ext cx="411480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87968" y="4544568"/>
            <a:ext cx="914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400" b="1">
                <a:solidFill>
                  <a:srgbClr val="161B26"/>
                </a:solidFill>
                <a:latin typeface="Arial"/>
              </a:defRPr>
            </a:pPr>
            <a:r>
              <a:t>Decision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02368" y="4544568"/>
            <a:ext cx="1353312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0">
                <a:solidFill>
                  <a:srgbClr val="5B6372"/>
                </a:solidFill>
                <a:latin typeface="Arial"/>
              </a:defRPr>
            </a:pPr>
            <a:r>
              <a:t>Rubric and revision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02752" y="5413248"/>
            <a:ext cx="9144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Arial"/>
              </a:defRPr>
            </a:pPr>
            <a:r>
              <a:t>PASS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253728" y="5458968"/>
            <a:ext cx="1938528" cy="10972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02920" y="6428232"/>
            <a:ext cx="11183112" cy="13716"/>
          </a:xfrm>
          <a:prstGeom prst="rect">
            <a:avLst/>
          </a:prstGeom>
          <a:solidFill>
            <a:srgbClr val="DCE5F0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6483096"/>
            <a:ext cx="5212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00" b="0">
                <a:solidFill>
                  <a:srgbClr val="5B6372"/>
                </a:solidFill>
                <a:latin typeface="Arial"/>
              </a:defRPr>
            </a:pPr>
            <a:r>
              <a:t>C500 - Voice and Video Agents with n8n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51960" y="6483096"/>
            <a:ext cx="3749039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800" b="0">
                <a:solidFill>
                  <a:srgbClr val="5B6372"/>
                </a:solidFill>
                <a:latin typeface="Arial"/>
              </a:defRPr>
            </a:pPr>
            <a:r>
              <a:t>Copyright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09960" y="6483096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800" b="1">
                <a:solidFill>
                  <a:srgbClr val="5B6372"/>
                </a:solidFill>
                <a:latin typeface="Arial"/>
              </a:defRPr>
            </a:pPr>
            <a:r>
              <a:t>085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01752"/>
            <a:ext cx="10972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1">
                <a:solidFill>
                  <a:srgbClr val="1F6FEB"/>
                </a:solidFill>
                <a:latin typeface="Arial"/>
              </a:defRPr>
            </a:pPr>
            <a:r>
              <a:t>TROUBLESHOOTING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800" b="1">
                <a:solidFill>
                  <a:srgbClr val="161B26"/>
                </a:solidFill>
                <a:latin typeface="Arial"/>
              </a:defRPr>
            </a:pPr>
            <a:r>
              <a:t>Lab 7-os: Diagnose Before Rebuilding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" y="1344168"/>
            <a:ext cx="3456432" cy="438912"/>
          </a:xfrm>
          <a:prstGeom prst="roundRect">
            <a:avLst/>
          </a:prstGeom>
          <a:solidFill>
            <a:srgbClr val="E25555"/>
          </a:solidFill>
          <a:ln>
            <a:solidFill>
              <a:srgbClr val="E2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408176"/>
            <a:ext cx="345643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SYMPTOM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15968" y="1344168"/>
            <a:ext cx="3456432" cy="438912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15968" y="1408176"/>
            <a:ext cx="345643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LIKELY CAUSE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10144" y="1344168"/>
            <a:ext cx="3456432" cy="43891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10144" y="1408176"/>
            <a:ext cx="345643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TARGETED FIX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993392"/>
            <a:ext cx="3456432" cy="1024128"/>
          </a:xfrm>
          <a:prstGeom prst="roundRect">
            <a:avLst/>
          </a:prstGeom>
          <a:solidFill>
            <a:srgbClr val="FFF4F4"/>
          </a:solidFill>
          <a:ln>
            <a:solidFill>
              <a:srgbClr val="FF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2084832"/>
            <a:ext cx="3127248" cy="8412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200" b="1">
                <a:solidFill>
                  <a:srgbClr val="161B26"/>
                </a:solidFill>
                <a:latin typeface="Arial"/>
              </a:defRPr>
            </a:pPr>
            <a:r>
              <a:t>n8n cannot reach the render service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15968" y="1993392"/>
            <a:ext cx="3456432" cy="1024128"/>
          </a:xfrm>
          <a:prstGeom prst="roundRect">
            <a:avLst/>
          </a:prstGeom>
          <a:solidFill>
            <a:srgbClr val="FFF8E8"/>
          </a:solidFill>
          <a:ln>
            <a:solidFill>
              <a:srgbClr val="FFF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59" y="2084832"/>
            <a:ext cx="3127248" cy="8412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200" b="0">
                <a:solidFill>
                  <a:srgbClr val="161B26"/>
                </a:solidFill>
                <a:latin typeface="Arial"/>
              </a:defRPr>
            </a:pPr>
            <a:r>
              <a:t>It called localhost instead of the host machine.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10144" y="1993392"/>
            <a:ext cx="3456432" cy="1024128"/>
          </a:xfrm>
          <a:prstGeom prst="roundRect">
            <a:avLst/>
          </a:prstGeom>
          <a:solidFill>
            <a:srgbClr val="ECFDF5"/>
          </a:solidFill>
          <a:ln>
            <a:solidFill>
              <a:srgbClr val="ECF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74736" y="2084832"/>
            <a:ext cx="3127248" cy="8412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200" b="0">
                <a:solidFill>
                  <a:srgbClr val="161B26"/>
                </a:solidFill>
                <a:latin typeface="Arial"/>
              </a:defRPr>
            </a:pPr>
            <a:r>
              <a:t>Use host.docker.internal:8099 - n8n runs inside Docker.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" y="3300984"/>
            <a:ext cx="3456432" cy="1024128"/>
          </a:xfrm>
          <a:prstGeom prst="roundRect">
            <a:avLst/>
          </a:prstGeom>
          <a:solidFill>
            <a:srgbClr val="FFF4F4"/>
          </a:solidFill>
          <a:ln>
            <a:solidFill>
              <a:srgbClr val="FF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" y="3392424"/>
            <a:ext cx="3127248" cy="8412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200" b="1">
                <a:solidFill>
                  <a:srgbClr val="161B26"/>
                </a:solidFill>
                <a:latin typeface="Arial"/>
              </a:defRPr>
            </a:pPr>
            <a:r>
              <a:t>Nothing renders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15968" y="3300984"/>
            <a:ext cx="3456432" cy="1024128"/>
          </a:xfrm>
          <a:prstGeom prst="roundRect">
            <a:avLst/>
          </a:prstGeom>
          <a:solidFill>
            <a:srgbClr val="FFF8E8"/>
          </a:solidFill>
          <a:ln>
            <a:solidFill>
              <a:srgbClr val="FFF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59" y="3392424"/>
            <a:ext cx="3127248" cy="8412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200" b="0">
                <a:solidFill>
                  <a:srgbClr val="161B26"/>
                </a:solidFill>
                <a:latin typeface="Arial"/>
              </a:defRPr>
            </a:pPr>
            <a:r>
              <a:t>The render service was never started.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10144" y="3300984"/>
            <a:ext cx="3456432" cy="1024128"/>
          </a:xfrm>
          <a:prstGeom prst="roundRect">
            <a:avLst/>
          </a:prstGeom>
          <a:solidFill>
            <a:srgbClr val="ECFDF5"/>
          </a:solidFill>
          <a:ln>
            <a:solidFill>
              <a:srgbClr val="ECF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74736" y="3392424"/>
            <a:ext cx="3127248" cy="8412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200" b="0">
                <a:solidFill>
                  <a:srgbClr val="161B26"/>
                </a:solidFill>
                <a:latin typeface="Arial"/>
              </a:defRPr>
            </a:pPr>
            <a:r>
              <a:t>Run start.command / start.bat first and keep that window open.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" y="4608576"/>
            <a:ext cx="3456432" cy="1024128"/>
          </a:xfrm>
          <a:prstGeom prst="roundRect">
            <a:avLst/>
          </a:prstGeom>
          <a:solidFill>
            <a:srgbClr val="FFF4F4"/>
          </a:solidFill>
          <a:ln>
            <a:solidFill>
              <a:srgbClr val="FF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6384" y="4700016"/>
            <a:ext cx="3127248" cy="8412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200" b="1">
                <a:solidFill>
                  <a:srgbClr val="161B26"/>
                </a:solidFill>
                <a:latin typeface="Arial"/>
              </a:defRPr>
            </a:pPr>
            <a:r>
              <a:t>Audio and mouth drift apart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15968" y="4608576"/>
            <a:ext cx="3456432" cy="1024128"/>
          </a:xfrm>
          <a:prstGeom prst="roundRect">
            <a:avLst/>
          </a:prstGeom>
          <a:solidFill>
            <a:srgbClr val="FFF8E8"/>
          </a:solidFill>
          <a:ln>
            <a:solidFill>
              <a:srgbClr val="FFF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80559" y="4700016"/>
            <a:ext cx="3127248" cy="8412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200" b="0">
                <a:solidFill>
                  <a:srgbClr val="161B26"/>
                </a:solidFill>
                <a:latin typeface="Arial"/>
              </a:defRPr>
            </a:pPr>
            <a:r>
              <a:t>ffmpeg is missing or the source portrait is unusual.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10144" y="4608576"/>
            <a:ext cx="3456432" cy="1024128"/>
          </a:xfrm>
          <a:prstGeom prst="roundRect">
            <a:avLst/>
          </a:prstGeom>
          <a:solidFill>
            <a:srgbClr val="ECFDF5"/>
          </a:solidFill>
          <a:ln>
            <a:solidFill>
              <a:srgbClr val="ECF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74736" y="4700016"/>
            <a:ext cx="3127248" cy="8412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200" b="0">
                <a:solidFill>
                  <a:srgbClr val="161B26"/>
                </a:solidFill>
                <a:latin typeface="Arial"/>
              </a:defRPr>
            </a:pPr>
            <a:r>
              <a:t>Install ffmpeg and start from the provided portrait.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5989320"/>
            <a:ext cx="86868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600" b="1">
                <a:solidFill>
                  <a:srgbClr val="7C3AED"/>
                </a:solidFill>
                <a:latin typeface="Arial"/>
              </a:defRPr>
            </a:pPr>
            <a:r>
              <a:t>Change one variable, rerun the same test, compare the trace.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6428232"/>
            <a:ext cx="11183112" cy="13716"/>
          </a:xfrm>
          <a:prstGeom prst="rect">
            <a:avLst/>
          </a:prstGeom>
          <a:solidFill>
            <a:srgbClr val="DCE5F0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6483096"/>
            <a:ext cx="5212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00" b="0">
                <a:solidFill>
                  <a:srgbClr val="5B6372"/>
                </a:solidFill>
                <a:latin typeface="Arial"/>
              </a:defRPr>
            </a:pPr>
            <a:r>
              <a:t>C500 - Voice and Video Agents with n8n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51960" y="6483096"/>
            <a:ext cx="3749039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800" b="0">
                <a:solidFill>
                  <a:srgbClr val="5B6372"/>
                </a:solidFill>
                <a:latin typeface="Arial"/>
              </a:defRPr>
            </a:pPr>
            <a:r>
              <a:t>Copyright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09960" y="6483096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800" b="1">
                <a:solidFill>
                  <a:srgbClr val="5B6372"/>
                </a:solidFill>
                <a:latin typeface="Arial"/>
              </a:defRPr>
            </a:pPr>
            <a:r>
              <a:t>086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01752"/>
            <a:ext cx="10972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1">
                <a:solidFill>
                  <a:srgbClr val="1F6FEB"/>
                </a:solidFill>
                <a:latin typeface="Arial"/>
              </a:defRPr>
            </a:pPr>
            <a:r>
              <a:t>BUILD TARGET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800" b="1">
                <a:solidFill>
                  <a:srgbClr val="161B26"/>
                </a:solidFill>
                <a:latin typeface="Arial"/>
              </a:defRPr>
            </a:pPr>
            <a:r>
              <a:t>Lab 8: Interactive Avatar Brain (Aria, In-Browser)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417320"/>
            <a:ext cx="7360920" cy="3246120"/>
          </a:xfrm>
          <a:prstGeom prst="round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4400" y="1755648"/>
            <a:ext cx="1078992" cy="107899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55648"/>
            <a:ext cx="1078992" cy="10789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31720" y="1719072"/>
            <a:ext cx="21945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1">
                <a:solidFill>
                  <a:srgbClr val="1F6FEB"/>
                </a:solidFill>
                <a:latin typeface="Arial"/>
              </a:defRPr>
            </a:pPr>
            <a:r>
              <a:t>YOU WILL BUILD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31720" y="2048256"/>
            <a:ext cx="5074920" cy="131673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2000" b="1">
                <a:solidFill>
                  <a:srgbClr val="161B26"/>
                </a:solidFill>
                <a:latin typeface="Arial"/>
              </a:defRPr>
            </a:pPr>
            <a:r>
              <a:t>A talking avatar you can interrupt: speech in, an AI Agent reply from local gemma4, and the mouth drawn live in the browser.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1720" y="3474720"/>
            <a:ext cx="19202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  <a:latin typeface="Arial"/>
              </a:defRPr>
            </a:pPr>
            <a:r>
              <a:t>DELIVERABLE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3822191"/>
            <a:ext cx="507492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500" b="0">
                <a:solidFill>
                  <a:srgbClr val="5B6372"/>
                </a:solidFill>
                <a:latin typeface="Arial"/>
              </a:defRPr>
            </a:pPr>
            <a:r>
              <a:t>A conversation with Aria, the latency-panel screenshot, and one prompt improvement you made and re-tested.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02752" y="1417320"/>
            <a:ext cx="32918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02752" y="1417320"/>
            <a:ext cx="73152" cy="96012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540496" y="1636776"/>
            <a:ext cx="438912" cy="43891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40496" y="1636776"/>
            <a:ext cx="438912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07424" y="1554480"/>
            <a:ext cx="226771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600" b="1">
                <a:solidFill>
                  <a:srgbClr val="161B26"/>
                </a:solidFill>
                <a:latin typeface="Arial"/>
              </a:defRPr>
            </a:pPr>
            <a:r>
              <a:t>TIMEBOX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07424" y="1920240"/>
            <a:ext cx="2267712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0">
                <a:solidFill>
                  <a:srgbClr val="5B6372"/>
                </a:solidFill>
                <a:latin typeface="Arial"/>
              </a:defRPr>
            </a:pPr>
            <a:r>
              <a:t>45 minutes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02752" y="2606040"/>
            <a:ext cx="32918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302752" y="2606040"/>
            <a:ext cx="73152" cy="96012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540496" y="2825496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40496" y="2825496"/>
            <a:ext cx="438912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07424" y="2743200"/>
            <a:ext cx="226771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600" b="1">
                <a:solidFill>
                  <a:srgbClr val="161B26"/>
                </a:solidFill>
                <a:latin typeface="Arial"/>
              </a:defRPr>
            </a:pPr>
            <a:r>
              <a:t>MODE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07424" y="3108960"/>
            <a:ext cx="2267712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0">
                <a:solidFill>
                  <a:srgbClr val="5B6372"/>
                </a:solidFill>
                <a:latin typeface="Arial"/>
              </a:defRPr>
            </a:pPr>
            <a:r>
              <a:t>Demo, guided build, independent test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302752" y="3794760"/>
            <a:ext cx="32918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302752" y="3794760"/>
            <a:ext cx="73152" cy="96012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540496" y="4014216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40496" y="4014216"/>
            <a:ext cx="438912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07424" y="3931920"/>
            <a:ext cx="226771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600" b="1">
                <a:solidFill>
                  <a:srgbClr val="161B26"/>
                </a:solidFill>
                <a:latin typeface="Arial"/>
              </a:defRPr>
            </a:pPr>
            <a:r>
              <a:t>EVIDENCE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07424" y="4297680"/>
            <a:ext cx="2267712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0">
                <a:solidFill>
                  <a:srgbClr val="5B6372"/>
                </a:solidFill>
                <a:latin typeface="Arial"/>
              </a:defRPr>
            </a:pPr>
            <a:r>
              <a:t>Execution trace plus learner artifact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5230368"/>
            <a:ext cx="731520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000" b="1">
                <a:solidFill>
                  <a:srgbClr val="7C3AED"/>
                </a:solidFill>
                <a:latin typeface="Arial"/>
              </a:defRPr>
            </a:pPr>
            <a:r>
              <a:t>Success is demonstrated, not assumed.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6428232"/>
            <a:ext cx="11183112" cy="13716"/>
          </a:xfrm>
          <a:prstGeom prst="rect">
            <a:avLst/>
          </a:prstGeom>
          <a:solidFill>
            <a:srgbClr val="DCE5F0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6483096"/>
            <a:ext cx="5212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00" b="0">
                <a:solidFill>
                  <a:srgbClr val="5B6372"/>
                </a:solidFill>
                <a:latin typeface="Arial"/>
              </a:defRPr>
            </a:pPr>
            <a:r>
              <a:t>C500 - Voice and Video Agents with n8n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6483096"/>
            <a:ext cx="3749039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800" b="0">
                <a:solidFill>
                  <a:srgbClr val="5B6372"/>
                </a:solidFill>
                <a:latin typeface="Arial"/>
              </a:defRPr>
            </a:pPr>
            <a:r>
              <a:t>Copyright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09960" y="6483096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800" b="1">
                <a:solidFill>
                  <a:srgbClr val="5B6372"/>
                </a:solidFill>
                <a:latin typeface="Arial"/>
              </a:defRPr>
            </a:pPr>
            <a:r>
              <a:t>087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01752"/>
            <a:ext cx="10972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1">
                <a:solidFill>
                  <a:srgbClr val="1F6FEB"/>
                </a:solidFill>
                <a:latin typeface="Arial"/>
              </a:defRPr>
            </a:pPr>
            <a:r>
              <a:t>CONCEPT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800" b="1">
                <a:solidFill>
                  <a:srgbClr val="161B26"/>
                </a:solidFill>
                <a:latin typeface="Arial"/>
              </a:defRPr>
            </a:pPr>
            <a:r>
              <a:t>Lab 8: Four Ideas That Make It Work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" y="1389888"/>
            <a:ext cx="5349240" cy="1901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1792" y="1389888"/>
            <a:ext cx="73152" cy="190195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59536" y="1609344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609344"/>
            <a:ext cx="438912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26464" y="1591056"/>
            <a:ext cx="432511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700" b="1">
                <a:solidFill>
                  <a:srgbClr val="161B26"/>
                </a:solidFill>
                <a:latin typeface="Arial"/>
              </a:defRPr>
            </a:pPr>
            <a:r>
              <a:t>AI Agent + Ollama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048256"/>
            <a:ext cx="4846320" cy="10789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400" b="0">
                <a:solidFill>
                  <a:srgbClr val="5B6372"/>
                </a:solidFill>
                <a:latin typeface="Arial"/>
              </a:defRPr>
            </a:pPr>
            <a:r>
              <a:t>The same two nodes as Lab 1 - AI Agent plus local gemma4 - now behind a webhook instead of a chat window.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389888"/>
            <a:ext cx="5349240" cy="1901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99632" y="1389888"/>
            <a:ext cx="73152" cy="19019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37376" y="1609344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37376" y="1609344"/>
            <a:ext cx="438912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4304" y="1591056"/>
            <a:ext cx="432511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700" b="1">
                <a:solidFill>
                  <a:srgbClr val="161B26"/>
                </a:solidFill>
                <a:latin typeface="Arial"/>
              </a:defRPr>
            </a:pPr>
            <a:r>
              <a:t>Stateless by design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2" y="2048256"/>
            <a:ext cx="4846320" cy="10789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400" b="0">
                <a:solidFill>
                  <a:srgbClr val="5B6372"/>
                </a:solidFill>
                <a:latin typeface="Arial"/>
              </a:defRPr>
            </a:pPr>
            <a:r>
              <a:t>The browser sends the transcript with every turn, so the flow needs no memory node - the system prompt carries the conversation.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" y="3675887"/>
            <a:ext cx="5349240" cy="1901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" y="3675887"/>
            <a:ext cx="73152" cy="1901952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59536" y="3895344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6" y="3895344"/>
            <a:ext cx="438912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26464" y="3877055"/>
            <a:ext cx="432511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700" b="1">
                <a:solidFill>
                  <a:srgbClr val="161B26"/>
                </a:solidFill>
                <a:latin typeface="Arial"/>
              </a:defRPr>
            </a:pPr>
            <a:r>
              <a:t>Spoken register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" y="4334255"/>
            <a:ext cx="4846320" cy="10789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400" b="0">
                <a:solidFill>
                  <a:srgbClr val="5B6372"/>
                </a:solidFill>
                <a:latin typeface="Arial"/>
              </a:defRPr>
            </a:pPr>
            <a:r>
              <a:t>One or two spoken sentences, no markdown, no URLs - Aria's prompt enforces it, and a cleanup node strips anything that slips through.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9632" y="3675887"/>
            <a:ext cx="5349240" cy="1901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99632" y="3675887"/>
            <a:ext cx="73152" cy="19019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37376" y="3895344"/>
            <a:ext cx="438912" cy="43891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37376" y="3895344"/>
            <a:ext cx="438912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04304" y="3877055"/>
            <a:ext cx="432511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700" b="1">
                <a:solidFill>
                  <a:srgbClr val="161B26"/>
                </a:solidFill>
                <a:latin typeface="Arial"/>
              </a:defRPr>
            </a:pPr>
            <a:r>
              <a:t>Latency is the feature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73952" y="4334255"/>
            <a:ext cx="4846320" cy="10789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400" b="0">
                <a:solidFill>
                  <a:srgbClr val="5B6372"/>
                </a:solidFill>
                <a:latin typeface="Arial"/>
              </a:defRPr>
            </a:pPr>
            <a:r>
              <a:t>An interactive avatar lives or dies on response time. The page prints the measured reply time - watch it, do not guess it.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5806440"/>
            <a:ext cx="80467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600" b="0">
                <a:solidFill>
                  <a:srgbClr val="5B6372"/>
                </a:solidFill>
                <a:latin typeface="Arial"/>
              </a:defRPr>
            </a:pPr>
            <a:r>
              <a:t>Connect the four ideas before touching the workflow canvas.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6428232"/>
            <a:ext cx="11183112" cy="13716"/>
          </a:xfrm>
          <a:prstGeom prst="rect">
            <a:avLst/>
          </a:prstGeom>
          <a:solidFill>
            <a:srgbClr val="DCE5F0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6483096"/>
            <a:ext cx="5212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00" b="0">
                <a:solidFill>
                  <a:srgbClr val="5B6372"/>
                </a:solidFill>
                <a:latin typeface="Arial"/>
              </a:defRPr>
            </a:pPr>
            <a:r>
              <a:t>C500 - Voice and Video Agents with n8n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51960" y="6483096"/>
            <a:ext cx="3749039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800" b="0">
                <a:solidFill>
                  <a:srgbClr val="5B6372"/>
                </a:solidFill>
                <a:latin typeface="Arial"/>
              </a:defRPr>
            </a:pPr>
            <a:r>
              <a:t>Copyright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09960" y="6483096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800" b="1">
                <a:solidFill>
                  <a:srgbClr val="5B6372"/>
                </a:solidFill>
                <a:latin typeface="Arial"/>
              </a:defRPr>
            </a:pPr>
            <a:r>
              <a:t>088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01752"/>
            <a:ext cx="10972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1">
                <a:solidFill>
                  <a:srgbClr val="1F6FEB"/>
                </a:solidFill>
                <a:latin typeface="Arial"/>
              </a:defRPr>
            </a:pPr>
            <a:r>
              <a:t>WORKFLOW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800" b="1">
                <a:solidFill>
                  <a:srgbClr val="161B26"/>
                </a:solidFill>
                <a:latin typeface="Arial"/>
              </a:defRPr>
            </a:pPr>
            <a:r>
              <a:t>Lab 8: Build Sequence</a:t>
            </a:r>
          </a:p>
        </p:txBody>
      </p:sp>
      <p:sp>
        <p:nvSpPr>
          <p:cNvPr id="4" name="Oval 3"/>
          <p:cNvSpPr/>
          <p:nvPr/>
        </p:nvSpPr>
        <p:spPr>
          <a:xfrm>
            <a:off x="658368" y="1463039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463039"/>
            <a:ext cx="53035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08176" y="1325880"/>
            <a:ext cx="4690872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8488" y="1417320"/>
            <a:ext cx="4279392" cy="11887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200" b="0">
                <a:solidFill>
                  <a:srgbClr val="161B26"/>
                </a:solidFill>
                <a:latin typeface="Arial"/>
              </a:defRPr>
            </a:pPr>
            <a:r>
              <a:t>Import lab8/avatar-chat-flow.json and set it Active. The shape: Webhook -&gt; Build Prompt -&gt; AI Agent (Ollama gemma4) -&gt; Make It Speakable -&gt; Respond.</a:t>
            </a:r>
          </a:p>
        </p:txBody>
      </p:sp>
      <p:sp>
        <p:nvSpPr>
          <p:cNvPr id="8" name="Oval 7"/>
          <p:cNvSpPr/>
          <p:nvPr/>
        </p:nvSpPr>
        <p:spPr>
          <a:xfrm>
            <a:off x="6373368" y="1463039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73368" y="1463039"/>
            <a:ext cx="53035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23176" y="1325880"/>
            <a:ext cx="4690872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33488" y="1417320"/>
            <a:ext cx="4279392" cy="11887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200" b="0">
                <a:solidFill>
                  <a:srgbClr val="161B26"/>
                </a:solidFill>
                <a:latin typeface="Arial"/>
              </a:defRPr>
            </a:pPr>
            <a:r>
              <a:t>Open the AI Agent node and read Aria's system prompt: the voice rules, the conversation rules, and the facts she may state.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309067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3090672"/>
            <a:ext cx="53035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08176" y="2953512"/>
            <a:ext cx="4690872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18488" y="3044952"/>
            <a:ext cx="4279392" cy="11887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200" b="0">
                <a:solidFill>
                  <a:srgbClr val="161B26"/>
                </a:solidFill>
                <a:latin typeface="Arial"/>
              </a:defRPr>
            </a:pPr>
            <a:r>
              <a:t>Open Make It Speakable and see what it strips before the avatar speaks: markdown, URLs, and a thinking model's private reasoning.</a:t>
            </a:r>
          </a:p>
        </p:txBody>
      </p:sp>
      <p:sp>
        <p:nvSpPr>
          <p:cNvPr id="16" name="Oval 15"/>
          <p:cNvSpPr/>
          <p:nvPr/>
        </p:nvSpPr>
        <p:spPr>
          <a:xfrm>
            <a:off x="6373368" y="309067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73368" y="3090672"/>
            <a:ext cx="53035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23176" y="2953512"/>
            <a:ext cx="4690872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33488" y="3044952"/>
            <a:ext cx="4279392" cy="11887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200" b="0">
                <a:solidFill>
                  <a:srgbClr val="161B26"/>
                </a:solidFill>
                <a:latin typeface="Arial"/>
              </a:defRPr>
            </a:pPr>
            <a:r>
              <a:t>Serve the lab8 website and talk to Aria.</a:t>
            </a:r>
          </a:p>
        </p:txBody>
      </p:sp>
      <p:sp>
        <p:nvSpPr>
          <p:cNvPr id="20" name="Oval 19"/>
          <p:cNvSpPr/>
          <p:nvPr/>
        </p:nvSpPr>
        <p:spPr>
          <a:xfrm>
            <a:off x="658368" y="4718304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4718304"/>
            <a:ext cx="53035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408176" y="4581144"/>
            <a:ext cx="4690872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18488" y="4672583"/>
            <a:ext cx="4279392" cy="11887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200" b="0">
                <a:solidFill>
                  <a:srgbClr val="161B26"/>
                </a:solidFill>
                <a:latin typeface="Arial"/>
              </a:defRPr>
            </a:pPr>
            <a:r>
              <a:t>Watch the timing panel the page prints after each reply, and screenshot it - that is your evidence.</a:t>
            </a:r>
          </a:p>
        </p:txBody>
      </p:sp>
      <p:sp>
        <p:nvSpPr>
          <p:cNvPr id="24" name="Oval 23"/>
          <p:cNvSpPr/>
          <p:nvPr/>
        </p:nvSpPr>
        <p:spPr>
          <a:xfrm>
            <a:off x="6373368" y="4718304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73368" y="4718304"/>
            <a:ext cx="53035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23176" y="4581144"/>
            <a:ext cx="4690872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33488" y="4672583"/>
            <a:ext cx="4279392" cy="11887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200" b="0">
                <a:solidFill>
                  <a:srgbClr val="161B26"/>
                </a:solidFill>
                <a:latin typeface="Arial"/>
              </a:defRPr>
            </a:pPr>
            <a:r>
              <a:t>Tighten one prompt rule (for example: always end with one short follow-up question), re-test, and note what changed.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6053328"/>
            <a:ext cx="59436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500" b="1">
                <a:solidFill>
                  <a:srgbClr val="7C3AED"/>
                </a:solidFill>
                <a:latin typeface="Arial"/>
              </a:defRPr>
            </a:pPr>
            <a:r>
              <a:t>Build one observable behavior at a time.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6428232"/>
            <a:ext cx="11183112" cy="13716"/>
          </a:xfrm>
          <a:prstGeom prst="rect">
            <a:avLst/>
          </a:prstGeom>
          <a:solidFill>
            <a:srgbClr val="DCE5F0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6483096"/>
            <a:ext cx="5212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00" b="0">
                <a:solidFill>
                  <a:srgbClr val="5B6372"/>
                </a:solidFill>
                <a:latin typeface="Arial"/>
              </a:defRPr>
            </a:pPr>
            <a:r>
              <a:t>C500 - Voice and Video Agents with n8n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51960" y="6483096"/>
            <a:ext cx="3749039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800" b="0">
                <a:solidFill>
                  <a:srgbClr val="5B6372"/>
                </a:solidFill>
                <a:latin typeface="Arial"/>
              </a:defRPr>
            </a:pPr>
            <a:r>
              <a:t>Copyright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09960" y="6483096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800" b="1">
                <a:solidFill>
                  <a:srgbClr val="5B6372"/>
                </a:solidFill>
                <a:latin typeface="Arial"/>
              </a:defRPr>
            </a:pPr>
            <a:r>
              <a:t>089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01752"/>
            <a:ext cx="10972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1">
                <a:solidFill>
                  <a:srgbClr val="1F6FEB"/>
                </a:solidFill>
                <a:latin typeface="Arial"/>
              </a:defRPr>
            </a:pPr>
            <a:r>
              <a:t>LAB 8 - INTERACTIVE AVATAR BRAIN (ARIA, IN-BROWSER)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800" b="1">
                <a:solidFill>
                  <a:srgbClr val="161B26"/>
                </a:solidFill>
                <a:latin typeface="Arial"/>
              </a:defRPr>
            </a:pPr>
            <a:r>
              <a:t>Lab 8 - Aria, rendered in the browser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667589" y="1271016"/>
            <a:ext cx="6856517" cy="427024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ab8-interactive-avat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2453" y="1325880"/>
            <a:ext cx="6746789" cy="4160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13232" y="5806440"/>
            <a:ext cx="1078992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500" b="0">
                <a:solidFill>
                  <a:srgbClr val="5B6372"/>
                </a:solidFill>
                <a:latin typeface="Arial"/>
              </a:defRPr>
            </a:pPr>
            <a:r>
              <a:t>Lab 8 - Aria, rendered in the browser: speech in, gemma4 reply, and the mouth drawn live. The latency is printed, not claimed.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28232"/>
            <a:ext cx="11183112" cy="13716"/>
          </a:xfrm>
          <a:prstGeom prst="rect">
            <a:avLst/>
          </a:prstGeom>
          <a:solidFill>
            <a:srgbClr val="DCE5F0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83096"/>
            <a:ext cx="5212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00" b="0">
                <a:solidFill>
                  <a:srgbClr val="5B6372"/>
                </a:solidFill>
                <a:latin typeface="Arial"/>
              </a:defRPr>
            </a:pPr>
            <a:r>
              <a:t>C500 - Voice and Video Agents with n8n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51960" y="6483096"/>
            <a:ext cx="3749039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800" b="0">
                <a:solidFill>
                  <a:srgbClr val="5B6372"/>
                </a:solidFill>
                <a:latin typeface="Arial"/>
              </a:defRPr>
            </a:pPr>
            <a:r>
              <a:t>Copyright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483096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800" b="1">
                <a:solidFill>
                  <a:srgbClr val="5B6372"/>
                </a:solidFill>
                <a:latin typeface="Arial"/>
              </a:defRPr>
            </a:pPr>
            <a:r>
              <a:t>090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01752"/>
            <a:ext cx="10972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1">
                <a:solidFill>
                  <a:srgbClr val="1F6FEB"/>
                </a:solidFill>
                <a:latin typeface="Arial"/>
              </a:defRPr>
            </a:pPr>
            <a:r>
              <a:t>QUALITY GATE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800" b="1">
                <a:solidFill>
                  <a:srgbClr val="161B26"/>
                </a:solidFill>
                <a:latin typeface="Arial"/>
              </a:defRPr>
            </a:pPr>
            <a:r>
              <a:t>Lab 8: Prove, Evaluate, Improve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" y="1353312"/>
            <a:ext cx="6995160" cy="4498848"/>
          </a:xfrm>
          <a:prstGeom prst="round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32688" y="1664208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664208"/>
            <a:ext cx="457200" cy="4572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27632" y="1645920"/>
            <a:ext cx="5440680" cy="7772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500" b="0">
                <a:solidFill>
                  <a:srgbClr val="161B26"/>
                </a:solidFill>
                <a:latin typeface="Arial"/>
              </a:defRPr>
            </a:pPr>
            <a:r>
              <a:t>Aria answers helpfully by voice - never 'I did not catch that' when the message arrived.</a:t>
            </a:r>
          </a:p>
        </p:txBody>
      </p:sp>
      <p:sp>
        <p:nvSpPr>
          <p:cNvPr id="8" name="Oval 7"/>
          <p:cNvSpPr/>
          <p:nvPr/>
        </p:nvSpPr>
        <p:spPr>
          <a:xfrm>
            <a:off x="932688" y="2496312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496312"/>
            <a:ext cx="457200" cy="4572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27632" y="2478024"/>
            <a:ext cx="5440680" cy="7772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500" b="0">
                <a:solidFill>
                  <a:srgbClr val="161B26"/>
                </a:solidFill>
                <a:latin typeface="Arial"/>
              </a:defRPr>
            </a:pPr>
            <a:r>
              <a:t>Replies are one or two spoken sentences - no markdown, no URLs.</a:t>
            </a:r>
          </a:p>
        </p:txBody>
      </p:sp>
      <p:sp>
        <p:nvSpPr>
          <p:cNvPr id="11" name="Oval 10"/>
          <p:cNvSpPr/>
          <p:nvPr/>
        </p:nvSpPr>
        <p:spPr>
          <a:xfrm>
            <a:off x="932688" y="3328416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3328416"/>
            <a:ext cx="457200" cy="4572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27632" y="3310128"/>
            <a:ext cx="5440680" cy="7772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500" b="0">
                <a:solidFill>
                  <a:srgbClr val="161B26"/>
                </a:solidFill>
                <a:latin typeface="Arial"/>
              </a:defRPr>
            </a:pPr>
            <a:r>
              <a:t>The latency-panel screenshot is captured.</a:t>
            </a:r>
          </a:p>
        </p:txBody>
      </p:sp>
      <p:sp>
        <p:nvSpPr>
          <p:cNvPr id="14" name="Oval 13"/>
          <p:cNvSpPr/>
          <p:nvPr/>
        </p:nvSpPr>
        <p:spPr>
          <a:xfrm>
            <a:off x="932688" y="4160520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4160520"/>
            <a:ext cx="457200" cy="4572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OK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27632" y="4142232"/>
            <a:ext cx="5440680" cy="7772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500" b="0">
                <a:solidFill>
                  <a:srgbClr val="161B26"/>
                </a:solidFill>
                <a:latin typeface="Arial"/>
              </a:defRPr>
            </a:pPr>
            <a:r>
              <a:t>Run one edge case and record the change made after evaluation.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73568" y="1353312"/>
            <a:ext cx="3611880" cy="4498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2752" y="1682496"/>
            <a:ext cx="29260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1">
                <a:solidFill>
                  <a:srgbClr val="1F6FEB"/>
                </a:solidFill>
                <a:latin typeface="Arial"/>
              </a:defRPr>
            </a:pPr>
            <a:r>
              <a:t>EVIDENCE STACK</a:t>
            </a:r>
          </a:p>
        </p:txBody>
      </p:sp>
      <p:sp>
        <p:nvSpPr>
          <p:cNvPr id="19" name="Oval 18"/>
          <p:cNvSpPr/>
          <p:nvPr/>
        </p:nvSpPr>
        <p:spPr>
          <a:xfrm>
            <a:off x="8302752" y="2176272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02752" y="2176272"/>
            <a:ext cx="411480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87968" y="2157984"/>
            <a:ext cx="914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400" b="1">
                <a:solidFill>
                  <a:srgbClr val="161B26"/>
                </a:solidFill>
                <a:latin typeface="Arial"/>
              </a:defRPr>
            </a:pPr>
            <a:r>
              <a:t>Input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02368" y="2157984"/>
            <a:ext cx="1353312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0">
                <a:solidFill>
                  <a:srgbClr val="5B6372"/>
                </a:solidFill>
                <a:latin typeface="Arial"/>
              </a:defRPr>
            </a:pPr>
            <a:r>
              <a:t>Exact test payload</a:t>
            </a:r>
          </a:p>
        </p:txBody>
      </p:sp>
      <p:sp>
        <p:nvSpPr>
          <p:cNvPr id="23" name="Oval 22"/>
          <p:cNvSpPr/>
          <p:nvPr/>
        </p:nvSpPr>
        <p:spPr>
          <a:xfrm>
            <a:off x="8302752" y="2971800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02752" y="2971800"/>
            <a:ext cx="411480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87968" y="2953512"/>
            <a:ext cx="914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400" b="1">
                <a:solidFill>
                  <a:srgbClr val="161B26"/>
                </a:solidFill>
                <a:latin typeface="Arial"/>
              </a:defRPr>
            </a:pPr>
            <a:r>
              <a:t>Trace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02368" y="2953512"/>
            <a:ext cx="1353312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0">
                <a:solidFill>
                  <a:srgbClr val="5B6372"/>
                </a:solidFill>
                <a:latin typeface="Arial"/>
              </a:defRPr>
            </a:pPr>
            <a:r>
              <a:t>Node execution path</a:t>
            </a:r>
          </a:p>
        </p:txBody>
      </p:sp>
      <p:sp>
        <p:nvSpPr>
          <p:cNvPr id="27" name="Oval 26"/>
          <p:cNvSpPr/>
          <p:nvPr/>
        </p:nvSpPr>
        <p:spPr>
          <a:xfrm>
            <a:off x="8302752" y="3767328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02752" y="3767328"/>
            <a:ext cx="411480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87968" y="3749040"/>
            <a:ext cx="914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400" b="1">
                <a:solidFill>
                  <a:srgbClr val="161B26"/>
                </a:solidFill>
                <a:latin typeface="Arial"/>
              </a:defRPr>
            </a:pPr>
            <a:r>
              <a:t>Output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02368" y="3749040"/>
            <a:ext cx="1353312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0">
                <a:solidFill>
                  <a:srgbClr val="5B6372"/>
                </a:solidFill>
                <a:latin typeface="Arial"/>
              </a:defRPr>
            </a:pPr>
            <a:r>
              <a:t>Generated result</a:t>
            </a:r>
          </a:p>
        </p:txBody>
      </p:sp>
      <p:sp>
        <p:nvSpPr>
          <p:cNvPr id="31" name="Oval 30"/>
          <p:cNvSpPr/>
          <p:nvPr/>
        </p:nvSpPr>
        <p:spPr>
          <a:xfrm>
            <a:off x="8302752" y="4562856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2752" y="4562856"/>
            <a:ext cx="411480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87968" y="4544568"/>
            <a:ext cx="914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400" b="1">
                <a:solidFill>
                  <a:srgbClr val="161B26"/>
                </a:solidFill>
                <a:latin typeface="Arial"/>
              </a:defRPr>
            </a:pPr>
            <a:r>
              <a:t>Decision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02368" y="4544568"/>
            <a:ext cx="1353312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0">
                <a:solidFill>
                  <a:srgbClr val="5B6372"/>
                </a:solidFill>
                <a:latin typeface="Arial"/>
              </a:defRPr>
            </a:pPr>
            <a:r>
              <a:t>Rubric and revision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02752" y="5413248"/>
            <a:ext cx="9144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Arial"/>
              </a:defRPr>
            </a:pPr>
            <a:r>
              <a:t>PASS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253728" y="5458968"/>
            <a:ext cx="1938528" cy="10972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02920" y="6428232"/>
            <a:ext cx="11183112" cy="13716"/>
          </a:xfrm>
          <a:prstGeom prst="rect">
            <a:avLst/>
          </a:prstGeom>
          <a:solidFill>
            <a:srgbClr val="DCE5F0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6483096"/>
            <a:ext cx="5212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00" b="0">
                <a:solidFill>
                  <a:srgbClr val="5B6372"/>
                </a:solidFill>
                <a:latin typeface="Arial"/>
              </a:defRPr>
            </a:pPr>
            <a:r>
              <a:t>C500 - Voice and Video Agents with n8n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51960" y="6483096"/>
            <a:ext cx="3749039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800" b="0">
                <a:solidFill>
                  <a:srgbClr val="5B6372"/>
                </a:solidFill>
                <a:latin typeface="Arial"/>
              </a:defRPr>
            </a:pPr>
            <a:r>
              <a:t>Copyright 2026 Tertiary Infotech Academy Pte Ltd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109960" y="6483096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800" b="1">
                <a:solidFill>
                  <a:srgbClr val="5B6372"/>
                </a:solidFill>
                <a:latin typeface="Arial"/>
              </a:defRPr>
            </a:pPr>
            <a:r>
              <a:t>091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01752"/>
            <a:ext cx="10972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1">
                <a:solidFill>
                  <a:srgbClr val="1F6FEB"/>
                </a:solidFill>
                <a:latin typeface="Arial"/>
              </a:defRPr>
            </a:pPr>
            <a:r>
              <a:t>TROUBLESHOOTING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800" b="1">
                <a:solidFill>
                  <a:srgbClr val="161B26"/>
                </a:solidFill>
                <a:latin typeface="Arial"/>
              </a:defRPr>
            </a:pPr>
            <a:r>
              <a:t>Lab 8: Diagnose Before Rebuilding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" y="1344168"/>
            <a:ext cx="3456432" cy="438912"/>
          </a:xfrm>
          <a:prstGeom prst="roundRect">
            <a:avLst/>
          </a:prstGeom>
          <a:solidFill>
            <a:srgbClr val="E25555"/>
          </a:solidFill>
          <a:ln>
            <a:solidFill>
              <a:srgbClr val="E2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408176"/>
            <a:ext cx="345643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SYMPTOM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15968" y="1344168"/>
            <a:ext cx="3456432" cy="438912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15968" y="1408176"/>
            <a:ext cx="345643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LIKELY CAUSE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10144" y="1344168"/>
            <a:ext cx="3456432" cy="43891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10144" y="1408176"/>
            <a:ext cx="345643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TARGETED FIX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993392"/>
            <a:ext cx="3456432" cy="1024128"/>
          </a:xfrm>
          <a:prstGeom prst="roundRect">
            <a:avLst/>
          </a:prstGeom>
          <a:solidFill>
            <a:srgbClr val="FFF4F4"/>
          </a:solidFill>
          <a:ln>
            <a:solidFill>
              <a:srgbClr val="FF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2084832"/>
            <a:ext cx="3127248" cy="8412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100" b="1">
                <a:solidFill>
                  <a:srgbClr val="161B26"/>
                </a:solidFill>
                <a:latin typeface="Arial"/>
              </a:defRPr>
            </a:pPr>
            <a:r>
              <a:t>Aria gives an empty or 'hiccup' reply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15968" y="1993392"/>
            <a:ext cx="3456432" cy="1024128"/>
          </a:xfrm>
          <a:prstGeom prst="roundRect">
            <a:avLst/>
          </a:prstGeom>
          <a:solidFill>
            <a:srgbClr val="FFF8E8"/>
          </a:solidFill>
          <a:ln>
            <a:solidFill>
              <a:srgbClr val="FFF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59" y="2084832"/>
            <a:ext cx="3127248" cy="8412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100" b="0">
                <a:solidFill>
                  <a:srgbClr val="161B26"/>
                </a:solidFill>
                <a:latin typeface="Arial"/>
              </a:defRPr>
            </a:pPr>
            <a:r>
              <a:t>The model returned nothing - often a thinking model spending its budget on private reasoning.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10144" y="1993392"/>
            <a:ext cx="3456432" cy="1024128"/>
          </a:xfrm>
          <a:prstGeom prst="roundRect">
            <a:avLst/>
          </a:prstGeom>
          <a:solidFill>
            <a:srgbClr val="ECFDF5"/>
          </a:solidFill>
          <a:ln>
            <a:solidFill>
              <a:srgbClr val="ECF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74736" y="2084832"/>
            <a:ext cx="3127248" cy="8412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100" b="0">
                <a:solidFill>
                  <a:srgbClr val="161B26"/>
                </a:solidFill>
                <a:latin typeface="Arial"/>
              </a:defRPr>
            </a:pPr>
            <a:r>
              <a:t>Open the execution and read the AI Agent output; the cleanup node's think-stripping must stay in place.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" y="3300984"/>
            <a:ext cx="3456432" cy="1024128"/>
          </a:xfrm>
          <a:prstGeom prst="roundRect">
            <a:avLst/>
          </a:prstGeom>
          <a:solidFill>
            <a:srgbClr val="FFF4F4"/>
          </a:solidFill>
          <a:ln>
            <a:solidFill>
              <a:srgbClr val="FF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" y="3392424"/>
            <a:ext cx="3127248" cy="8412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100" b="1">
                <a:solidFill>
                  <a:srgbClr val="161B26"/>
                </a:solidFill>
                <a:latin typeface="Arial"/>
              </a:defRPr>
            </a:pPr>
            <a:r>
              <a:t>The first reply takes forever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15968" y="3300984"/>
            <a:ext cx="3456432" cy="1024128"/>
          </a:xfrm>
          <a:prstGeom prst="roundRect">
            <a:avLst/>
          </a:prstGeom>
          <a:solidFill>
            <a:srgbClr val="FFF8E8"/>
          </a:solidFill>
          <a:ln>
            <a:solidFill>
              <a:srgbClr val="FFF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59" y="3392424"/>
            <a:ext cx="3127248" cy="8412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100" b="0">
                <a:solidFill>
                  <a:srgbClr val="161B26"/>
                </a:solidFill>
                <a:latin typeface="Arial"/>
              </a:defRPr>
            </a:pPr>
            <a:r>
              <a:t>The local model is cold-loading into memory.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10144" y="3300984"/>
            <a:ext cx="3456432" cy="1024128"/>
          </a:xfrm>
          <a:prstGeom prst="roundRect">
            <a:avLst/>
          </a:prstGeom>
          <a:solidFill>
            <a:srgbClr val="ECFDF5"/>
          </a:solidFill>
          <a:ln>
            <a:solidFill>
              <a:srgbClr val="ECF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74736" y="3392424"/>
            <a:ext cx="3127248" cy="8412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100" b="0">
                <a:solidFill>
                  <a:srgbClr val="161B26"/>
                </a:solidFill>
                <a:latin typeface="Arial"/>
              </a:defRPr>
            </a:pPr>
            <a:r>
              <a:t>Expected once per session - later replies are much faster. Close heavy apps if it persists.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" y="4608576"/>
            <a:ext cx="3456432" cy="1024128"/>
          </a:xfrm>
          <a:prstGeom prst="roundRect">
            <a:avLst/>
          </a:prstGeom>
          <a:solidFill>
            <a:srgbClr val="FFF4F4"/>
          </a:solidFill>
          <a:ln>
            <a:solidFill>
              <a:srgbClr val="FF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6384" y="4700016"/>
            <a:ext cx="3127248" cy="8412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100" b="1">
                <a:solidFill>
                  <a:srgbClr val="161B26"/>
                </a:solidFill>
                <a:latin typeface="Arial"/>
              </a:defRPr>
            </a:pPr>
            <a:r>
              <a:t>Replies read like essays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15968" y="4608576"/>
            <a:ext cx="3456432" cy="1024128"/>
          </a:xfrm>
          <a:prstGeom prst="roundRect">
            <a:avLst/>
          </a:prstGeom>
          <a:solidFill>
            <a:srgbClr val="FFF8E8"/>
          </a:solidFill>
          <a:ln>
            <a:solidFill>
              <a:srgbClr val="FFF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80559" y="4700016"/>
            <a:ext cx="3127248" cy="8412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100" b="0">
                <a:solidFill>
                  <a:srgbClr val="161B26"/>
                </a:solidFill>
                <a:latin typeface="Arial"/>
              </a:defRPr>
            </a:pPr>
            <a:r>
              <a:t>The system prompt's voice rules were weakened.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10144" y="4608576"/>
            <a:ext cx="3456432" cy="1024128"/>
          </a:xfrm>
          <a:prstGeom prst="roundRect">
            <a:avLst/>
          </a:prstGeom>
          <a:solidFill>
            <a:srgbClr val="ECFDF5"/>
          </a:solidFill>
          <a:ln>
            <a:solidFill>
              <a:srgbClr val="ECF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74736" y="4700016"/>
            <a:ext cx="3127248" cy="8412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100" b="0">
                <a:solidFill>
                  <a:srgbClr val="161B26"/>
                </a:solidFill>
                <a:latin typeface="Arial"/>
              </a:defRPr>
            </a:pPr>
            <a:r>
              <a:t>Restore the rules: one or two spoken sentences, no markdown, no URLs.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5989320"/>
            <a:ext cx="86868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600" b="1">
                <a:solidFill>
                  <a:srgbClr val="7C3AED"/>
                </a:solidFill>
                <a:latin typeface="Arial"/>
              </a:defRPr>
            </a:pPr>
            <a:r>
              <a:t>Change one variable, rerun the same test, compare the trace.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6428232"/>
            <a:ext cx="11183112" cy="13716"/>
          </a:xfrm>
          <a:prstGeom prst="rect">
            <a:avLst/>
          </a:prstGeom>
          <a:solidFill>
            <a:srgbClr val="DCE5F0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6483096"/>
            <a:ext cx="5212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00" b="0">
                <a:solidFill>
                  <a:srgbClr val="5B6372"/>
                </a:solidFill>
                <a:latin typeface="Arial"/>
              </a:defRPr>
            </a:pPr>
            <a:r>
              <a:t>C500 - Voice and Video Agents with n8n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51960" y="6483096"/>
            <a:ext cx="3749039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800" b="0">
                <a:solidFill>
                  <a:srgbClr val="5B6372"/>
                </a:solidFill>
                <a:latin typeface="Arial"/>
              </a:defRPr>
            </a:pPr>
            <a:r>
              <a:t>Copyright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09960" y="6483096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800" b="1">
                <a:solidFill>
                  <a:srgbClr val="5B6372"/>
                </a:solidFill>
                <a:latin typeface="Arial"/>
              </a:defRPr>
            </a:pPr>
            <a:r>
              <a:t>092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01752"/>
            <a:ext cx="10972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1">
                <a:solidFill>
                  <a:srgbClr val="1F6FEB"/>
                </a:solidFill>
                <a:latin typeface="Arial"/>
              </a:defRPr>
            </a:pPr>
            <a:r>
              <a:t>BUILD TARGET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800" b="1">
                <a:solidFill>
                  <a:srgbClr val="161B26"/>
                </a:solidFill>
                <a:latin typeface="Arial"/>
              </a:defRPr>
            </a:pPr>
            <a:r>
              <a:t>Lab 9: Interactive Avatar Session (Nova, HeyGen LiveAvatar)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417320"/>
            <a:ext cx="7360920" cy="3246120"/>
          </a:xfrm>
          <a:prstGeom prst="round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4400" y="1755648"/>
            <a:ext cx="1078992" cy="107899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55648"/>
            <a:ext cx="1078992" cy="10789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Arial"/>
              </a:defRPr>
            </a:pPr>
            <a: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31720" y="1719072"/>
            <a:ext cx="21945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1">
                <a:solidFill>
                  <a:srgbClr val="1F6FEB"/>
                </a:solidFill>
                <a:latin typeface="Arial"/>
              </a:defRPr>
            </a:pPr>
            <a:r>
              <a:t>YOU WILL BUILD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31720" y="2048256"/>
            <a:ext cx="5074920" cy="131673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700" b="1">
                <a:solidFill>
                  <a:srgbClr val="161B26"/>
                </a:solidFill>
                <a:latin typeface="Arial"/>
              </a:defRPr>
            </a:pPr>
            <a:r>
              <a:t>A cloud interactive avatar embedded in the page through a short-lived session URL minted by n8n - the API key never reaches the browser.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1720" y="3474720"/>
            <a:ext cx="19202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  <a:latin typeface="Arial"/>
              </a:defRPr>
            </a:pPr>
            <a:r>
              <a:t>DELIVERABLE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3822191"/>
            <a:ext cx="507492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500" b="0">
                <a:solidFill>
                  <a:srgbClr val="5B6372"/>
                </a:solidFill>
                <a:latin typeface="Arial"/>
              </a:defRPr>
            </a:pPr>
            <a:r>
              <a:t>A working Nova session plus the two-column scorecard comparing her against the browser-rendered avatar.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02752" y="1417320"/>
            <a:ext cx="32918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02752" y="1417320"/>
            <a:ext cx="73152" cy="96012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540496" y="1636776"/>
            <a:ext cx="438912" cy="43891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40496" y="1636776"/>
            <a:ext cx="438912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07424" y="1554480"/>
            <a:ext cx="226771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600" b="1">
                <a:solidFill>
                  <a:srgbClr val="161B26"/>
                </a:solidFill>
                <a:latin typeface="Arial"/>
              </a:defRPr>
            </a:pPr>
            <a:r>
              <a:t>TIMEBOX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07424" y="1920240"/>
            <a:ext cx="2267712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0">
                <a:solidFill>
                  <a:srgbClr val="5B6372"/>
                </a:solidFill>
                <a:latin typeface="Arial"/>
              </a:defRPr>
            </a:pPr>
            <a:r>
              <a:t>45 minutes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02752" y="2606040"/>
            <a:ext cx="32918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302752" y="2606040"/>
            <a:ext cx="73152" cy="96012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540496" y="2825496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40496" y="2825496"/>
            <a:ext cx="438912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07424" y="2743200"/>
            <a:ext cx="226771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600" b="1">
                <a:solidFill>
                  <a:srgbClr val="161B26"/>
                </a:solidFill>
                <a:latin typeface="Arial"/>
              </a:defRPr>
            </a:pPr>
            <a:r>
              <a:t>MODE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07424" y="3108960"/>
            <a:ext cx="2267712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0">
                <a:solidFill>
                  <a:srgbClr val="5B6372"/>
                </a:solidFill>
                <a:latin typeface="Arial"/>
              </a:defRPr>
            </a:pPr>
            <a:r>
              <a:t>Demo, guided build, independent test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302752" y="3794760"/>
            <a:ext cx="32918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302752" y="3794760"/>
            <a:ext cx="73152" cy="96012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540496" y="4014216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40496" y="4014216"/>
            <a:ext cx="438912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07424" y="3931920"/>
            <a:ext cx="226771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600" b="1">
                <a:solidFill>
                  <a:srgbClr val="161B26"/>
                </a:solidFill>
                <a:latin typeface="Arial"/>
              </a:defRPr>
            </a:pPr>
            <a:r>
              <a:t>EVIDENCE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07424" y="4297680"/>
            <a:ext cx="2267712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0">
                <a:solidFill>
                  <a:srgbClr val="5B6372"/>
                </a:solidFill>
                <a:latin typeface="Arial"/>
              </a:defRPr>
            </a:pPr>
            <a:r>
              <a:t>Execution trace plus learner artifact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5230368"/>
            <a:ext cx="731520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000" b="1">
                <a:solidFill>
                  <a:srgbClr val="7C3AED"/>
                </a:solidFill>
                <a:latin typeface="Arial"/>
              </a:defRPr>
            </a:pPr>
            <a:r>
              <a:t>Success is demonstrated, not assumed.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6428232"/>
            <a:ext cx="11183112" cy="13716"/>
          </a:xfrm>
          <a:prstGeom prst="rect">
            <a:avLst/>
          </a:prstGeom>
          <a:solidFill>
            <a:srgbClr val="DCE5F0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6483096"/>
            <a:ext cx="5212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00" b="0">
                <a:solidFill>
                  <a:srgbClr val="5B6372"/>
                </a:solidFill>
                <a:latin typeface="Arial"/>
              </a:defRPr>
            </a:pPr>
            <a:r>
              <a:t>C500 - Voice and Video Agents with n8n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6483096"/>
            <a:ext cx="3749039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800" b="0">
                <a:solidFill>
                  <a:srgbClr val="5B6372"/>
                </a:solidFill>
                <a:latin typeface="Arial"/>
              </a:defRPr>
            </a:pPr>
            <a:r>
              <a:t>Copyright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09960" y="6483096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800" b="1">
                <a:solidFill>
                  <a:srgbClr val="5B6372"/>
                </a:solidFill>
                <a:latin typeface="Arial"/>
              </a:defRPr>
            </a:pPr>
            <a:r>
              <a:t>093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01752"/>
            <a:ext cx="10972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1">
                <a:solidFill>
                  <a:srgbClr val="1F6FEB"/>
                </a:solidFill>
                <a:latin typeface="Arial"/>
              </a:defRPr>
            </a:pPr>
            <a:r>
              <a:t>CONCEPT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800" b="1">
                <a:solidFill>
                  <a:srgbClr val="161B26"/>
                </a:solidFill>
                <a:latin typeface="Arial"/>
              </a:defRPr>
            </a:pPr>
            <a:r>
              <a:t>Lab 9: Four Ideas That Make It Work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" y="1389888"/>
            <a:ext cx="5349240" cy="1901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1792" y="1389888"/>
            <a:ext cx="73152" cy="190195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59536" y="1609344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609344"/>
            <a:ext cx="438912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26464" y="1591056"/>
            <a:ext cx="432511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700" b="1">
                <a:solidFill>
                  <a:srgbClr val="161B26"/>
                </a:solidFill>
                <a:latin typeface="Arial"/>
              </a:defRPr>
            </a:pPr>
            <a:r>
              <a:t>Session minting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048256"/>
            <a:ext cx="4846320" cy="10789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400" b="0">
                <a:solidFill>
                  <a:srgbClr val="5B6372"/>
                </a:solidFill>
                <a:latin typeface="Arial"/>
              </a:defRPr>
            </a:pPr>
            <a:r>
              <a:t>n8n calls LiveAvatar with the API key server-side and returns only a short-lived embed URL to the page.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389888"/>
            <a:ext cx="5349240" cy="1901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99632" y="1389888"/>
            <a:ext cx="73152" cy="19019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37376" y="1609344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37376" y="1609344"/>
            <a:ext cx="438912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4304" y="1591056"/>
            <a:ext cx="432511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700" b="1">
                <a:solidFill>
                  <a:srgbClr val="161B26"/>
                </a:solidFill>
                <a:latin typeface="Arial"/>
              </a:defRPr>
            </a:pPr>
            <a:r>
              <a:t>Cloud quality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2" y="2048256"/>
            <a:ext cx="4846320" cy="10789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400" b="0">
                <a:solidFill>
                  <a:srgbClr val="5B6372"/>
                </a:solidFill>
                <a:latin typeface="Arial"/>
              </a:defRPr>
            </a:pPr>
            <a:r>
              <a:t>Nova looks far better than Aria - photoreal, fluid - and costs credits for every session.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" y="3675887"/>
            <a:ext cx="5349240" cy="1901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" y="3675887"/>
            <a:ext cx="73152" cy="1901952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59536" y="3895344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6" y="3895344"/>
            <a:ext cx="438912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26464" y="3877055"/>
            <a:ext cx="432511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700" b="1">
                <a:solidFill>
                  <a:srgbClr val="161B26"/>
                </a:solidFill>
                <a:latin typeface="Arial"/>
              </a:defRPr>
            </a:pPr>
            <a:r>
              <a:t>The comparison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" y="4334255"/>
            <a:ext cx="4846320" cy="10789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400" b="0">
                <a:solidFill>
                  <a:srgbClr val="5B6372"/>
                </a:solidFill>
                <a:latin typeface="Arial"/>
              </a:defRPr>
            </a:pPr>
            <a:r>
              <a:t>Aria: free, private, ~2 s, drawn mouth. Nova: photoreal, cloud, credits. Both are defensible - be able to say when.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9632" y="3675887"/>
            <a:ext cx="5349240" cy="1901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99632" y="3675887"/>
            <a:ext cx="73152" cy="19019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37376" y="3895344"/>
            <a:ext cx="438912" cy="43891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37376" y="3895344"/>
            <a:ext cx="438912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04304" y="3877055"/>
            <a:ext cx="432511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700" b="1">
                <a:solidFill>
                  <a:srgbClr val="161B26"/>
                </a:solidFill>
                <a:latin typeface="Arial"/>
              </a:defRPr>
            </a:pPr>
            <a:r>
              <a:t>The same key instinct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73952" y="4334255"/>
            <a:ext cx="4846320" cy="10789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400" b="0">
                <a:solidFill>
                  <a:srgbClr val="5B6372"/>
                </a:solidFill>
                <a:latin typeface="Arial"/>
              </a:defRPr>
            </a:pPr>
            <a:r>
              <a:t>Lab 4's signed URL, Lab 9's embed URL, Lab 10's proxy URL - the browser only ever receives short-lived, single-purpose tokens.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5806440"/>
            <a:ext cx="80467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600" b="0">
                <a:solidFill>
                  <a:srgbClr val="5B6372"/>
                </a:solidFill>
                <a:latin typeface="Arial"/>
              </a:defRPr>
            </a:pPr>
            <a:r>
              <a:t>Connect the four ideas before touching the workflow canvas.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6428232"/>
            <a:ext cx="11183112" cy="13716"/>
          </a:xfrm>
          <a:prstGeom prst="rect">
            <a:avLst/>
          </a:prstGeom>
          <a:solidFill>
            <a:srgbClr val="DCE5F0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6483096"/>
            <a:ext cx="5212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00" b="0">
                <a:solidFill>
                  <a:srgbClr val="5B6372"/>
                </a:solidFill>
                <a:latin typeface="Arial"/>
              </a:defRPr>
            </a:pPr>
            <a:r>
              <a:t>C500 - Voice and Video Agents with n8n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51960" y="6483096"/>
            <a:ext cx="3749039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800" b="0">
                <a:solidFill>
                  <a:srgbClr val="5B6372"/>
                </a:solidFill>
                <a:latin typeface="Arial"/>
              </a:defRPr>
            </a:pPr>
            <a:r>
              <a:t>Copyright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09960" y="6483096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800" b="1">
                <a:solidFill>
                  <a:srgbClr val="5B6372"/>
                </a:solidFill>
                <a:latin typeface="Arial"/>
              </a:defRPr>
            </a:pPr>
            <a:r>
              <a:t>094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01752"/>
            <a:ext cx="10972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1">
                <a:solidFill>
                  <a:srgbClr val="1F6FEB"/>
                </a:solidFill>
                <a:latin typeface="Arial"/>
              </a:defRPr>
            </a:pPr>
            <a:r>
              <a:t>WORKFLOW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800" b="1">
                <a:solidFill>
                  <a:srgbClr val="161B26"/>
                </a:solidFill>
                <a:latin typeface="Arial"/>
              </a:defRPr>
            </a:pPr>
            <a:r>
              <a:t>Lab 9: Build Sequence</a:t>
            </a:r>
          </a:p>
        </p:txBody>
      </p:sp>
      <p:sp>
        <p:nvSpPr>
          <p:cNvPr id="4" name="Oval 3"/>
          <p:cNvSpPr/>
          <p:nvPr/>
        </p:nvSpPr>
        <p:spPr>
          <a:xfrm>
            <a:off x="658368" y="1463039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463039"/>
            <a:ext cx="53035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08176" y="1325880"/>
            <a:ext cx="4690872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8488" y="1417320"/>
            <a:ext cx="4279392" cy="11887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400" b="0">
                <a:solidFill>
                  <a:srgbClr val="161B26"/>
                </a:solidFill>
                <a:latin typeface="Arial"/>
              </a:defRPr>
            </a:pPr>
            <a:r>
              <a:t>Import lab9/liveavatar-session-flow.json and set it Active.</a:t>
            </a:r>
          </a:p>
        </p:txBody>
      </p:sp>
      <p:sp>
        <p:nvSpPr>
          <p:cNvPr id="8" name="Oval 7"/>
          <p:cNvSpPr/>
          <p:nvPr/>
        </p:nvSpPr>
        <p:spPr>
          <a:xfrm>
            <a:off x="6373368" y="1463039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73368" y="1463039"/>
            <a:ext cx="53035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23176" y="1325880"/>
            <a:ext cx="4690872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33488" y="1417320"/>
            <a:ext cx="4279392" cy="11887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400" b="0">
                <a:solidFill>
                  <a:srgbClr val="161B26"/>
                </a:solidFill>
                <a:latin typeface="Arial"/>
              </a:defRPr>
            </a:pPr>
            <a:r>
              <a:t>Add the LiveAvatar API credential in n8n.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309067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3090672"/>
            <a:ext cx="53035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08176" y="2953512"/>
            <a:ext cx="4690872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18488" y="3044952"/>
            <a:ext cx="4279392" cy="11887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400" b="0">
                <a:solidFill>
                  <a:srgbClr val="161B26"/>
                </a:solidFill>
                <a:latin typeface="Arial"/>
              </a:defRPr>
            </a:pPr>
            <a:r>
              <a:t>Serve the lab9 website and start a session with Nova.</a:t>
            </a:r>
          </a:p>
        </p:txBody>
      </p:sp>
      <p:sp>
        <p:nvSpPr>
          <p:cNvPr id="16" name="Oval 15"/>
          <p:cNvSpPr/>
          <p:nvPr/>
        </p:nvSpPr>
        <p:spPr>
          <a:xfrm>
            <a:off x="6373368" y="309067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73368" y="3090672"/>
            <a:ext cx="53035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23176" y="2953512"/>
            <a:ext cx="4690872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33488" y="3044952"/>
            <a:ext cx="4279392" cy="11887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400" b="0">
                <a:solidFill>
                  <a:srgbClr val="161B26"/>
                </a:solidFill>
                <a:latin typeface="Arial"/>
              </a:defRPr>
            </a:pPr>
            <a:r>
              <a:t>Hold a short conversation and note the quality and the latency.</a:t>
            </a:r>
          </a:p>
        </p:txBody>
      </p:sp>
      <p:sp>
        <p:nvSpPr>
          <p:cNvPr id="20" name="Oval 19"/>
          <p:cNvSpPr/>
          <p:nvPr/>
        </p:nvSpPr>
        <p:spPr>
          <a:xfrm>
            <a:off x="658368" y="4718304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4718304"/>
            <a:ext cx="53035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408176" y="4581144"/>
            <a:ext cx="4690872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18488" y="4672583"/>
            <a:ext cx="4279392" cy="11887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400" b="0">
                <a:solidFill>
                  <a:srgbClr val="161B26"/>
                </a:solidFill>
                <a:latin typeface="Arial"/>
              </a:defRPr>
            </a:pPr>
            <a:r>
              <a:t>Write down one thing Nova does better than Aria, and one thing Aria does better than Nova.</a:t>
            </a:r>
          </a:p>
        </p:txBody>
      </p:sp>
      <p:sp>
        <p:nvSpPr>
          <p:cNvPr id="24" name="Oval 23"/>
          <p:cNvSpPr/>
          <p:nvPr/>
        </p:nvSpPr>
        <p:spPr>
          <a:xfrm>
            <a:off x="6373368" y="4718304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73368" y="4718304"/>
            <a:ext cx="53035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23176" y="4581144"/>
            <a:ext cx="4690872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33488" y="4672583"/>
            <a:ext cx="4279392" cy="11887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400" b="0">
                <a:solidFill>
                  <a:srgbClr val="161B26"/>
                </a:solidFill>
                <a:latin typeface="Arial"/>
              </a:defRPr>
            </a:pPr>
            <a:r>
              <a:t>Open the execution and find the session URL - confirm no API key ever reached the page.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6053328"/>
            <a:ext cx="59436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500" b="1">
                <a:solidFill>
                  <a:srgbClr val="7C3AED"/>
                </a:solidFill>
                <a:latin typeface="Arial"/>
              </a:defRPr>
            </a:pPr>
            <a:r>
              <a:t>Build one observable behavior at a time.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6428232"/>
            <a:ext cx="11183112" cy="13716"/>
          </a:xfrm>
          <a:prstGeom prst="rect">
            <a:avLst/>
          </a:prstGeom>
          <a:solidFill>
            <a:srgbClr val="DCE5F0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6483096"/>
            <a:ext cx="5212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00" b="0">
                <a:solidFill>
                  <a:srgbClr val="5B6372"/>
                </a:solidFill>
                <a:latin typeface="Arial"/>
              </a:defRPr>
            </a:pPr>
            <a:r>
              <a:t>C500 - Voice and Video Agents with n8n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51960" y="6483096"/>
            <a:ext cx="3749039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800" b="0">
                <a:solidFill>
                  <a:srgbClr val="5B6372"/>
                </a:solidFill>
                <a:latin typeface="Arial"/>
              </a:defRPr>
            </a:pPr>
            <a:r>
              <a:t>Copyright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09960" y="6483096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800" b="1">
                <a:solidFill>
                  <a:srgbClr val="5B6372"/>
                </a:solidFill>
                <a:latin typeface="Arial"/>
              </a:defRPr>
            </a:pPr>
            <a:r>
              <a:t>095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01752"/>
            <a:ext cx="10972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1">
                <a:solidFill>
                  <a:srgbClr val="1F6FEB"/>
                </a:solidFill>
                <a:latin typeface="Arial"/>
              </a:defRPr>
            </a:pPr>
            <a:r>
              <a:t>LAB 9 - INTERACTIVE AVATAR SESSION (NOVA, HEYGEN LIVEAVATAR)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800" b="1">
                <a:solidFill>
                  <a:srgbClr val="161B26"/>
                </a:solidFill>
                <a:latin typeface="Arial"/>
              </a:defRPr>
            </a:pPr>
            <a:r>
              <a:t>Lab 9 - the LiveAvatar embed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12567" y="1271016"/>
            <a:ext cx="6766559" cy="427024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ab9-liveavatar-s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7431" y="1325880"/>
            <a:ext cx="6656831" cy="4160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13232" y="5806440"/>
            <a:ext cx="1078992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500" b="0">
                <a:solidFill>
                  <a:srgbClr val="5B6372"/>
                </a:solidFill>
                <a:latin typeface="Arial"/>
              </a:defRPr>
            </a:pPr>
            <a:r>
              <a:t>Lab 9 - the LiveAvatar embed: n8n mints a short-lived session URL, so the API key never reaches the browser.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28232"/>
            <a:ext cx="11183112" cy="13716"/>
          </a:xfrm>
          <a:prstGeom prst="rect">
            <a:avLst/>
          </a:prstGeom>
          <a:solidFill>
            <a:srgbClr val="DCE5F0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83096"/>
            <a:ext cx="5212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00" b="0">
                <a:solidFill>
                  <a:srgbClr val="5B6372"/>
                </a:solidFill>
                <a:latin typeface="Arial"/>
              </a:defRPr>
            </a:pPr>
            <a:r>
              <a:t>C500 - Voice and Video Agents with n8n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51960" y="6483096"/>
            <a:ext cx="3749039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800" b="0">
                <a:solidFill>
                  <a:srgbClr val="5B6372"/>
                </a:solidFill>
                <a:latin typeface="Arial"/>
              </a:defRPr>
            </a:pPr>
            <a:r>
              <a:t>Copyright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483096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800" b="1">
                <a:solidFill>
                  <a:srgbClr val="5B6372"/>
                </a:solidFill>
                <a:latin typeface="Arial"/>
              </a:defRPr>
            </a:pPr>
            <a:r>
              <a:t>096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01752"/>
            <a:ext cx="10972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1">
                <a:solidFill>
                  <a:srgbClr val="1F6FEB"/>
                </a:solidFill>
                <a:latin typeface="Arial"/>
              </a:defRPr>
            </a:pPr>
            <a:r>
              <a:t>QUALITY GATE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800" b="1">
                <a:solidFill>
                  <a:srgbClr val="161B26"/>
                </a:solidFill>
                <a:latin typeface="Arial"/>
              </a:defRPr>
            </a:pPr>
            <a:r>
              <a:t>Lab 9: Prove, Evaluate, Improve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" y="1353312"/>
            <a:ext cx="6995160" cy="4498848"/>
          </a:xfrm>
          <a:prstGeom prst="round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32688" y="1664208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664208"/>
            <a:ext cx="457200" cy="4572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27632" y="1645920"/>
            <a:ext cx="5440680" cy="7772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500" b="0">
                <a:solidFill>
                  <a:srgbClr val="161B26"/>
                </a:solidFill>
                <a:latin typeface="Arial"/>
              </a:defRPr>
            </a:pPr>
            <a:r>
              <a:t>Nova loads and holds a conversation.</a:t>
            </a:r>
          </a:p>
        </p:txBody>
      </p:sp>
      <p:sp>
        <p:nvSpPr>
          <p:cNvPr id="8" name="Oval 7"/>
          <p:cNvSpPr/>
          <p:nvPr/>
        </p:nvSpPr>
        <p:spPr>
          <a:xfrm>
            <a:off x="932688" y="2496312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496312"/>
            <a:ext cx="457200" cy="4572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27632" y="2478024"/>
            <a:ext cx="5440680" cy="7772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500" b="0">
                <a:solidFill>
                  <a:srgbClr val="161B26"/>
                </a:solidFill>
                <a:latin typeface="Arial"/>
              </a:defRPr>
            </a:pPr>
            <a:r>
              <a:t>The Aria-versus-Nova scorecard has one honest entry in each column.</a:t>
            </a:r>
          </a:p>
        </p:txBody>
      </p:sp>
      <p:sp>
        <p:nvSpPr>
          <p:cNvPr id="11" name="Oval 10"/>
          <p:cNvSpPr/>
          <p:nvPr/>
        </p:nvSpPr>
        <p:spPr>
          <a:xfrm>
            <a:off x="932688" y="3328416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3328416"/>
            <a:ext cx="457200" cy="4572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27632" y="3310128"/>
            <a:ext cx="5440680" cy="7772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500" b="0">
                <a:solidFill>
                  <a:srgbClr val="161B26"/>
                </a:solidFill>
                <a:latin typeface="Arial"/>
              </a:defRPr>
            </a:pPr>
            <a:r>
              <a:t>Run one edge case and record the change made after evaluation.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73568" y="1353312"/>
            <a:ext cx="3611880" cy="4498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02752" y="1682496"/>
            <a:ext cx="29260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1">
                <a:solidFill>
                  <a:srgbClr val="1F6FEB"/>
                </a:solidFill>
                <a:latin typeface="Arial"/>
              </a:defRPr>
            </a:pPr>
            <a:r>
              <a:t>EVIDENCE STACK</a:t>
            </a:r>
          </a:p>
        </p:txBody>
      </p:sp>
      <p:sp>
        <p:nvSpPr>
          <p:cNvPr id="16" name="Oval 15"/>
          <p:cNvSpPr/>
          <p:nvPr/>
        </p:nvSpPr>
        <p:spPr>
          <a:xfrm>
            <a:off x="8302752" y="2176272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2752" y="2176272"/>
            <a:ext cx="411480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87968" y="2157984"/>
            <a:ext cx="914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400" b="1">
                <a:solidFill>
                  <a:srgbClr val="161B26"/>
                </a:solidFill>
                <a:latin typeface="Arial"/>
              </a:defRPr>
            </a:pPr>
            <a:r>
              <a:t>Input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02368" y="2157984"/>
            <a:ext cx="1353312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0">
                <a:solidFill>
                  <a:srgbClr val="5B6372"/>
                </a:solidFill>
                <a:latin typeface="Arial"/>
              </a:defRPr>
            </a:pPr>
            <a:r>
              <a:t>Exact test payload</a:t>
            </a:r>
          </a:p>
        </p:txBody>
      </p:sp>
      <p:sp>
        <p:nvSpPr>
          <p:cNvPr id="20" name="Oval 19"/>
          <p:cNvSpPr/>
          <p:nvPr/>
        </p:nvSpPr>
        <p:spPr>
          <a:xfrm>
            <a:off x="8302752" y="2971800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02752" y="2971800"/>
            <a:ext cx="411480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87968" y="2953512"/>
            <a:ext cx="914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400" b="1">
                <a:solidFill>
                  <a:srgbClr val="161B26"/>
                </a:solidFill>
                <a:latin typeface="Arial"/>
              </a:defRPr>
            </a:pPr>
            <a:r>
              <a:t>Trace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02368" y="2953512"/>
            <a:ext cx="1353312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0">
                <a:solidFill>
                  <a:srgbClr val="5B6372"/>
                </a:solidFill>
                <a:latin typeface="Arial"/>
              </a:defRPr>
            </a:pPr>
            <a:r>
              <a:t>Node execution path</a:t>
            </a:r>
          </a:p>
        </p:txBody>
      </p:sp>
      <p:sp>
        <p:nvSpPr>
          <p:cNvPr id="24" name="Oval 23"/>
          <p:cNvSpPr/>
          <p:nvPr/>
        </p:nvSpPr>
        <p:spPr>
          <a:xfrm>
            <a:off x="8302752" y="3767328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02752" y="3767328"/>
            <a:ext cx="411480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87968" y="3749040"/>
            <a:ext cx="914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400" b="1">
                <a:solidFill>
                  <a:srgbClr val="161B26"/>
                </a:solidFill>
                <a:latin typeface="Arial"/>
              </a:defRPr>
            </a:pPr>
            <a:r>
              <a:t>Output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02368" y="3749040"/>
            <a:ext cx="1353312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0">
                <a:solidFill>
                  <a:srgbClr val="5B6372"/>
                </a:solidFill>
                <a:latin typeface="Arial"/>
              </a:defRPr>
            </a:pPr>
            <a:r>
              <a:t>Generated result</a:t>
            </a:r>
          </a:p>
        </p:txBody>
      </p:sp>
      <p:sp>
        <p:nvSpPr>
          <p:cNvPr id="28" name="Oval 27"/>
          <p:cNvSpPr/>
          <p:nvPr/>
        </p:nvSpPr>
        <p:spPr>
          <a:xfrm>
            <a:off x="8302752" y="4562856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02752" y="4562856"/>
            <a:ext cx="411480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87968" y="4544568"/>
            <a:ext cx="914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400" b="1">
                <a:solidFill>
                  <a:srgbClr val="161B26"/>
                </a:solidFill>
                <a:latin typeface="Arial"/>
              </a:defRPr>
            </a:pPr>
            <a:r>
              <a:t>Decision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02368" y="4544568"/>
            <a:ext cx="1353312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0">
                <a:solidFill>
                  <a:srgbClr val="5B6372"/>
                </a:solidFill>
                <a:latin typeface="Arial"/>
              </a:defRPr>
            </a:pPr>
            <a:r>
              <a:t>Rubric and revision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02752" y="5413248"/>
            <a:ext cx="9144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Arial"/>
              </a:defRPr>
            </a:pPr>
            <a:r>
              <a:t>PASS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253728" y="5458968"/>
            <a:ext cx="1938528" cy="10972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02920" y="6428232"/>
            <a:ext cx="11183112" cy="13716"/>
          </a:xfrm>
          <a:prstGeom prst="rect">
            <a:avLst/>
          </a:prstGeom>
          <a:solidFill>
            <a:srgbClr val="DCE5F0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6483096"/>
            <a:ext cx="5212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00" b="0">
                <a:solidFill>
                  <a:srgbClr val="5B6372"/>
                </a:solidFill>
                <a:latin typeface="Arial"/>
              </a:defRPr>
            </a:pPr>
            <a:r>
              <a:t>C500 - Voice and Video Agents with n8n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51960" y="6483096"/>
            <a:ext cx="3749039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800" b="0">
                <a:solidFill>
                  <a:srgbClr val="5B6372"/>
                </a:solidFill>
                <a:latin typeface="Arial"/>
              </a:defRPr>
            </a:pPr>
            <a:r>
              <a:t>Copyright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09960" y="6483096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800" b="1">
                <a:solidFill>
                  <a:srgbClr val="5B6372"/>
                </a:solidFill>
                <a:latin typeface="Arial"/>
              </a:defRPr>
            </a:pPr>
            <a:r>
              <a:t>097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01752"/>
            <a:ext cx="10972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1">
                <a:solidFill>
                  <a:srgbClr val="1F6FEB"/>
                </a:solidFill>
                <a:latin typeface="Arial"/>
              </a:defRPr>
            </a:pPr>
            <a:r>
              <a:t>TROUBLESHOOTING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800" b="1">
                <a:solidFill>
                  <a:srgbClr val="161B26"/>
                </a:solidFill>
                <a:latin typeface="Arial"/>
              </a:defRPr>
            </a:pPr>
            <a:r>
              <a:t>Lab 9: Diagnose Before Rebuilding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" y="1344168"/>
            <a:ext cx="3456432" cy="438912"/>
          </a:xfrm>
          <a:prstGeom prst="roundRect">
            <a:avLst/>
          </a:prstGeom>
          <a:solidFill>
            <a:srgbClr val="E25555"/>
          </a:solidFill>
          <a:ln>
            <a:solidFill>
              <a:srgbClr val="E2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408176"/>
            <a:ext cx="345643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SYMPTOM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15968" y="1344168"/>
            <a:ext cx="3456432" cy="438912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15968" y="1408176"/>
            <a:ext cx="345643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LIKELY CAUSE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10144" y="1344168"/>
            <a:ext cx="3456432" cy="43891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10144" y="1408176"/>
            <a:ext cx="345643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TARGETED FIX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993392"/>
            <a:ext cx="3456432" cy="1024128"/>
          </a:xfrm>
          <a:prstGeom prst="roundRect">
            <a:avLst/>
          </a:prstGeom>
          <a:solidFill>
            <a:srgbClr val="FFF4F4"/>
          </a:solidFill>
          <a:ln>
            <a:solidFill>
              <a:srgbClr val="FF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2084832"/>
            <a:ext cx="3127248" cy="8412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200" b="1">
                <a:solidFill>
                  <a:srgbClr val="161B26"/>
                </a:solidFill>
                <a:latin typeface="Arial"/>
              </a:defRPr>
            </a:pPr>
            <a:r>
              <a:t>The session fails to start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15968" y="1993392"/>
            <a:ext cx="3456432" cy="1024128"/>
          </a:xfrm>
          <a:prstGeom prst="roundRect">
            <a:avLst/>
          </a:prstGeom>
          <a:solidFill>
            <a:srgbClr val="FFF8E8"/>
          </a:solidFill>
          <a:ln>
            <a:solidFill>
              <a:srgbClr val="FFF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59" y="2084832"/>
            <a:ext cx="3127248" cy="8412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200" b="0">
                <a:solidFill>
                  <a:srgbClr val="161B26"/>
                </a:solidFill>
                <a:latin typeface="Arial"/>
              </a:defRPr>
            </a:pPr>
            <a:r>
              <a:t>The LiveAvatar credential is missing or invalid.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10144" y="1993392"/>
            <a:ext cx="3456432" cy="1024128"/>
          </a:xfrm>
          <a:prstGeom prst="roundRect">
            <a:avLst/>
          </a:prstGeom>
          <a:solidFill>
            <a:srgbClr val="ECFDF5"/>
          </a:solidFill>
          <a:ln>
            <a:solidFill>
              <a:srgbClr val="ECF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74736" y="2084832"/>
            <a:ext cx="3127248" cy="8412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200" b="0">
                <a:solidFill>
                  <a:srgbClr val="161B26"/>
                </a:solidFill>
                <a:latin typeface="Arial"/>
              </a:defRPr>
            </a:pPr>
            <a:r>
              <a:t>Fix the credential in n8n and read the execution error.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" y="3300984"/>
            <a:ext cx="3456432" cy="1024128"/>
          </a:xfrm>
          <a:prstGeom prst="roundRect">
            <a:avLst/>
          </a:prstGeom>
          <a:solidFill>
            <a:srgbClr val="FFF4F4"/>
          </a:solidFill>
          <a:ln>
            <a:solidFill>
              <a:srgbClr val="FF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" y="3392424"/>
            <a:ext cx="3127248" cy="8412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200" b="1">
                <a:solidFill>
                  <a:srgbClr val="161B26"/>
                </a:solidFill>
                <a:latin typeface="Arial"/>
              </a:defRPr>
            </a:pPr>
            <a:r>
              <a:t>The embed loads, then dies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15968" y="3300984"/>
            <a:ext cx="3456432" cy="1024128"/>
          </a:xfrm>
          <a:prstGeom prst="roundRect">
            <a:avLst/>
          </a:prstGeom>
          <a:solidFill>
            <a:srgbClr val="FFF8E8"/>
          </a:solidFill>
          <a:ln>
            <a:solidFill>
              <a:srgbClr val="FFF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59" y="3392424"/>
            <a:ext cx="3127248" cy="8412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200" b="0">
                <a:solidFill>
                  <a:srgbClr val="161B26"/>
                </a:solidFill>
                <a:latin typeface="Arial"/>
              </a:defRPr>
            </a:pPr>
            <a:r>
              <a:t>The short-lived session URL expired.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10144" y="3300984"/>
            <a:ext cx="3456432" cy="1024128"/>
          </a:xfrm>
          <a:prstGeom prst="roundRect">
            <a:avLst/>
          </a:prstGeom>
          <a:solidFill>
            <a:srgbClr val="ECFDF5"/>
          </a:solidFill>
          <a:ln>
            <a:solidFill>
              <a:srgbClr val="ECF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74736" y="3392424"/>
            <a:ext cx="3127248" cy="8412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200" b="0">
                <a:solidFill>
                  <a:srgbClr val="161B26"/>
                </a:solidFill>
                <a:latin typeface="Arial"/>
              </a:defRPr>
            </a:pPr>
            <a:r>
              <a:t>Mint a fresh session - expiring quickly is the point of these URLs.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" y="4608576"/>
            <a:ext cx="3456432" cy="1024128"/>
          </a:xfrm>
          <a:prstGeom prst="roundRect">
            <a:avLst/>
          </a:prstGeom>
          <a:solidFill>
            <a:srgbClr val="FFF4F4"/>
          </a:solidFill>
          <a:ln>
            <a:solidFill>
              <a:srgbClr val="FF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6384" y="4700016"/>
            <a:ext cx="3127248" cy="8412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200" b="1">
                <a:solidFill>
                  <a:srgbClr val="161B26"/>
                </a:solidFill>
                <a:latin typeface="Arial"/>
              </a:defRPr>
            </a:pPr>
            <a:r>
              <a:t>A key is visible in the page source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15968" y="4608576"/>
            <a:ext cx="3456432" cy="1024128"/>
          </a:xfrm>
          <a:prstGeom prst="roundRect">
            <a:avLst/>
          </a:prstGeom>
          <a:solidFill>
            <a:srgbClr val="FFF8E8"/>
          </a:solidFill>
          <a:ln>
            <a:solidFill>
              <a:srgbClr val="FFF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80559" y="4700016"/>
            <a:ext cx="3127248" cy="8412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200" b="0">
                <a:solidFill>
                  <a:srgbClr val="161B26"/>
                </a:solidFill>
                <a:latin typeface="Arial"/>
              </a:defRPr>
            </a:pPr>
            <a:r>
              <a:t>Someone hardcoded it into the front end.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10144" y="4608576"/>
            <a:ext cx="3456432" cy="1024128"/>
          </a:xfrm>
          <a:prstGeom prst="roundRect">
            <a:avLst/>
          </a:prstGeom>
          <a:solidFill>
            <a:srgbClr val="ECFDF5"/>
          </a:solidFill>
          <a:ln>
            <a:solidFill>
              <a:srgbClr val="ECF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74736" y="4700016"/>
            <a:ext cx="3127248" cy="8412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200" b="0">
                <a:solidFill>
                  <a:srgbClr val="161B26"/>
                </a:solidFill>
                <a:latin typeface="Arial"/>
              </a:defRPr>
            </a:pPr>
            <a:r>
              <a:t>Remove it - the page must only ever receive the embed URL.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5989320"/>
            <a:ext cx="86868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600" b="1">
                <a:solidFill>
                  <a:srgbClr val="7C3AED"/>
                </a:solidFill>
                <a:latin typeface="Arial"/>
              </a:defRPr>
            </a:pPr>
            <a:r>
              <a:t>Change one variable, rerun the same test, compare the trace.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6428232"/>
            <a:ext cx="11183112" cy="13716"/>
          </a:xfrm>
          <a:prstGeom prst="rect">
            <a:avLst/>
          </a:prstGeom>
          <a:solidFill>
            <a:srgbClr val="DCE5F0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6483096"/>
            <a:ext cx="5212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00" b="0">
                <a:solidFill>
                  <a:srgbClr val="5B6372"/>
                </a:solidFill>
                <a:latin typeface="Arial"/>
              </a:defRPr>
            </a:pPr>
            <a:r>
              <a:t>C500 - Voice and Video Agents with n8n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51960" y="6483096"/>
            <a:ext cx="3749039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800" b="0">
                <a:solidFill>
                  <a:srgbClr val="5B6372"/>
                </a:solidFill>
                <a:latin typeface="Arial"/>
              </a:defRPr>
            </a:pPr>
            <a:r>
              <a:t>Copyright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09960" y="6483096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800" b="1">
                <a:solidFill>
                  <a:srgbClr val="5B6372"/>
                </a:solidFill>
                <a:latin typeface="Arial"/>
              </a:defRPr>
            </a:pPr>
            <a:r>
              <a:t>098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01752"/>
            <a:ext cx="10972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1">
                <a:solidFill>
                  <a:srgbClr val="1F6FEB"/>
                </a:solidFill>
                <a:latin typeface="Arial"/>
              </a:defRPr>
            </a:pPr>
            <a:r>
              <a:t>BUILD TARGET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800" b="1">
                <a:solidFill>
                  <a:srgbClr val="161B26"/>
                </a:solidFill>
                <a:latin typeface="Arial"/>
              </a:defRPr>
            </a:pPr>
            <a:r>
              <a:t>Lab 10: AI Video Generation with Gemini Veo 3 (Veo Studio)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417320"/>
            <a:ext cx="7360920" cy="3246120"/>
          </a:xfrm>
          <a:prstGeom prst="round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4400" y="1755648"/>
            <a:ext cx="1078992" cy="107899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55648"/>
            <a:ext cx="1078992" cy="10789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31720" y="1719072"/>
            <a:ext cx="21945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1">
                <a:solidFill>
                  <a:srgbClr val="1F6FEB"/>
                </a:solidFill>
                <a:latin typeface="Arial"/>
              </a:defRPr>
            </a:pPr>
            <a:r>
              <a:t>YOU WILL BUILD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31720" y="2048256"/>
            <a:ext cx="5074920" cy="131673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700" b="1">
                <a:solidFill>
                  <a:srgbClr val="161B26"/>
                </a:solidFill>
                <a:latin typeface="Arial"/>
              </a:defRPr>
            </a:pPr>
            <a:r>
              <a:t>One sentence in, an 8-second cinematic clip with sound out: gemma4 writes the shot prompt, Veo 3.1 renders it, n8n proxies the file.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1720" y="3474720"/>
            <a:ext cx="19202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  <a:latin typeface="Arial"/>
              </a:defRPr>
            </a:pPr>
            <a:r>
              <a:t>DELIVERABLE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3822191"/>
            <a:ext cx="507492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500" b="0">
                <a:solidFill>
                  <a:srgbClr val="5B6372"/>
                </a:solidFill>
                <a:latin typeface="Arial"/>
              </a:defRPr>
            </a:pPr>
            <a:r>
              <a:t>Your own Veo clip presented to the class, the shot prompt that produced it, and a note on what changed between two prompt versions.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02752" y="1417320"/>
            <a:ext cx="32918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02752" y="1417320"/>
            <a:ext cx="73152" cy="96012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540496" y="1636776"/>
            <a:ext cx="438912" cy="43891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40496" y="1636776"/>
            <a:ext cx="438912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07424" y="1554480"/>
            <a:ext cx="226771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600" b="1">
                <a:solidFill>
                  <a:srgbClr val="161B26"/>
                </a:solidFill>
                <a:latin typeface="Arial"/>
              </a:defRPr>
            </a:pPr>
            <a:r>
              <a:t>TIMEBOX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07424" y="1920240"/>
            <a:ext cx="2267712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0">
                <a:solidFill>
                  <a:srgbClr val="5B6372"/>
                </a:solidFill>
                <a:latin typeface="Arial"/>
              </a:defRPr>
            </a:pPr>
            <a:r>
              <a:t>60 minutes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02752" y="2606040"/>
            <a:ext cx="32918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302752" y="2606040"/>
            <a:ext cx="73152" cy="96012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540496" y="2825496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40496" y="2825496"/>
            <a:ext cx="438912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07424" y="2743200"/>
            <a:ext cx="226771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600" b="1">
                <a:solidFill>
                  <a:srgbClr val="161B26"/>
                </a:solidFill>
                <a:latin typeface="Arial"/>
              </a:defRPr>
            </a:pPr>
            <a:r>
              <a:t>MODE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07424" y="3108960"/>
            <a:ext cx="2267712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0">
                <a:solidFill>
                  <a:srgbClr val="5B6372"/>
                </a:solidFill>
                <a:latin typeface="Arial"/>
              </a:defRPr>
            </a:pPr>
            <a:r>
              <a:t>Demo, guided build, independent test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302752" y="3794760"/>
            <a:ext cx="32918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302752" y="3794760"/>
            <a:ext cx="73152" cy="96012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540496" y="4014216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40496" y="4014216"/>
            <a:ext cx="438912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07424" y="3931920"/>
            <a:ext cx="226771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600" b="1">
                <a:solidFill>
                  <a:srgbClr val="161B26"/>
                </a:solidFill>
                <a:latin typeface="Arial"/>
              </a:defRPr>
            </a:pPr>
            <a:r>
              <a:t>EVIDENCE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07424" y="4297680"/>
            <a:ext cx="2267712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0">
                <a:solidFill>
                  <a:srgbClr val="5B6372"/>
                </a:solidFill>
                <a:latin typeface="Arial"/>
              </a:defRPr>
            </a:pPr>
            <a:r>
              <a:t>Execution trace plus learner artifact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5230368"/>
            <a:ext cx="731520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000" b="1">
                <a:solidFill>
                  <a:srgbClr val="7C3AED"/>
                </a:solidFill>
                <a:latin typeface="Arial"/>
              </a:defRPr>
            </a:pPr>
            <a:r>
              <a:t>Success is demonstrated, not assumed.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6428232"/>
            <a:ext cx="11183112" cy="13716"/>
          </a:xfrm>
          <a:prstGeom prst="rect">
            <a:avLst/>
          </a:prstGeom>
          <a:solidFill>
            <a:srgbClr val="DCE5F0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6483096"/>
            <a:ext cx="5212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00" b="0">
                <a:solidFill>
                  <a:srgbClr val="5B6372"/>
                </a:solidFill>
                <a:latin typeface="Arial"/>
              </a:defRPr>
            </a:pPr>
            <a:r>
              <a:t>C500 - Voice and Video Agents with n8n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6483096"/>
            <a:ext cx="3749039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800" b="0">
                <a:solidFill>
                  <a:srgbClr val="5B6372"/>
                </a:solidFill>
                <a:latin typeface="Arial"/>
              </a:defRPr>
            </a:pPr>
            <a:r>
              <a:t>Copyright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09960" y="6483096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800" b="1">
                <a:solidFill>
                  <a:srgbClr val="5B6372"/>
                </a:solidFill>
                <a:latin typeface="Arial"/>
              </a:defRPr>
            </a:pPr>
            <a:r>
              <a:t>099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01752"/>
            <a:ext cx="10972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1">
                <a:solidFill>
                  <a:srgbClr val="1F6FEB"/>
                </a:solidFill>
                <a:latin typeface="Arial"/>
              </a:defRPr>
            </a:pPr>
            <a:r>
              <a:t>CONCEPT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800" b="1">
                <a:solidFill>
                  <a:srgbClr val="161B26"/>
                </a:solidFill>
                <a:latin typeface="Arial"/>
              </a:defRPr>
            </a:pPr>
            <a:r>
              <a:t>Lab 10: Four Ideas That Make It Work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" y="1389888"/>
            <a:ext cx="5349240" cy="1901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1792" y="1389888"/>
            <a:ext cx="73152" cy="190195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59536" y="1609344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609344"/>
            <a:ext cx="438912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26464" y="1591056"/>
            <a:ext cx="432511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700" b="1">
                <a:solidFill>
                  <a:srgbClr val="161B26"/>
                </a:solidFill>
                <a:latin typeface="Arial"/>
              </a:defRPr>
            </a:pPr>
            <a:r>
              <a:t>Shot prompt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048256"/>
            <a:ext cx="4846320" cy="10789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400" b="0">
                <a:solidFill>
                  <a:srgbClr val="5B6372"/>
                </a:solidFill>
                <a:latin typeface="Arial"/>
              </a:defRPr>
            </a:pPr>
            <a:r>
              <a:t>gemma4 turns your idea into camera, lighting and motion language - a shot, not a summary.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389888"/>
            <a:ext cx="5349240" cy="1901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99632" y="1389888"/>
            <a:ext cx="73152" cy="19019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37376" y="1609344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37376" y="1609344"/>
            <a:ext cx="438912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4304" y="1591056"/>
            <a:ext cx="432511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700" b="1">
                <a:solidFill>
                  <a:srgbClr val="161B26"/>
                </a:solidFill>
                <a:latin typeface="Arial"/>
              </a:defRPr>
            </a:pPr>
            <a:r>
              <a:t>Generate, poll, fetch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2" y="2048256"/>
            <a:ext cx="4846320" cy="10789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400" b="0">
                <a:solidFill>
                  <a:srgbClr val="5B6372"/>
                </a:solidFill>
                <a:latin typeface="Arial"/>
              </a:defRPr>
            </a:pPr>
            <a:r>
              <a:t>The same long-running shape as Lab 7 - plus a third step to fetch the finished file.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" y="3675887"/>
            <a:ext cx="5349240" cy="1901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" y="3675887"/>
            <a:ext cx="73152" cy="1901952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59536" y="3895344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6" y="3895344"/>
            <a:ext cx="438912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26464" y="3877055"/>
            <a:ext cx="432511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700" b="1">
                <a:solidFill>
                  <a:srgbClr val="161B26"/>
                </a:solidFill>
                <a:latin typeface="Arial"/>
              </a:defRPr>
            </a:pPr>
            <a:r>
              <a:t>The /veo-file proxy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" y="4334255"/>
            <a:ext cx="4846320" cy="10789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400" b="0">
                <a:solidFill>
                  <a:srgbClr val="5B6372"/>
                </a:solidFill>
                <a:latin typeface="Arial"/>
              </a:defRPr>
            </a:pPr>
            <a:r>
              <a:t>Google's download URL demands your API key, so n8n hands the page a URL pointing back at ITSELF, fetches the MP4 server-side, and streams it through.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9632" y="3675887"/>
            <a:ext cx="5349240" cy="1901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99632" y="3675887"/>
            <a:ext cx="73152" cy="19019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37376" y="3895344"/>
            <a:ext cx="438912" cy="43891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37376" y="3895344"/>
            <a:ext cx="438912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04304" y="3877055"/>
            <a:ext cx="432511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700" b="1">
                <a:solidFill>
                  <a:srgbClr val="161B26"/>
                </a:solidFill>
                <a:latin typeface="Arial"/>
              </a:defRPr>
            </a:pPr>
            <a:r>
              <a:t>Prompt iteration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73952" y="4334255"/>
            <a:ext cx="4846320" cy="10789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400" b="0">
                <a:solidFill>
                  <a:srgbClr val="5B6372"/>
                </a:solidFill>
                <a:latin typeface="Arial"/>
              </a:defRPr>
            </a:pPr>
            <a:r>
              <a:t>Change the shot wording, regenerate, and record what changed - that note is the deliverable.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5806440"/>
            <a:ext cx="80467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600" b="0">
                <a:solidFill>
                  <a:srgbClr val="5B6372"/>
                </a:solidFill>
                <a:latin typeface="Arial"/>
              </a:defRPr>
            </a:pPr>
            <a:r>
              <a:t>Connect the four ideas before touching the workflow canvas.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6428232"/>
            <a:ext cx="11183112" cy="13716"/>
          </a:xfrm>
          <a:prstGeom prst="rect">
            <a:avLst/>
          </a:prstGeom>
          <a:solidFill>
            <a:srgbClr val="DCE5F0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6483096"/>
            <a:ext cx="5212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00" b="0">
                <a:solidFill>
                  <a:srgbClr val="5B6372"/>
                </a:solidFill>
                <a:latin typeface="Arial"/>
              </a:defRPr>
            </a:pPr>
            <a:r>
              <a:t>C500 - Voice and Video Agents with n8n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51960" y="6483096"/>
            <a:ext cx="3749039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800" b="0">
                <a:solidFill>
                  <a:srgbClr val="5B6372"/>
                </a:solidFill>
                <a:latin typeface="Arial"/>
              </a:defRPr>
            </a:pPr>
            <a:r>
              <a:t>Copyright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09960" y="6483096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800" b="1">
                <a:solidFill>
                  <a:srgbClr val="5B6372"/>
                </a:solidFill>
                <a:latin typeface="Arial"/>
              </a:defRPr>
            </a:pPr>
            <a:r>
              <a:t>100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01752"/>
            <a:ext cx="10972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1">
                <a:solidFill>
                  <a:srgbClr val="1F6FEB"/>
                </a:solidFill>
                <a:latin typeface="Arial"/>
              </a:defRPr>
            </a:pPr>
            <a:r>
              <a:t>WORKFLOW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800" b="1">
                <a:solidFill>
                  <a:srgbClr val="161B26"/>
                </a:solidFill>
                <a:latin typeface="Arial"/>
              </a:defRPr>
            </a:pPr>
            <a:r>
              <a:t>Lab 10: Build Sequence</a:t>
            </a:r>
          </a:p>
        </p:txBody>
      </p:sp>
      <p:sp>
        <p:nvSpPr>
          <p:cNvPr id="4" name="Oval 3"/>
          <p:cNvSpPr/>
          <p:nvPr/>
        </p:nvSpPr>
        <p:spPr>
          <a:xfrm>
            <a:off x="658368" y="1463039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463039"/>
            <a:ext cx="53035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08176" y="1325880"/>
            <a:ext cx="4690872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8488" y="1417320"/>
            <a:ext cx="4279392" cy="11887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200" b="0">
                <a:solidFill>
                  <a:srgbClr val="161B26"/>
                </a:solidFill>
                <a:latin typeface="Arial"/>
              </a:defRPr>
            </a:pPr>
            <a:r>
              <a:t>Import lab10/veo3-video-flow.json and set it Active.</a:t>
            </a:r>
          </a:p>
        </p:txBody>
      </p:sp>
      <p:sp>
        <p:nvSpPr>
          <p:cNvPr id="8" name="Oval 7"/>
          <p:cNvSpPr/>
          <p:nvPr/>
        </p:nvSpPr>
        <p:spPr>
          <a:xfrm>
            <a:off x="6373368" y="1463039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73368" y="1463039"/>
            <a:ext cx="53035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23176" y="1325880"/>
            <a:ext cx="4690872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33488" y="1417320"/>
            <a:ext cx="4279392" cy="11887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200" b="0">
                <a:solidFill>
                  <a:srgbClr val="161B26"/>
                </a:solidFill>
                <a:latin typeface="Arial"/>
              </a:defRPr>
            </a:pPr>
            <a:r>
              <a:t>Add the Gemini API credential, and confirm the Ollama local credential.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309067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3090672"/>
            <a:ext cx="53035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08176" y="2953512"/>
            <a:ext cx="4690872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18488" y="3044952"/>
            <a:ext cx="4279392" cy="11887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200" b="0">
                <a:solidFill>
                  <a:srgbClr val="161B26"/>
                </a:solidFill>
                <a:latin typeface="Arial"/>
              </a:defRPr>
            </a:pPr>
            <a:r>
              <a:t>Serve the lab10 website and open the Veo Studio.</a:t>
            </a:r>
          </a:p>
        </p:txBody>
      </p:sp>
      <p:sp>
        <p:nvSpPr>
          <p:cNvPr id="16" name="Oval 15"/>
          <p:cNvSpPr/>
          <p:nvPr/>
        </p:nvSpPr>
        <p:spPr>
          <a:xfrm>
            <a:off x="6373368" y="309067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73368" y="3090672"/>
            <a:ext cx="53035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23176" y="2953512"/>
            <a:ext cx="4690872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33488" y="3044952"/>
            <a:ext cx="4279392" cy="11887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200" b="0">
                <a:solidFill>
                  <a:srgbClr val="161B26"/>
                </a:solidFill>
                <a:latin typeface="Arial"/>
              </a:defRPr>
            </a:pPr>
            <a:r>
              <a:t>Type YOUR OWN idea - one sentence, any subject you like - and generate; then read the shot prompt gemma4 actually wrote.</a:t>
            </a:r>
          </a:p>
        </p:txBody>
      </p:sp>
      <p:sp>
        <p:nvSpPr>
          <p:cNvPr id="20" name="Oval 19"/>
          <p:cNvSpPr/>
          <p:nvPr/>
        </p:nvSpPr>
        <p:spPr>
          <a:xfrm>
            <a:off x="658368" y="4718304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4718304"/>
            <a:ext cx="53035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408176" y="4581144"/>
            <a:ext cx="4690872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18488" y="4672583"/>
            <a:ext cx="4279392" cy="11887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200" b="0">
                <a:solidFill>
                  <a:srgbClr val="161B26"/>
                </a:solidFill>
                <a:latin typeface="Arial"/>
              </a:defRPr>
            </a:pPr>
            <a:r>
              <a:t>Wait for the poll to complete and play the clip IN the page, through the /veo-file proxy. Refine the prompt once and regenerate.</a:t>
            </a:r>
          </a:p>
        </p:txBody>
      </p:sp>
      <p:sp>
        <p:nvSpPr>
          <p:cNvPr id="24" name="Oval 23"/>
          <p:cNvSpPr/>
          <p:nvPr/>
        </p:nvSpPr>
        <p:spPr>
          <a:xfrm>
            <a:off x="6373368" y="4718304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73368" y="4718304"/>
            <a:ext cx="53035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23176" y="4581144"/>
            <a:ext cx="4690872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33488" y="4672583"/>
            <a:ext cx="4279392" cy="11887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200" b="0">
                <a:solidFill>
                  <a:srgbClr val="161B26"/>
                </a:solidFill>
                <a:latin typeface="Arial"/>
              </a:defRPr>
            </a:pPr>
            <a:r>
              <a:t>SHARE IT: present your best clip to the class, and say what changed between your two prompt versions.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6053328"/>
            <a:ext cx="59436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500" b="1">
                <a:solidFill>
                  <a:srgbClr val="7C3AED"/>
                </a:solidFill>
                <a:latin typeface="Arial"/>
              </a:defRPr>
            </a:pPr>
            <a:r>
              <a:t>Build one observable behavior at a time.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6428232"/>
            <a:ext cx="11183112" cy="13716"/>
          </a:xfrm>
          <a:prstGeom prst="rect">
            <a:avLst/>
          </a:prstGeom>
          <a:solidFill>
            <a:srgbClr val="DCE5F0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6483096"/>
            <a:ext cx="5212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00" b="0">
                <a:solidFill>
                  <a:srgbClr val="5B6372"/>
                </a:solidFill>
                <a:latin typeface="Arial"/>
              </a:defRPr>
            </a:pPr>
            <a:r>
              <a:t>C500 - Voice and Video Agents with n8n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51960" y="6483096"/>
            <a:ext cx="3749039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800" b="0">
                <a:solidFill>
                  <a:srgbClr val="5B6372"/>
                </a:solidFill>
                <a:latin typeface="Arial"/>
              </a:defRPr>
            </a:pPr>
            <a:r>
              <a:t>Copyright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09960" y="6483096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800" b="1">
                <a:solidFill>
                  <a:srgbClr val="5B6372"/>
                </a:solidFill>
                <a:latin typeface="Arial"/>
              </a:defRPr>
            </a:pPr>
            <a:r>
              <a:t>101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01752"/>
            <a:ext cx="10972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1">
                <a:solidFill>
                  <a:srgbClr val="1F6FEB"/>
                </a:solidFill>
                <a:latin typeface="Arial"/>
              </a:defRPr>
            </a:pPr>
            <a:r>
              <a:t>LAB 10 - AI VIDEO GENERATION WITH GEMINI VEO 3 (VEO STUDIO)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800" b="1">
                <a:solidFill>
                  <a:srgbClr val="161B26"/>
                </a:solidFill>
                <a:latin typeface="Arial"/>
              </a:defRPr>
            </a:pPr>
            <a:r>
              <a:t>Lab 10 - the Veo studio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667589" y="1271016"/>
            <a:ext cx="6856517" cy="427024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ab10-veo-s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2453" y="1325880"/>
            <a:ext cx="6746789" cy="4160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13232" y="5806440"/>
            <a:ext cx="1078992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500" b="0">
                <a:solidFill>
                  <a:srgbClr val="5B6372"/>
                </a:solidFill>
                <a:latin typeface="Arial"/>
              </a:defRPr>
            </a:pPr>
            <a:r>
              <a:t>Lab 10 - the Veo studio: one prompt in, gemma4 writes the shot script, Veo 3.1 renders the clip.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28232"/>
            <a:ext cx="11183112" cy="13716"/>
          </a:xfrm>
          <a:prstGeom prst="rect">
            <a:avLst/>
          </a:prstGeom>
          <a:solidFill>
            <a:srgbClr val="DCE5F0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83096"/>
            <a:ext cx="5212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00" b="0">
                <a:solidFill>
                  <a:srgbClr val="5B6372"/>
                </a:solidFill>
                <a:latin typeface="Arial"/>
              </a:defRPr>
            </a:pPr>
            <a:r>
              <a:t>C500 - Voice and Video Agents with n8n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51960" y="6483096"/>
            <a:ext cx="3749039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800" b="0">
                <a:solidFill>
                  <a:srgbClr val="5B6372"/>
                </a:solidFill>
                <a:latin typeface="Arial"/>
              </a:defRPr>
            </a:pPr>
            <a:r>
              <a:t>Copyright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483096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800" b="1">
                <a:solidFill>
                  <a:srgbClr val="5B6372"/>
                </a:solidFill>
                <a:latin typeface="Arial"/>
              </a:defRPr>
            </a:pPr>
            <a:r>
              <a:t>102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01752"/>
            <a:ext cx="10972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1">
                <a:solidFill>
                  <a:srgbClr val="1F6FEB"/>
                </a:solidFill>
                <a:latin typeface="Arial"/>
              </a:defRPr>
            </a:pPr>
            <a:r>
              <a:t>QUALITY GATE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800" b="1">
                <a:solidFill>
                  <a:srgbClr val="161B26"/>
                </a:solidFill>
                <a:latin typeface="Arial"/>
              </a:defRPr>
            </a:pPr>
            <a:r>
              <a:t>Lab 10: Prove, Evaluate, Improve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" y="1353312"/>
            <a:ext cx="6995160" cy="4498848"/>
          </a:xfrm>
          <a:prstGeom prst="round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32688" y="1664208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664208"/>
            <a:ext cx="457200" cy="4572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27632" y="1645920"/>
            <a:ext cx="5440680" cy="7772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500" b="0">
                <a:solidFill>
                  <a:srgbClr val="161B26"/>
                </a:solidFill>
                <a:latin typeface="Arial"/>
              </a:defRPr>
            </a:pPr>
            <a:r>
              <a:t>The shot prompt names camera, lighting and motion - not a summary.</a:t>
            </a:r>
          </a:p>
        </p:txBody>
      </p:sp>
      <p:sp>
        <p:nvSpPr>
          <p:cNvPr id="8" name="Oval 7"/>
          <p:cNvSpPr/>
          <p:nvPr/>
        </p:nvSpPr>
        <p:spPr>
          <a:xfrm>
            <a:off x="932688" y="2496312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496312"/>
            <a:ext cx="457200" cy="4572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27632" y="2478024"/>
            <a:ext cx="5440680" cy="7772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500" b="0">
                <a:solidFill>
                  <a:srgbClr val="161B26"/>
                </a:solidFill>
                <a:latin typeface="Arial"/>
              </a:defRPr>
            </a:pPr>
            <a:r>
              <a:t>The clip plays in the page.</a:t>
            </a:r>
          </a:p>
        </p:txBody>
      </p:sp>
      <p:sp>
        <p:nvSpPr>
          <p:cNvPr id="11" name="Oval 10"/>
          <p:cNvSpPr/>
          <p:nvPr/>
        </p:nvSpPr>
        <p:spPr>
          <a:xfrm>
            <a:off x="932688" y="3328416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3328416"/>
            <a:ext cx="457200" cy="4572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27632" y="3310128"/>
            <a:ext cx="5440680" cy="7772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500" b="0">
                <a:solidFill>
                  <a:srgbClr val="161B26"/>
                </a:solidFill>
                <a:latin typeface="Arial"/>
              </a:defRPr>
            </a:pPr>
            <a:r>
              <a:t>YOUR OWN clip is presented to the class, with the before/after prompt note.</a:t>
            </a:r>
          </a:p>
        </p:txBody>
      </p:sp>
      <p:sp>
        <p:nvSpPr>
          <p:cNvPr id="14" name="Oval 13"/>
          <p:cNvSpPr/>
          <p:nvPr/>
        </p:nvSpPr>
        <p:spPr>
          <a:xfrm>
            <a:off x="932688" y="4160520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4160520"/>
            <a:ext cx="457200" cy="4572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OK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27632" y="4142232"/>
            <a:ext cx="5440680" cy="7772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500" b="0">
                <a:solidFill>
                  <a:srgbClr val="161B26"/>
                </a:solidFill>
                <a:latin typeface="Arial"/>
              </a:defRPr>
            </a:pPr>
            <a:r>
              <a:t>You can explain why the page never sees the Gemini key.</a:t>
            </a:r>
          </a:p>
        </p:txBody>
      </p:sp>
      <p:sp>
        <p:nvSpPr>
          <p:cNvPr id="17" name="Oval 16"/>
          <p:cNvSpPr/>
          <p:nvPr/>
        </p:nvSpPr>
        <p:spPr>
          <a:xfrm>
            <a:off x="932688" y="4992624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" y="4992624"/>
            <a:ext cx="457200" cy="4572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OK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27632" y="4974336"/>
            <a:ext cx="5440680" cy="7772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500" b="0">
                <a:solidFill>
                  <a:srgbClr val="161B26"/>
                </a:solidFill>
                <a:latin typeface="Arial"/>
              </a:defRPr>
            </a:pPr>
            <a:r>
              <a:t>Run one edge case and record the change made after evaluation.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73568" y="1353312"/>
            <a:ext cx="3611880" cy="4498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02752" y="1682496"/>
            <a:ext cx="29260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1">
                <a:solidFill>
                  <a:srgbClr val="1F6FEB"/>
                </a:solidFill>
                <a:latin typeface="Arial"/>
              </a:defRPr>
            </a:pPr>
            <a:r>
              <a:t>EVIDENCE STACK</a:t>
            </a:r>
          </a:p>
        </p:txBody>
      </p:sp>
      <p:sp>
        <p:nvSpPr>
          <p:cNvPr id="22" name="Oval 21"/>
          <p:cNvSpPr/>
          <p:nvPr/>
        </p:nvSpPr>
        <p:spPr>
          <a:xfrm>
            <a:off x="8302752" y="2176272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02752" y="2176272"/>
            <a:ext cx="411480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87968" y="2157984"/>
            <a:ext cx="914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400" b="1">
                <a:solidFill>
                  <a:srgbClr val="161B26"/>
                </a:solidFill>
                <a:latin typeface="Arial"/>
              </a:defRPr>
            </a:pPr>
            <a:r>
              <a:t>Input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02368" y="2157984"/>
            <a:ext cx="1353312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0">
                <a:solidFill>
                  <a:srgbClr val="5B6372"/>
                </a:solidFill>
                <a:latin typeface="Arial"/>
              </a:defRPr>
            </a:pPr>
            <a:r>
              <a:t>Exact test payload</a:t>
            </a:r>
          </a:p>
        </p:txBody>
      </p:sp>
      <p:sp>
        <p:nvSpPr>
          <p:cNvPr id="26" name="Oval 25"/>
          <p:cNvSpPr/>
          <p:nvPr/>
        </p:nvSpPr>
        <p:spPr>
          <a:xfrm>
            <a:off x="8302752" y="2971800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2752" y="2971800"/>
            <a:ext cx="411480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87968" y="2953512"/>
            <a:ext cx="914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400" b="1">
                <a:solidFill>
                  <a:srgbClr val="161B26"/>
                </a:solidFill>
                <a:latin typeface="Arial"/>
              </a:defRPr>
            </a:pPr>
            <a:r>
              <a:t>Trace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02368" y="2953512"/>
            <a:ext cx="1353312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0">
                <a:solidFill>
                  <a:srgbClr val="5B6372"/>
                </a:solidFill>
                <a:latin typeface="Arial"/>
              </a:defRPr>
            </a:pPr>
            <a:r>
              <a:t>Node execution path</a:t>
            </a:r>
          </a:p>
        </p:txBody>
      </p:sp>
      <p:sp>
        <p:nvSpPr>
          <p:cNvPr id="30" name="Oval 29"/>
          <p:cNvSpPr/>
          <p:nvPr/>
        </p:nvSpPr>
        <p:spPr>
          <a:xfrm>
            <a:off x="8302752" y="3767328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02752" y="3767328"/>
            <a:ext cx="411480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87968" y="3749040"/>
            <a:ext cx="914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400" b="1">
                <a:solidFill>
                  <a:srgbClr val="161B26"/>
                </a:solidFill>
                <a:latin typeface="Arial"/>
              </a:defRPr>
            </a:pPr>
            <a:r>
              <a:t>Output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02368" y="3749040"/>
            <a:ext cx="1353312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0">
                <a:solidFill>
                  <a:srgbClr val="5B6372"/>
                </a:solidFill>
                <a:latin typeface="Arial"/>
              </a:defRPr>
            </a:pPr>
            <a:r>
              <a:t>Generated result</a:t>
            </a:r>
          </a:p>
        </p:txBody>
      </p:sp>
      <p:sp>
        <p:nvSpPr>
          <p:cNvPr id="34" name="Oval 33"/>
          <p:cNvSpPr/>
          <p:nvPr/>
        </p:nvSpPr>
        <p:spPr>
          <a:xfrm>
            <a:off x="8302752" y="4562856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02752" y="4562856"/>
            <a:ext cx="411480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87968" y="4544568"/>
            <a:ext cx="914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400" b="1">
                <a:solidFill>
                  <a:srgbClr val="161B26"/>
                </a:solidFill>
                <a:latin typeface="Arial"/>
              </a:defRPr>
            </a:pPr>
            <a:r>
              <a:t>Decision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02368" y="4544568"/>
            <a:ext cx="1353312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0">
                <a:solidFill>
                  <a:srgbClr val="5B6372"/>
                </a:solidFill>
                <a:latin typeface="Arial"/>
              </a:defRPr>
            </a:pPr>
            <a:r>
              <a:t>Rubric and revision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02752" y="5413248"/>
            <a:ext cx="9144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Arial"/>
              </a:defRPr>
            </a:pPr>
            <a:r>
              <a:t>PASS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253728" y="5458968"/>
            <a:ext cx="1938528" cy="10972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02920" y="6428232"/>
            <a:ext cx="11183112" cy="13716"/>
          </a:xfrm>
          <a:prstGeom prst="rect">
            <a:avLst/>
          </a:prstGeom>
          <a:solidFill>
            <a:srgbClr val="DCE5F0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8640" y="6483096"/>
            <a:ext cx="5212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00" b="0">
                <a:solidFill>
                  <a:srgbClr val="5B6372"/>
                </a:solidFill>
                <a:latin typeface="Arial"/>
              </a:defRPr>
            </a:pPr>
            <a:r>
              <a:t>C500 - Voice and Video Agents with n8n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51960" y="6483096"/>
            <a:ext cx="3749039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800" b="0">
                <a:solidFill>
                  <a:srgbClr val="5B6372"/>
                </a:solidFill>
                <a:latin typeface="Arial"/>
              </a:defRPr>
            </a:pPr>
            <a:r>
              <a:t>Copyright 2026 Tertiary Infotech Academy Pte Ltd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109960" y="6483096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800" b="1">
                <a:solidFill>
                  <a:srgbClr val="5B6372"/>
                </a:solidFill>
                <a:latin typeface="Arial"/>
              </a:defRPr>
            </a:pPr>
            <a:r>
              <a:t>103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01752"/>
            <a:ext cx="10972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1">
                <a:solidFill>
                  <a:srgbClr val="1F6FEB"/>
                </a:solidFill>
                <a:latin typeface="Arial"/>
              </a:defRPr>
            </a:pPr>
            <a:r>
              <a:t>TROUBLESHOOTING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800" b="1">
                <a:solidFill>
                  <a:srgbClr val="161B26"/>
                </a:solidFill>
                <a:latin typeface="Arial"/>
              </a:defRPr>
            </a:pPr>
            <a:r>
              <a:t>Lab 10: Diagnose Before Rebuilding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" y="1344168"/>
            <a:ext cx="3456432" cy="438912"/>
          </a:xfrm>
          <a:prstGeom prst="roundRect">
            <a:avLst/>
          </a:prstGeom>
          <a:solidFill>
            <a:srgbClr val="E25555"/>
          </a:solidFill>
          <a:ln>
            <a:solidFill>
              <a:srgbClr val="E2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408176"/>
            <a:ext cx="345643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SYMPTOM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15968" y="1344168"/>
            <a:ext cx="3456432" cy="438912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15968" y="1408176"/>
            <a:ext cx="345643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LIKELY CAUSE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10144" y="1344168"/>
            <a:ext cx="3456432" cy="43891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10144" y="1408176"/>
            <a:ext cx="345643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TARGETED FIX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993392"/>
            <a:ext cx="3456432" cy="1024128"/>
          </a:xfrm>
          <a:prstGeom prst="roundRect">
            <a:avLst/>
          </a:prstGeom>
          <a:solidFill>
            <a:srgbClr val="FFF4F4"/>
          </a:solidFill>
          <a:ln>
            <a:solidFill>
              <a:srgbClr val="FF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2084832"/>
            <a:ext cx="3127248" cy="8412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200" b="1">
                <a:solidFill>
                  <a:srgbClr val="161B26"/>
                </a:solidFill>
                <a:latin typeface="Arial"/>
              </a:defRPr>
            </a:pPr>
            <a:r>
              <a:t>The clip will not play in the page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15968" y="1993392"/>
            <a:ext cx="3456432" cy="1024128"/>
          </a:xfrm>
          <a:prstGeom prst="roundRect">
            <a:avLst/>
          </a:prstGeom>
          <a:solidFill>
            <a:srgbClr val="FFF8E8"/>
          </a:solidFill>
          <a:ln>
            <a:solidFill>
              <a:srgbClr val="FFF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59" y="2084832"/>
            <a:ext cx="3127248" cy="8412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200" b="0">
                <a:solidFill>
                  <a:srgbClr val="161B26"/>
                </a:solidFill>
                <a:latin typeface="Arial"/>
              </a:defRPr>
            </a:pPr>
            <a:r>
              <a:t>The page tried Google's URL directly and was refused.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10144" y="1993392"/>
            <a:ext cx="3456432" cy="1024128"/>
          </a:xfrm>
          <a:prstGeom prst="roundRect">
            <a:avLst/>
          </a:prstGeom>
          <a:solidFill>
            <a:srgbClr val="ECFDF5"/>
          </a:solidFill>
          <a:ln>
            <a:solidFill>
              <a:srgbClr val="ECF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74736" y="2084832"/>
            <a:ext cx="3127248" cy="8412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200" b="0">
                <a:solidFill>
                  <a:srgbClr val="161B26"/>
                </a:solidFill>
                <a:latin typeface="Arial"/>
              </a:defRPr>
            </a:pPr>
            <a:r>
              <a:t>Play it through the /veo-file proxy - n8n adds the key server-side.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" y="3300984"/>
            <a:ext cx="3456432" cy="1024128"/>
          </a:xfrm>
          <a:prstGeom prst="roundRect">
            <a:avLst/>
          </a:prstGeom>
          <a:solidFill>
            <a:srgbClr val="FFF4F4"/>
          </a:solidFill>
          <a:ln>
            <a:solidFill>
              <a:srgbClr val="FF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" y="3392424"/>
            <a:ext cx="3127248" cy="8412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200" b="1">
                <a:solidFill>
                  <a:srgbClr val="161B26"/>
                </a:solidFill>
                <a:latin typeface="Arial"/>
              </a:defRPr>
            </a:pPr>
            <a:r>
              <a:t>Generation fails immediately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15968" y="3300984"/>
            <a:ext cx="3456432" cy="1024128"/>
          </a:xfrm>
          <a:prstGeom prst="roundRect">
            <a:avLst/>
          </a:prstGeom>
          <a:solidFill>
            <a:srgbClr val="FFF8E8"/>
          </a:solidFill>
          <a:ln>
            <a:solidFill>
              <a:srgbClr val="FFF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59" y="3392424"/>
            <a:ext cx="3127248" cy="8412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200" b="0">
                <a:solidFill>
                  <a:srgbClr val="161B26"/>
                </a:solidFill>
                <a:latin typeface="Arial"/>
              </a:defRPr>
            </a:pPr>
            <a:r>
              <a:t>API quota, or a malformed prompt payload.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10144" y="3300984"/>
            <a:ext cx="3456432" cy="1024128"/>
          </a:xfrm>
          <a:prstGeom prst="roundRect">
            <a:avLst/>
          </a:prstGeom>
          <a:solidFill>
            <a:srgbClr val="ECFDF5"/>
          </a:solidFill>
          <a:ln>
            <a:solidFill>
              <a:srgbClr val="ECF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74736" y="3392424"/>
            <a:ext cx="3127248" cy="8412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200" b="0">
                <a:solidFill>
                  <a:srgbClr val="161B26"/>
                </a:solidFill>
                <a:latin typeface="Arial"/>
              </a:defRPr>
            </a:pPr>
            <a:r>
              <a:t>Run a short test prompt and read the provider response in the execution.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" y="4608576"/>
            <a:ext cx="3456432" cy="1024128"/>
          </a:xfrm>
          <a:prstGeom prst="roundRect">
            <a:avLst/>
          </a:prstGeom>
          <a:solidFill>
            <a:srgbClr val="FFF4F4"/>
          </a:solidFill>
          <a:ln>
            <a:solidFill>
              <a:srgbClr val="FF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6384" y="4700016"/>
            <a:ext cx="3127248" cy="8412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200" b="1">
                <a:solidFill>
                  <a:srgbClr val="161B26"/>
                </a:solidFill>
                <a:latin typeface="Arial"/>
              </a:defRPr>
            </a:pPr>
            <a:r>
              <a:t>The clip ignores the idea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15968" y="4608576"/>
            <a:ext cx="3456432" cy="1024128"/>
          </a:xfrm>
          <a:prstGeom prst="roundRect">
            <a:avLst/>
          </a:prstGeom>
          <a:solidFill>
            <a:srgbClr val="FFF8E8"/>
          </a:solidFill>
          <a:ln>
            <a:solidFill>
              <a:srgbClr val="FFF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80559" y="4700016"/>
            <a:ext cx="3127248" cy="8412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200" b="0">
                <a:solidFill>
                  <a:srgbClr val="161B26"/>
                </a:solidFill>
                <a:latin typeface="Arial"/>
              </a:defRPr>
            </a:pPr>
            <a:r>
              <a:t>The shot prompt drifted from the subject.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10144" y="4608576"/>
            <a:ext cx="3456432" cy="1024128"/>
          </a:xfrm>
          <a:prstGeom prst="roundRect">
            <a:avLst/>
          </a:prstGeom>
          <a:solidFill>
            <a:srgbClr val="ECFDF5"/>
          </a:solidFill>
          <a:ln>
            <a:solidFill>
              <a:srgbClr val="ECF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74736" y="4700016"/>
            <a:ext cx="3127248" cy="8412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200" b="0">
                <a:solidFill>
                  <a:srgbClr val="161B26"/>
                </a:solidFill>
                <a:latin typeface="Arial"/>
              </a:defRPr>
            </a:pPr>
            <a:r>
              <a:t>Tighten the subject, camera and lighting wording, then regenerate.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5989320"/>
            <a:ext cx="86868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600" b="1">
                <a:solidFill>
                  <a:srgbClr val="7C3AED"/>
                </a:solidFill>
                <a:latin typeface="Arial"/>
              </a:defRPr>
            </a:pPr>
            <a:r>
              <a:t>Change one variable, rerun the same test, compare the trace.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6428232"/>
            <a:ext cx="11183112" cy="13716"/>
          </a:xfrm>
          <a:prstGeom prst="rect">
            <a:avLst/>
          </a:prstGeom>
          <a:solidFill>
            <a:srgbClr val="DCE5F0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6483096"/>
            <a:ext cx="5212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00" b="0">
                <a:solidFill>
                  <a:srgbClr val="5B6372"/>
                </a:solidFill>
                <a:latin typeface="Arial"/>
              </a:defRPr>
            </a:pPr>
            <a:r>
              <a:t>C500 - Voice and Video Agents with n8n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51960" y="6483096"/>
            <a:ext cx="3749039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800" b="0">
                <a:solidFill>
                  <a:srgbClr val="5B6372"/>
                </a:solidFill>
                <a:latin typeface="Arial"/>
              </a:defRPr>
            </a:pPr>
            <a:r>
              <a:t>Copyright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09960" y="6483096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800" b="1">
                <a:solidFill>
                  <a:srgbClr val="5B6372"/>
                </a:solidFill>
                <a:latin typeface="Arial"/>
              </a:defRPr>
            </a:pPr>
            <a:r>
              <a:t>104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01752"/>
            <a:ext cx="10972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1">
                <a:solidFill>
                  <a:srgbClr val="1F6FEB"/>
                </a:solidFill>
                <a:latin typeface="Arial"/>
              </a:defRPr>
            </a:pPr>
            <a:r>
              <a:t>THE BUSINESSES YOU BUILD FOR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800" b="1">
                <a:solidFill>
                  <a:srgbClr val="161B26"/>
                </a:solidFill>
                <a:latin typeface="Arial"/>
              </a:defRPr>
            </a:pPr>
            <a:r>
              <a:t>Four Businesses, Four Agents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463040"/>
            <a:ext cx="5349240" cy="175564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1463040"/>
            <a:ext cx="5349240" cy="420624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45336"/>
            <a:ext cx="39319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COOK &amp; BAKE ACADEMY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36007" y="1517904"/>
            <a:ext cx="1234440" cy="310896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36007" y="1563624"/>
            <a:ext cx="123444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100" b="1">
                <a:solidFill>
                  <a:srgbClr val="1F6FEB"/>
                </a:solidFill>
                <a:latin typeface="Arial"/>
              </a:defRPr>
            </a:pPr>
            <a:r>
              <a:t>Lab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066544"/>
            <a:ext cx="4846320" cy="10515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400" b="0">
                <a:solidFill>
                  <a:srgbClr val="161B26"/>
                </a:solidFill>
                <a:latin typeface="Arial"/>
              </a:defRPr>
            </a:pPr>
            <a:r>
              <a:t>Website course advisor, grounded ONLY in the brochures - honest about what it does not know.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6207" y="1463040"/>
            <a:ext cx="5349240" cy="175564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36207" y="1463040"/>
            <a:ext cx="5349240" cy="420624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36207" y="1545336"/>
            <a:ext cx="39319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GG HAIR SALON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213847" y="1517904"/>
            <a:ext cx="1234440" cy="310896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13847" y="1563624"/>
            <a:ext cx="123444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100" b="1">
                <a:solidFill>
                  <a:srgbClr val="7C3AED"/>
                </a:solidFill>
                <a:latin typeface="Arial"/>
              </a:defRPr>
            </a:pPr>
            <a:r>
              <a:t>Lab 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0527" y="2066544"/>
            <a:ext cx="4846320" cy="10515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400" b="0">
                <a:solidFill>
                  <a:srgbClr val="161B26"/>
                </a:solidFill>
                <a:latin typeface="Arial"/>
              </a:defRPr>
            </a:pPr>
            <a:r>
              <a:t>Voice receptionist who checks the REAL Google Calendar and books into it.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429000"/>
            <a:ext cx="5349240" cy="175564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58368" y="3429000"/>
            <a:ext cx="5349240" cy="420624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511296"/>
            <a:ext cx="39319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MEDIREFILL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36007" y="3483864"/>
            <a:ext cx="1234440" cy="310896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36007" y="3529584"/>
            <a:ext cx="123444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100" b="1">
                <a:solidFill>
                  <a:srgbClr val="10B981"/>
                </a:solidFill>
                <a:latin typeface="Arial"/>
              </a:defRPr>
            </a:pPr>
            <a:r>
              <a:t>Lab 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032504"/>
            <a:ext cx="4846320" cy="10515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400" b="0">
                <a:solidFill>
                  <a:srgbClr val="161B26"/>
                </a:solidFill>
                <a:latin typeface="Arial"/>
              </a:defRPr>
            </a:pPr>
            <a:r>
              <a:t>Refill voice FAQ that never gives medical advice - refusal + pharmacist callback.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6207" y="3429000"/>
            <a:ext cx="5349240" cy="175564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236207" y="3429000"/>
            <a:ext cx="5349240" cy="420624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36207" y="3511296"/>
            <a:ext cx="39319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GG NEWS STUDIO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213847" y="3483864"/>
            <a:ext cx="1234440" cy="310896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213847" y="3529584"/>
            <a:ext cx="123444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100" b="1">
                <a:solidFill>
                  <a:srgbClr val="F59E0B"/>
                </a:solidFill>
                <a:latin typeface="Arial"/>
              </a:defRPr>
            </a:pPr>
            <a:r>
              <a:t>Labs 7 / 7-os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10527" y="4032504"/>
            <a:ext cx="4846320" cy="10515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400" b="0">
                <a:solidFill>
                  <a:srgbClr val="161B26"/>
                </a:solidFill>
                <a:latin typeface="Arial"/>
              </a:defRPr>
            </a:pPr>
            <a:r>
              <a:t>Presenter video from the day's facts - and a cloud vs open-source recommendation.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5532120"/>
            <a:ext cx="10881360" cy="777240"/>
          </a:xfrm>
          <a:prstGeom prst="round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" y="5660136"/>
            <a:ext cx="103327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500" b="1">
                <a:solidFill>
                  <a:srgbClr val="7C3AED"/>
                </a:solidFill>
                <a:latin typeface="Arial"/>
              </a:defRPr>
            </a:pPr>
            <a:r>
              <a:t>Keep your workflow exports, traces and transcripts - together they are your portfolio from this course.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6428232"/>
            <a:ext cx="11183112" cy="13716"/>
          </a:xfrm>
          <a:prstGeom prst="rect">
            <a:avLst/>
          </a:prstGeom>
          <a:solidFill>
            <a:srgbClr val="DCE5F0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6483096"/>
            <a:ext cx="5212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00" b="0">
                <a:solidFill>
                  <a:srgbClr val="5B6372"/>
                </a:solidFill>
                <a:latin typeface="Arial"/>
              </a:defRPr>
            </a:pPr>
            <a:r>
              <a:t>C500 - Voice and Video Agents with n8n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6483096"/>
            <a:ext cx="3749039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800" b="0">
                <a:solidFill>
                  <a:srgbClr val="5B6372"/>
                </a:solidFill>
                <a:latin typeface="Arial"/>
              </a:defRPr>
            </a:pPr>
            <a:r>
              <a:t>Copyright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09960" y="6483096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800" b="1">
                <a:solidFill>
                  <a:srgbClr val="5B6372"/>
                </a:solidFill>
                <a:latin typeface="Arial"/>
              </a:defRPr>
            </a:pPr>
            <a:r>
              <a:t>105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01752"/>
            <a:ext cx="10972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1">
                <a:solidFill>
                  <a:srgbClr val="1F6FEB"/>
                </a:solidFill>
                <a:latin typeface="Arial"/>
              </a:defRPr>
            </a:pPr>
            <a:r>
              <a:t>EVIDENCE 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800" b="1">
                <a:solidFill>
                  <a:srgbClr val="161B26"/>
                </a:solidFill>
                <a:latin typeface="Arial"/>
              </a:defRPr>
            </a:pPr>
            <a:r>
              <a:t>Evidence Rubric</a:t>
            </a:r>
          </a:p>
        </p:txBody>
      </p:sp>
      <p:sp>
        <p:nvSpPr>
          <p:cNvPr id="4" name="Oval 3"/>
          <p:cNvSpPr/>
          <p:nvPr/>
        </p:nvSpPr>
        <p:spPr>
          <a:xfrm>
            <a:off x="713232" y="1371600"/>
            <a:ext cx="493776" cy="493776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371600"/>
            <a:ext cx="493776" cy="49377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44752" y="1353312"/>
            <a:ext cx="21488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600" b="1">
                <a:solidFill>
                  <a:srgbClr val="161B26"/>
                </a:solidFill>
                <a:latin typeface="Arial"/>
              </a:defRPr>
            </a:pPr>
            <a:r>
              <a:t>Problem definition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353312"/>
            <a:ext cx="452628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400" b="0">
                <a:solidFill>
                  <a:srgbClr val="5B6372"/>
                </a:solidFill>
                <a:latin typeface="Arial"/>
              </a:defRPr>
            </a:pPr>
            <a:r>
              <a:t>User, trigger, output and non-goals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85632" y="1426464"/>
            <a:ext cx="2560320" cy="164592"/>
          </a:xfrm>
          <a:prstGeom prst="round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85632" y="1426464"/>
            <a:ext cx="512064" cy="164592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13232" y="2286000"/>
            <a:ext cx="493776" cy="493776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2286000"/>
            <a:ext cx="493776" cy="49377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44752" y="2267712"/>
            <a:ext cx="21488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600" b="1">
                <a:solidFill>
                  <a:srgbClr val="161B26"/>
                </a:solidFill>
                <a:latin typeface="Arial"/>
              </a:defRPr>
            </a:pPr>
            <a:r>
              <a:t>Workflow correctness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267712"/>
            <a:ext cx="452628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400" b="0">
                <a:solidFill>
                  <a:srgbClr val="5B6372"/>
                </a:solidFill>
                <a:latin typeface="Arial"/>
              </a:defRPr>
            </a:pPr>
            <a:r>
              <a:t>Expected paths proven by execution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85632" y="2340864"/>
            <a:ext cx="2560320" cy="164592"/>
          </a:xfrm>
          <a:prstGeom prst="round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485632" y="2340864"/>
            <a:ext cx="1024128" cy="16459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13232" y="3200400"/>
            <a:ext cx="493776" cy="493776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3200400"/>
            <a:ext cx="493776" cy="49377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44752" y="3182112"/>
            <a:ext cx="21488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600" b="1">
                <a:solidFill>
                  <a:srgbClr val="161B26"/>
                </a:solidFill>
                <a:latin typeface="Arial"/>
              </a:defRPr>
            </a:pPr>
            <a:r>
              <a:t>AI quality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3182112"/>
            <a:ext cx="452628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400" b="0">
                <a:solidFill>
                  <a:srgbClr val="5B6372"/>
                </a:solidFill>
                <a:latin typeface="Arial"/>
              </a:defRPr>
            </a:pPr>
            <a:r>
              <a:t>Prompts, retrieval and media evaluated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85632" y="3255264"/>
            <a:ext cx="2560320" cy="164592"/>
          </a:xfrm>
          <a:prstGeom prst="round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485632" y="3255264"/>
            <a:ext cx="1536192" cy="164592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13232" y="4114800"/>
            <a:ext cx="493776" cy="493776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3232" y="4114800"/>
            <a:ext cx="493776" cy="49377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44752" y="4096512"/>
            <a:ext cx="21488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600" b="1">
                <a:solidFill>
                  <a:srgbClr val="161B26"/>
                </a:solidFill>
                <a:latin typeface="Arial"/>
              </a:defRPr>
            </a:pPr>
            <a:r>
              <a:t>Guardrails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4096512"/>
            <a:ext cx="452628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400" b="0">
                <a:solidFill>
                  <a:srgbClr val="5B6372"/>
                </a:solidFill>
                <a:latin typeface="Arial"/>
              </a:defRPr>
            </a:pPr>
            <a:r>
              <a:t>Secrets, claims and publishing controlled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485632" y="4169663"/>
            <a:ext cx="2560320" cy="164592"/>
          </a:xfrm>
          <a:prstGeom prst="round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485632" y="4169663"/>
            <a:ext cx="2048256" cy="164592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13232" y="5029200"/>
            <a:ext cx="493776" cy="493776"/>
          </a:xfrm>
          <a:prstGeom prst="ellipse">
            <a:avLst/>
          </a:prstGeom>
          <a:solidFill>
            <a:srgbClr val="E2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3232" y="5029200"/>
            <a:ext cx="493776" cy="49377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44752" y="5010912"/>
            <a:ext cx="21488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600" b="1">
                <a:solidFill>
                  <a:srgbClr val="161B26"/>
                </a:solidFill>
                <a:latin typeface="Arial"/>
              </a:defRPr>
            </a:pPr>
            <a:r>
              <a:t>Documentation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0" y="5010912"/>
            <a:ext cx="452628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400" b="0">
                <a:solidFill>
                  <a:srgbClr val="5B6372"/>
                </a:solidFill>
                <a:latin typeface="Arial"/>
              </a:defRPr>
            </a:pPr>
            <a:r>
              <a:t>Another operator can run and recover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485632" y="5084064"/>
            <a:ext cx="2560320" cy="164592"/>
          </a:xfrm>
          <a:prstGeom prst="round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485632" y="5084064"/>
            <a:ext cx="2560320" cy="164592"/>
          </a:xfrm>
          <a:prstGeom prst="roundRect">
            <a:avLst/>
          </a:prstGeom>
          <a:solidFill>
            <a:srgbClr val="E25555"/>
          </a:solidFill>
          <a:ln>
            <a:solidFill>
              <a:srgbClr val="E2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444752" y="5897880"/>
            <a:ext cx="93268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600" b="1">
                <a:solidFill>
                  <a:srgbClr val="7C3AED"/>
                </a:solidFill>
                <a:latin typeface="Arial"/>
              </a:defRPr>
            </a:pPr>
            <a:r>
              <a:t>Score the evidence, explain one improvement, then rerun the test.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6428232"/>
            <a:ext cx="11183112" cy="13716"/>
          </a:xfrm>
          <a:prstGeom prst="rect">
            <a:avLst/>
          </a:prstGeom>
          <a:solidFill>
            <a:srgbClr val="DCE5F0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6483096"/>
            <a:ext cx="5212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00" b="0">
                <a:solidFill>
                  <a:srgbClr val="5B6372"/>
                </a:solidFill>
                <a:latin typeface="Arial"/>
              </a:defRPr>
            </a:pPr>
            <a:r>
              <a:t>C500 - Voice and Video Agents with n8n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51960" y="6483096"/>
            <a:ext cx="3749039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800" b="0">
                <a:solidFill>
                  <a:srgbClr val="5B6372"/>
                </a:solidFill>
                <a:latin typeface="Arial"/>
              </a:defRPr>
            </a:pPr>
            <a:r>
              <a:t>Copyright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09960" y="6483096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800" b="1">
                <a:solidFill>
                  <a:srgbClr val="5B6372"/>
                </a:solidFill>
                <a:latin typeface="Arial"/>
              </a:defRPr>
            </a:pPr>
            <a:r>
              <a:t>106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01752"/>
            <a:ext cx="10972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1">
                <a:solidFill>
                  <a:srgbClr val="1F6FEB"/>
                </a:solidFill>
                <a:latin typeface="Arial"/>
              </a:defRPr>
            </a:pPr>
            <a:r>
              <a:t>COURSE FEEDBACK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800" b="1">
                <a:solidFill>
                  <a:srgbClr val="161B26"/>
                </a:solidFill>
                <a:latin typeface="Arial"/>
              </a:defRPr>
            </a:pPr>
            <a:r>
              <a:t>Course Feedback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1088136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900" b="0">
                <a:solidFill>
                  <a:srgbClr val="5B6372"/>
                </a:solidFill>
                <a:latin typeface="Arial"/>
              </a:defRPr>
            </a:pPr>
            <a:r>
              <a:t>Before you leave - two minutes that shape the next run of this course.</a:t>
            </a:r>
          </a:p>
        </p:txBody>
      </p:sp>
      <p:sp>
        <p:nvSpPr>
          <p:cNvPr id="5" name="Oval 4"/>
          <p:cNvSpPr/>
          <p:nvPr/>
        </p:nvSpPr>
        <p:spPr>
          <a:xfrm>
            <a:off x="914400" y="2103120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566928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2121408"/>
            <a:ext cx="29260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800" b="1">
                <a:solidFill>
                  <a:srgbClr val="161B26"/>
                </a:solidFill>
                <a:latin typeface="Arial"/>
              </a:defRPr>
            </a:pPr>
            <a:r>
              <a:t>Share your feedback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2121408"/>
            <a:ext cx="640080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500" b="0">
                <a:solidFill>
                  <a:srgbClr val="5B6372"/>
                </a:solidFill>
                <a:latin typeface="Arial"/>
              </a:defRPr>
            </a:pPr>
            <a:r>
              <a:t>Fill in the short feedback form from the trainer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3246120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246120"/>
            <a:ext cx="566928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3080" y="3264408"/>
            <a:ext cx="29260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800" b="1">
                <a:solidFill>
                  <a:srgbClr val="161B26"/>
                </a:solidFill>
                <a:latin typeface="Arial"/>
              </a:defRPr>
            </a:pPr>
            <a:r>
              <a:t>Rate the labs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3264408"/>
            <a:ext cx="640080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500" b="0">
                <a:solidFill>
                  <a:srgbClr val="5B6372"/>
                </a:solidFill>
                <a:latin typeface="Arial"/>
              </a:defRPr>
            </a:pPr>
            <a:r>
              <a:t>Tell us which builds worked and which need more time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4389120"/>
            <a:ext cx="566928" cy="56692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389120"/>
            <a:ext cx="566928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83080" y="4407407"/>
            <a:ext cx="29260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800" b="1">
                <a:solidFill>
                  <a:srgbClr val="161B26"/>
                </a:solidFill>
                <a:latin typeface="Arial"/>
              </a:defRPr>
            </a:pPr>
            <a:r>
              <a:t>Collect your certificate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4407407"/>
            <a:ext cx="640080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500" b="0">
                <a:solidFill>
                  <a:srgbClr val="5B6372"/>
                </a:solidFill>
                <a:latin typeface="Arial"/>
              </a:defRPr>
            </a:pPr>
            <a:r>
              <a:t>Your certificate of completion is emailed after the course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5623560"/>
            <a:ext cx="10881360" cy="777240"/>
          </a:xfrm>
          <a:prstGeom prst="round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5760720"/>
            <a:ext cx="1033272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500" b="1">
                <a:solidFill>
                  <a:srgbClr val="E25555"/>
                </a:solidFill>
                <a:latin typeface="Arial"/>
              </a:defRPr>
            </a:pPr>
            <a:r>
              <a:t>Thank you for taking part. Keep your workflow exports - they are your portfolio.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6428232"/>
            <a:ext cx="11183112" cy="13716"/>
          </a:xfrm>
          <a:prstGeom prst="rect">
            <a:avLst/>
          </a:prstGeom>
          <a:solidFill>
            <a:srgbClr val="DCE5F0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6483096"/>
            <a:ext cx="5212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00" b="0">
                <a:solidFill>
                  <a:srgbClr val="5B6372"/>
                </a:solidFill>
                <a:latin typeface="Arial"/>
              </a:defRPr>
            </a:pPr>
            <a:r>
              <a:t>C500 - Voice and Video Agents with n8n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51960" y="6483096"/>
            <a:ext cx="3749039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800" b="0">
                <a:solidFill>
                  <a:srgbClr val="5B6372"/>
                </a:solidFill>
                <a:latin typeface="Arial"/>
              </a:defRPr>
            </a:pPr>
            <a:r>
              <a:t>Copyright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09960" y="6483096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800" b="1">
                <a:solidFill>
                  <a:srgbClr val="5B6372"/>
                </a:solidFill>
                <a:latin typeface="Arial"/>
              </a:defRPr>
            </a:pPr>
            <a:r>
              <a:t>107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01752"/>
            <a:ext cx="10972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1">
                <a:solidFill>
                  <a:srgbClr val="1F6FEB"/>
                </a:solidFill>
                <a:latin typeface="Arial"/>
              </a:defRPr>
            </a:pPr>
            <a:r>
              <a:t>COURSE CLOSE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800" b="1">
                <a:solidFill>
                  <a:srgbClr val="161B26"/>
                </a:solidFill>
                <a:latin typeface="Arial"/>
              </a:defRPr>
            </a:pPr>
            <a:r>
              <a:t>Thank You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63040"/>
            <a:ext cx="10808208" cy="3200400"/>
          </a:xfrm>
          <a:prstGeom prst="round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74519"/>
            <a:ext cx="996696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2700" b="1">
                <a:solidFill>
                  <a:srgbClr val="161B26"/>
                </a:solidFill>
                <a:latin typeface="Arial"/>
              </a:defRPr>
            </a:pPr>
            <a:r>
              <a:t>A polished output is only the beginning.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697480"/>
            <a:ext cx="9418320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2100" b="0">
                <a:solidFill>
                  <a:srgbClr val="5B6372"/>
                </a:solidFill>
                <a:latin typeface="Arial"/>
              </a:defRPr>
            </a:pPr>
            <a:r>
              <a:t>Professional agentic systems are observable, testable, guarded, recoverable, and documented.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43000" y="4041648"/>
            <a:ext cx="1664208" cy="475488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4133087"/>
            <a:ext cx="1664208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TRACE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36392" y="4041648"/>
            <a:ext cx="1664208" cy="475488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36392" y="4133087"/>
            <a:ext cx="1664208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TEST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29784" y="4041648"/>
            <a:ext cx="1664208" cy="475488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29784" y="4133087"/>
            <a:ext cx="1664208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REVIEW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23176" y="4041648"/>
            <a:ext cx="1664208" cy="475488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23176" y="4133087"/>
            <a:ext cx="1664208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RECOVER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16568" y="4041648"/>
            <a:ext cx="1664208" cy="475488"/>
          </a:xfrm>
          <a:prstGeom prst="roundRect">
            <a:avLst/>
          </a:prstGeom>
          <a:solidFill>
            <a:srgbClr val="E25555"/>
          </a:solidFill>
          <a:ln>
            <a:solidFill>
              <a:srgbClr val="E2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16568" y="4133087"/>
            <a:ext cx="1664208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DOCUMENT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60" y="5321808"/>
            <a:ext cx="411480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600" b="1">
                <a:solidFill>
                  <a:srgbClr val="1F6FEB"/>
                </a:solidFill>
                <a:latin typeface="Arial"/>
              </a:defRPr>
            </a:pPr>
            <a:r>
              <a:t>www.tertiarycourses.com.sg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6428232"/>
            <a:ext cx="11183112" cy="13716"/>
          </a:xfrm>
          <a:prstGeom prst="rect">
            <a:avLst/>
          </a:prstGeom>
          <a:solidFill>
            <a:srgbClr val="DCE5F0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6483096"/>
            <a:ext cx="5212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00" b="0">
                <a:solidFill>
                  <a:srgbClr val="5B6372"/>
                </a:solidFill>
                <a:latin typeface="Arial"/>
              </a:defRPr>
            </a:pPr>
            <a:r>
              <a:t>C500 - Voice and Video Agents with n8n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51960" y="6483096"/>
            <a:ext cx="3749039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800" b="0">
                <a:solidFill>
                  <a:srgbClr val="5B6372"/>
                </a:solidFill>
                <a:latin typeface="Arial"/>
              </a:defRPr>
            </a:pPr>
            <a:r>
              <a:t>Copyright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09960" y="6483096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800" b="1">
                <a:solidFill>
                  <a:srgbClr val="5B6372"/>
                </a:solidFill>
                <a:latin typeface="Arial"/>
              </a:defRPr>
            </a:pPr>
            <a:r>
              <a:t>108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